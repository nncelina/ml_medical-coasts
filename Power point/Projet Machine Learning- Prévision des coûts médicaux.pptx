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Poppins Semi-Bold" charset="1" panose="00000700000000000000"/>
      <p:regular r:id="rId33"/>
    </p:embeddedFont>
    <p:embeddedFont>
      <p:font typeface="DM Sans" charset="1" panose="00000000000000000000"/>
      <p:regular r:id="rId34"/>
    </p:embeddedFont>
    <p:embeddedFont>
      <p:font typeface="DM Sans Italics" charset="1" panose="00000000000000000000"/>
      <p:regular r:id="rId35"/>
    </p:embeddedFont>
    <p:embeddedFont>
      <p:font typeface="Poppins Bold" charset="1" panose="00000800000000000000"/>
      <p:regular r:id="rId36"/>
    </p:embeddedFont>
    <p:embeddedFont>
      <p:font typeface="DM Sans Bold"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25.png" Type="http://schemas.openxmlformats.org/officeDocument/2006/relationships/image"/><Relationship Id="rId19" Target="../media/image26.svg" Type="http://schemas.openxmlformats.org/officeDocument/2006/relationships/image"/><Relationship Id="rId2" Target="../media/image9.png" Type="http://schemas.openxmlformats.org/officeDocument/2006/relationships/image"/><Relationship Id="rId20" Target="../media/image27.png" Type="http://schemas.openxmlformats.org/officeDocument/2006/relationships/image"/><Relationship Id="rId21" Target="../media/image28.sv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4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embeddings/oleObject2.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embeddings/oleObject3.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 Id="rId4" Target="../media/image57.png" Type="http://schemas.openxmlformats.org/officeDocument/2006/relationships/image"/><Relationship Id="rId5" Target="../embeddings/oleObject4.bin" Type="http://schemas.openxmlformats.org/officeDocument/2006/relationships/oleObjec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6485897" y="428369"/>
            <a:ext cx="600331" cy="600331"/>
          </a:xfrm>
          <a:custGeom>
            <a:avLst/>
            <a:gdLst/>
            <a:ahLst/>
            <a:cxnLst/>
            <a:rect r="r" b="b" t="t" l="l"/>
            <a:pathLst>
              <a:path h="600331" w="600331">
                <a:moveTo>
                  <a:pt x="0" y="0"/>
                </a:moveTo>
                <a:lnTo>
                  <a:pt x="600332" y="0"/>
                </a:lnTo>
                <a:lnTo>
                  <a:pt x="600332" y="600331"/>
                </a:lnTo>
                <a:lnTo>
                  <a:pt x="0" y="6003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253206" y="515150"/>
            <a:ext cx="4548897" cy="385021"/>
          </a:xfrm>
          <a:prstGeom prst="rect">
            <a:avLst/>
          </a:prstGeom>
        </p:spPr>
        <p:txBody>
          <a:bodyPr anchor="t" rtlCol="false" tIns="0" lIns="0" bIns="0" rIns="0">
            <a:spAutoFit/>
          </a:bodyPr>
          <a:lstStyle/>
          <a:p>
            <a:pPr algn="l">
              <a:lnSpc>
                <a:spcPts val="2729"/>
              </a:lnSpc>
            </a:pPr>
            <a:r>
              <a:rPr lang="en-US" sz="2551" b="true">
                <a:solidFill>
                  <a:srgbClr val="FFFFFF"/>
                </a:solidFill>
                <a:latin typeface="Poppins Semi-Bold"/>
                <a:ea typeface="Poppins Semi-Bold"/>
                <a:cs typeface="Poppins Semi-Bold"/>
                <a:sym typeface="Poppins Semi-Bold"/>
              </a:rPr>
              <a:t>Projet de Machine Learning</a:t>
            </a:r>
          </a:p>
        </p:txBody>
      </p:sp>
      <p:sp>
        <p:nvSpPr>
          <p:cNvPr name="TextBox 4" id="4"/>
          <p:cNvSpPr txBox="true"/>
          <p:nvPr/>
        </p:nvSpPr>
        <p:spPr>
          <a:xfrm rot="0">
            <a:off x="1028700" y="8822055"/>
            <a:ext cx="5471418" cy="824864"/>
          </a:xfrm>
          <a:prstGeom prst="rect">
            <a:avLst/>
          </a:prstGeom>
        </p:spPr>
        <p:txBody>
          <a:bodyPr anchor="t" rtlCol="false" tIns="0" lIns="0" bIns="0" rIns="0">
            <a:spAutoFit/>
          </a:bodyPr>
          <a:lstStyle/>
          <a:p>
            <a:pPr algn="just">
              <a:lnSpc>
                <a:spcPts val="3360"/>
              </a:lnSpc>
            </a:pPr>
            <a:r>
              <a:rPr lang="en-US" sz="2400">
                <a:solidFill>
                  <a:srgbClr val="FFFFFF"/>
                </a:solidFill>
                <a:latin typeface="DM Sans"/>
                <a:ea typeface="DM Sans"/>
                <a:cs typeface="DM Sans"/>
                <a:sym typeface="DM Sans"/>
              </a:rPr>
              <a:t>Chargée du cours: </a:t>
            </a:r>
          </a:p>
          <a:p>
            <a:pPr algn="just">
              <a:lnSpc>
                <a:spcPts val="3360"/>
              </a:lnSpc>
            </a:pPr>
            <a:r>
              <a:rPr lang="en-US" sz="2400">
                <a:solidFill>
                  <a:srgbClr val="FFFFFF"/>
                </a:solidFill>
                <a:latin typeface="DM Sans"/>
                <a:ea typeface="DM Sans"/>
                <a:cs typeface="DM Sans"/>
                <a:sym typeface="DM Sans"/>
              </a:rPr>
              <a:t>Mme Mously DIAW, </a:t>
            </a:r>
            <a:r>
              <a:rPr lang="en-US" sz="2400" i="true">
                <a:solidFill>
                  <a:srgbClr val="FFFFFF"/>
                </a:solidFill>
                <a:latin typeface="DM Sans Italics"/>
                <a:ea typeface="DM Sans Italics"/>
                <a:cs typeface="DM Sans Italics"/>
                <a:sym typeface="DM Sans Italics"/>
              </a:rPr>
              <a:t>Lead ML Engineer</a:t>
            </a:r>
          </a:p>
        </p:txBody>
      </p:sp>
      <p:sp>
        <p:nvSpPr>
          <p:cNvPr name="TextBox 5" id="5"/>
          <p:cNvSpPr txBox="true"/>
          <p:nvPr/>
        </p:nvSpPr>
        <p:spPr>
          <a:xfrm rot="0">
            <a:off x="1028700" y="3405081"/>
            <a:ext cx="13063727" cy="3505414"/>
          </a:xfrm>
          <a:prstGeom prst="rect">
            <a:avLst/>
          </a:prstGeom>
        </p:spPr>
        <p:txBody>
          <a:bodyPr anchor="t" rtlCol="false" tIns="0" lIns="0" bIns="0" rIns="0">
            <a:spAutoFit/>
          </a:bodyPr>
          <a:lstStyle/>
          <a:p>
            <a:pPr algn="l">
              <a:lnSpc>
                <a:spcPts val="13120"/>
              </a:lnSpc>
            </a:pPr>
            <a:r>
              <a:rPr lang="en-US" sz="12262" b="true">
                <a:solidFill>
                  <a:srgbClr val="FFFFFF"/>
                </a:solidFill>
                <a:latin typeface="Poppins Bold"/>
                <a:ea typeface="Poppins Bold"/>
                <a:cs typeface="Poppins Bold"/>
                <a:sym typeface="Poppins Bold"/>
              </a:rPr>
              <a:t>Prévision des coûts médicaux</a:t>
            </a:r>
          </a:p>
        </p:txBody>
      </p:sp>
      <p:grpSp>
        <p:nvGrpSpPr>
          <p:cNvPr name="Group 6" id="6"/>
          <p:cNvGrpSpPr/>
          <p:nvPr/>
        </p:nvGrpSpPr>
        <p:grpSpPr>
          <a:xfrm rot="0">
            <a:off x="1028700" y="2878777"/>
            <a:ext cx="4640290" cy="497729"/>
            <a:chOff x="0" y="0"/>
            <a:chExt cx="1061599" cy="113870"/>
          </a:xfrm>
        </p:grpSpPr>
        <p:sp>
          <p:nvSpPr>
            <p:cNvPr name="Freeform 7" id="7"/>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5CB389"/>
            </a:solidFill>
          </p:spPr>
        </p:sp>
        <p:sp>
          <p:nvSpPr>
            <p:cNvPr name="TextBox 8" id="8"/>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9" id="9"/>
          <p:cNvSpPr txBox="true"/>
          <p:nvPr/>
        </p:nvSpPr>
        <p:spPr>
          <a:xfrm rot="0">
            <a:off x="1378478" y="2793052"/>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Régression Théme 7</a:t>
            </a:r>
          </a:p>
        </p:txBody>
      </p:sp>
      <p:sp>
        <p:nvSpPr>
          <p:cNvPr name="TextBox 10" id="10"/>
          <p:cNvSpPr txBox="true"/>
          <p:nvPr/>
        </p:nvSpPr>
        <p:spPr>
          <a:xfrm rot="0">
            <a:off x="7982863" y="9580245"/>
            <a:ext cx="2322274" cy="523875"/>
          </a:xfrm>
          <a:prstGeom prst="rect">
            <a:avLst/>
          </a:prstGeom>
        </p:spPr>
        <p:txBody>
          <a:bodyPr anchor="t" rtlCol="false" tIns="0" lIns="0" bIns="0" rIns="0">
            <a:spAutoFit/>
          </a:bodyPr>
          <a:lstStyle/>
          <a:p>
            <a:pPr algn="just">
              <a:lnSpc>
                <a:spcPts val="4200"/>
              </a:lnSpc>
            </a:pPr>
            <a:r>
              <a:rPr lang="en-US" sz="3000">
                <a:solidFill>
                  <a:srgbClr val="FFFFFF"/>
                </a:solidFill>
                <a:latin typeface="DM Sans"/>
                <a:ea typeface="DM Sans"/>
                <a:cs typeface="DM Sans"/>
                <a:sym typeface="DM Sans"/>
              </a:rPr>
              <a:t>Janvier 2026</a:t>
            </a:r>
          </a:p>
        </p:txBody>
      </p:sp>
      <p:sp>
        <p:nvSpPr>
          <p:cNvPr name="TextBox 11" id="11"/>
          <p:cNvSpPr txBox="true"/>
          <p:nvPr/>
        </p:nvSpPr>
        <p:spPr>
          <a:xfrm rot="0">
            <a:off x="11333926" y="7279643"/>
            <a:ext cx="6395024" cy="2082164"/>
          </a:xfrm>
          <a:prstGeom prst="rect">
            <a:avLst/>
          </a:prstGeom>
        </p:spPr>
        <p:txBody>
          <a:bodyPr anchor="t" rtlCol="false" tIns="0" lIns="0" bIns="0" rIns="0">
            <a:spAutoFit/>
          </a:bodyPr>
          <a:lstStyle/>
          <a:p>
            <a:pPr algn="r">
              <a:lnSpc>
                <a:spcPts val="3360"/>
              </a:lnSpc>
            </a:pPr>
            <a:r>
              <a:rPr lang="en-US" sz="2400">
                <a:solidFill>
                  <a:srgbClr val="FFFFFF"/>
                </a:solidFill>
                <a:latin typeface="DM Sans"/>
                <a:ea typeface="DM Sans"/>
                <a:cs typeface="DM Sans"/>
                <a:sym typeface="DM Sans"/>
              </a:rPr>
              <a:t>Nihaviana Albert Paulinah RASAMOELINA</a:t>
            </a:r>
          </a:p>
          <a:p>
            <a:pPr algn="r">
              <a:lnSpc>
                <a:spcPts val="3360"/>
              </a:lnSpc>
            </a:pPr>
            <a:r>
              <a:rPr lang="en-US" sz="2400">
                <a:solidFill>
                  <a:srgbClr val="FFFFFF"/>
                </a:solidFill>
                <a:latin typeface="DM Sans"/>
                <a:ea typeface="DM Sans"/>
                <a:cs typeface="DM Sans"/>
                <a:sym typeface="DM Sans"/>
              </a:rPr>
              <a:t>Sarah Laure FOGWOUNG DIOUFACK</a:t>
            </a:r>
          </a:p>
          <a:p>
            <a:pPr algn="r">
              <a:lnSpc>
                <a:spcPts val="3360"/>
              </a:lnSpc>
            </a:pPr>
            <a:r>
              <a:rPr lang="en-US" sz="2400">
                <a:solidFill>
                  <a:srgbClr val="FFFFFF"/>
                </a:solidFill>
                <a:latin typeface="DM Sans"/>
                <a:ea typeface="DM Sans"/>
                <a:cs typeface="DM Sans"/>
                <a:sym typeface="DM Sans"/>
              </a:rPr>
              <a:t>Célina NGUEMFOUO NGOUMTSA</a:t>
            </a:r>
          </a:p>
          <a:p>
            <a:pPr algn="r">
              <a:lnSpc>
                <a:spcPts val="3360"/>
              </a:lnSpc>
            </a:pPr>
            <a:r>
              <a:rPr lang="en-US" sz="2400">
                <a:solidFill>
                  <a:srgbClr val="FFFFFF"/>
                </a:solidFill>
                <a:latin typeface="DM Sans"/>
                <a:ea typeface="DM Sans"/>
                <a:cs typeface="DM Sans"/>
                <a:sym typeface="DM Sans"/>
              </a:rPr>
              <a:t>Ndeye Ramatoulaye Ndoye FALL</a:t>
            </a:r>
          </a:p>
          <a:p>
            <a:pPr algn="r">
              <a:lnSpc>
                <a:spcPts val="3360"/>
              </a:lnSpc>
            </a:pPr>
            <a:r>
              <a:rPr lang="en-US" sz="2400">
                <a:solidFill>
                  <a:srgbClr val="FFFFFF"/>
                </a:solidFill>
                <a:latin typeface="DM Sans"/>
                <a:ea typeface="DM Sans"/>
                <a:cs typeface="DM Sans"/>
                <a:sym typeface="DM Sans"/>
              </a:rPr>
              <a:t>Cheikh Oumar DIALLO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916480" y="0"/>
            <a:ext cx="7371520" cy="10287000"/>
            <a:chOff x="0" y="0"/>
            <a:chExt cx="1941470" cy="2709333"/>
          </a:xfrm>
        </p:grpSpPr>
        <p:sp>
          <p:nvSpPr>
            <p:cNvPr name="Freeform 3" id="3"/>
            <p:cNvSpPr/>
            <p:nvPr/>
          </p:nvSpPr>
          <p:spPr>
            <a:xfrm flipH="false" flipV="false" rot="0">
              <a:off x="0" y="0"/>
              <a:ext cx="1941470" cy="2709333"/>
            </a:xfrm>
            <a:custGeom>
              <a:avLst/>
              <a:gdLst/>
              <a:ahLst/>
              <a:cxnLst/>
              <a:rect r="r" b="b" t="t" l="l"/>
              <a:pathLst>
                <a:path h="2709333" w="1941470">
                  <a:moveTo>
                    <a:pt x="0" y="0"/>
                  </a:moveTo>
                  <a:lnTo>
                    <a:pt x="1941470" y="0"/>
                  </a:lnTo>
                  <a:lnTo>
                    <a:pt x="1941470" y="2709333"/>
                  </a:lnTo>
                  <a:lnTo>
                    <a:pt x="0" y="2709333"/>
                  </a:lnTo>
                  <a:close/>
                </a:path>
              </a:pathLst>
            </a:custGeom>
            <a:solidFill>
              <a:srgbClr val="FFFFFF"/>
            </a:solidFill>
          </p:spPr>
        </p:sp>
        <p:sp>
          <p:nvSpPr>
            <p:cNvPr name="TextBox 4" id="4"/>
            <p:cNvSpPr txBox="true"/>
            <p:nvPr/>
          </p:nvSpPr>
          <p:spPr>
            <a:xfrm>
              <a:off x="0" y="0"/>
              <a:ext cx="1941470" cy="270933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10800000">
            <a:off x="10887905" y="0"/>
            <a:ext cx="276056" cy="10287000"/>
            <a:chOff x="0" y="0"/>
            <a:chExt cx="72706" cy="2709333"/>
          </a:xfrm>
        </p:grpSpPr>
        <p:sp>
          <p:nvSpPr>
            <p:cNvPr name="Freeform 6" id="6"/>
            <p:cNvSpPr/>
            <p:nvPr/>
          </p:nvSpPr>
          <p:spPr>
            <a:xfrm flipH="false" flipV="false" rot="0">
              <a:off x="0" y="0"/>
              <a:ext cx="72706" cy="2709333"/>
            </a:xfrm>
            <a:custGeom>
              <a:avLst/>
              <a:gdLst/>
              <a:ahLst/>
              <a:cxnLst/>
              <a:rect r="r" b="b" t="t" l="l"/>
              <a:pathLst>
                <a:path h="2709333" w="72706">
                  <a:moveTo>
                    <a:pt x="0" y="0"/>
                  </a:moveTo>
                  <a:lnTo>
                    <a:pt x="72706" y="0"/>
                  </a:lnTo>
                  <a:lnTo>
                    <a:pt x="72706"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72706" cy="2709333"/>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862361" y="810905"/>
            <a:ext cx="600331" cy="600331"/>
          </a:xfrm>
          <a:custGeom>
            <a:avLst/>
            <a:gdLst/>
            <a:ahLst/>
            <a:cxnLst/>
            <a:rect r="r" b="b" t="t" l="l"/>
            <a:pathLst>
              <a:path h="600331" w="600331">
                <a:moveTo>
                  <a:pt x="0" y="0"/>
                </a:moveTo>
                <a:lnTo>
                  <a:pt x="600331" y="0"/>
                </a:lnTo>
                <a:lnTo>
                  <a:pt x="600331" y="600331"/>
                </a:lnTo>
                <a:lnTo>
                  <a:pt x="0" y="6003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163961" y="5143500"/>
            <a:ext cx="7443655" cy="5431154"/>
            <a:chOff x="0" y="0"/>
            <a:chExt cx="1960469" cy="1430427"/>
          </a:xfrm>
        </p:grpSpPr>
        <p:sp>
          <p:nvSpPr>
            <p:cNvPr name="Freeform 10" id="10"/>
            <p:cNvSpPr/>
            <p:nvPr/>
          </p:nvSpPr>
          <p:spPr>
            <a:xfrm flipH="false" flipV="false" rot="0">
              <a:off x="0" y="0"/>
              <a:ext cx="1960469" cy="1430427"/>
            </a:xfrm>
            <a:custGeom>
              <a:avLst/>
              <a:gdLst/>
              <a:ahLst/>
              <a:cxnLst/>
              <a:rect r="r" b="b" t="t" l="l"/>
              <a:pathLst>
                <a:path h="1430427" w="1960469">
                  <a:moveTo>
                    <a:pt x="0" y="0"/>
                  </a:moveTo>
                  <a:lnTo>
                    <a:pt x="1960469" y="0"/>
                  </a:lnTo>
                  <a:lnTo>
                    <a:pt x="1960469" y="1430427"/>
                  </a:lnTo>
                  <a:lnTo>
                    <a:pt x="0" y="1430427"/>
                  </a:lnTo>
                  <a:close/>
                </a:path>
              </a:pathLst>
            </a:custGeom>
            <a:solidFill>
              <a:srgbClr val="80BFAC"/>
            </a:solidFill>
          </p:spPr>
        </p:sp>
        <p:sp>
          <p:nvSpPr>
            <p:cNvPr name="TextBox 11" id="11"/>
            <p:cNvSpPr txBox="true"/>
            <p:nvPr/>
          </p:nvSpPr>
          <p:spPr>
            <a:xfrm>
              <a:off x="0" y="0"/>
              <a:ext cx="1960469" cy="1430427"/>
            </a:xfrm>
            <a:prstGeom prst="rect">
              <a:avLst/>
            </a:prstGeom>
          </p:spPr>
          <p:txBody>
            <a:bodyPr anchor="ctr" rtlCol="false" tIns="50800" lIns="50800" bIns="50800" rIns="50800"/>
            <a:lstStyle/>
            <a:p>
              <a:pPr algn="ctr">
                <a:lnSpc>
                  <a:spcPts val="2729"/>
                </a:lnSpc>
              </a:pPr>
            </a:p>
          </p:txBody>
        </p:sp>
      </p:grpSp>
      <p:sp>
        <p:nvSpPr>
          <p:cNvPr name="Freeform 12" id="12"/>
          <p:cNvSpPr/>
          <p:nvPr/>
        </p:nvSpPr>
        <p:spPr>
          <a:xfrm flipH="false" flipV="false" rot="0">
            <a:off x="13692398" y="147883"/>
            <a:ext cx="2386781" cy="2404817"/>
          </a:xfrm>
          <a:custGeom>
            <a:avLst/>
            <a:gdLst/>
            <a:ahLst/>
            <a:cxnLst/>
            <a:rect r="r" b="b" t="t" l="l"/>
            <a:pathLst>
              <a:path h="2404817" w="2386781">
                <a:moveTo>
                  <a:pt x="0" y="0"/>
                </a:moveTo>
                <a:lnTo>
                  <a:pt x="2386781" y="0"/>
                </a:lnTo>
                <a:lnTo>
                  <a:pt x="2386781" y="2404817"/>
                </a:lnTo>
                <a:lnTo>
                  <a:pt x="0" y="24048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1306836" y="5214086"/>
            <a:ext cx="2528437" cy="2098603"/>
          </a:xfrm>
          <a:custGeom>
            <a:avLst/>
            <a:gdLst/>
            <a:ahLst/>
            <a:cxnLst/>
            <a:rect r="r" b="b" t="t" l="l"/>
            <a:pathLst>
              <a:path h="2098603" w="2528437">
                <a:moveTo>
                  <a:pt x="0" y="0"/>
                </a:moveTo>
                <a:lnTo>
                  <a:pt x="2528437" y="0"/>
                </a:lnTo>
                <a:lnTo>
                  <a:pt x="2528437" y="2098603"/>
                </a:lnTo>
                <a:lnTo>
                  <a:pt x="0" y="20986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221111" y="3436433"/>
            <a:ext cx="3414133" cy="3414133"/>
          </a:xfrm>
          <a:custGeom>
            <a:avLst/>
            <a:gdLst/>
            <a:ahLst/>
            <a:cxnLst/>
            <a:rect r="r" b="b" t="t" l="l"/>
            <a:pathLst>
              <a:path h="3414133" w="3414133">
                <a:moveTo>
                  <a:pt x="0" y="0"/>
                </a:moveTo>
                <a:lnTo>
                  <a:pt x="3414134" y="0"/>
                </a:lnTo>
                <a:lnTo>
                  <a:pt x="3414134" y="3414134"/>
                </a:lnTo>
                <a:lnTo>
                  <a:pt x="0" y="34141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605954" y="501194"/>
            <a:ext cx="9138689" cy="1124502"/>
          </a:xfrm>
          <a:prstGeom prst="rect">
            <a:avLst/>
          </a:prstGeom>
        </p:spPr>
        <p:txBody>
          <a:bodyPr anchor="t" rtlCol="false" tIns="0" lIns="0" bIns="0" rIns="0">
            <a:spAutoFit/>
          </a:bodyPr>
          <a:lstStyle/>
          <a:p>
            <a:pPr algn="l">
              <a:lnSpc>
                <a:spcPts val="8471"/>
              </a:lnSpc>
            </a:pPr>
            <a:r>
              <a:rPr lang="en-US" sz="6777" b="true">
                <a:solidFill>
                  <a:srgbClr val="FFFFFF"/>
                </a:solidFill>
                <a:latin typeface="Poppins Bold"/>
                <a:ea typeface="Poppins Bold"/>
                <a:cs typeface="Poppins Bold"/>
                <a:sym typeface="Poppins Bold"/>
              </a:rPr>
              <a:t>Contexte et objectifs</a:t>
            </a:r>
          </a:p>
        </p:txBody>
      </p:sp>
      <p:sp>
        <p:nvSpPr>
          <p:cNvPr name="TextBox 16" id="16"/>
          <p:cNvSpPr txBox="true"/>
          <p:nvPr/>
        </p:nvSpPr>
        <p:spPr>
          <a:xfrm rot="0">
            <a:off x="11721312" y="2486025"/>
            <a:ext cx="6328953" cy="2657475"/>
          </a:xfrm>
          <a:prstGeom prst="rect">
            <a:avLst/>
          </a:prstGeom>
        </p:spPr>
        <p:txBody>
          <a:bodyPr anchor="t" rtlCol="false" tIns="0" lIns="0" bIns="0" rIns="0">
            <a:spAutoFit/>
          </a:bodyPr>
          <a:lstStyle/>
          <a:p>
            <a:pPr algn="ctr">
              <a:lnSpc>
                <a:spcPts val="4200"/>
              </a:lnSpc>
            </a:pPr>
            <a:r>
              <a:rPr lang="en-US" b="true" sz="3000">
                <a:solidFill>
                  <a:srgbClr val="0B4B49"/>
                </a:solidFill>
                <a:latin typeface="DM Sans Bold"/>
                <a:ea typeface="DM Sans Bold"/>
                <a:cs typeface="DM Sans Bold"/>
                <a:sym typeface="DM Sans Bold"/>
              </a:rPr>
              <a:t>Health Cost, spécialisée dans le développement d’outils d’estimation des coûts médicaux à destination des compagnies d’assurance santé.</a:t>
            </a:r>
          </a:p>
        </p:txBody>
      </p:sp>
      <p:sp>
        <p:nvSpPr>
          <p:cNvPr name="TextBox 17" id="17"/>
          <p:cNvSpPr txBox="true"/>
          <p:nvPr/>
        </p:nvSpPr>
        <p:spPr>
          <a:xfrm rot="0">
            <a:off x="3635245" y="2918777"/>
            <a:ext cx="7109399" cy="4321175"/>
          </a:xfrm>
          <a:prstGeom prst="rect">
            <a:avLst/>
          </a:prstGeom>
        </p:spPr>
        <p:txBody>
          <a:bodyPr anchor="t" rtlCol="false" tIns="0" lIns="0" bIns="0" rIns="0">
            <a:spAutoFit/>
          </a:bodyPr>
          <a:lstStyle/>
          <a:p>
            <a:pPr algn="r">
              <a:lnSpc>
                <a:spcPts val="4900"/>
              </a:lnSpc>
            </a:pPr>
            <a:r>
              <a:rPr lang="en-US" sz="3500" b="true">
                <a:solidFill>
                  <a:srgbClr val="FCFCF5"/>
                </a:solidFill>
                <a:latin typeface="DM Sans Bold"/>
                <a:ea typeface="DM Sans Bold"/>
                <a:cs typeface="DM Sans Bold"/>
                <a:sym typeface="DM Sans Bold"/>
              </a:rPr>
              <a:t>Développer un outil de prédiction des coûts médicaux basé sur le Machine Learning afin d’aider les compagnies d’assurance santé à estimer les dépenses associées aux soins médicaux de leurs assurés.</a:t>
            </a:r>
          </a:p>
        </p:txBody>
      </p:sp>
      <p:sp>
        <p:nvSpPr>
          <p:cNvPr name="TextBox 18" id="18"/>
          <p:cNvSpPr txBox="true"/>
          <p:nvPr/>
        </p:nvSpPr>
        <p:spPr>
          <a:xfrm rot="0">
            <a:off x="14006359" y="5434757"/>
            <a:ext cx="4145640" cy="1590586"/>
          </a:xfrm>
          <a:prstGeom prst="rect">
            <a:avLst/>
          </a:prstGeom>
        </p:spPr>
        <p:txBody>
          <a:bodyPr anchor="t" rtlCol="false" tIns="0" lIns="0" bIns="0" rIns="0">
            <a:spAutoFit/>
          </a:bodyPr>
          <a:lstStyle/>
          <a:p>
            <a:pPr algn="just">
              <a:lnSpc>
                <a:spcPts val="4204"/>
              </a:lnSpc>
            </a:pPr>
            <a:r>
              <a:rPr lang="en-US" b="true" sz="3003">
                <a:solidFill>
                  <a:srgbClr val="0B4B49"/>
                </a:solidFill>
                <a:latin typeface="DM Sans Bold"/>
                <a:ea typeface="DM Sans Bold"/>
                <a:cs typeface="DM Sans Bold"/>
                <a:sym typeface="DM Sans Bold"/>
              </a:rPr>
              <a:t>Enjeux majeurs</a:t>
            </a:r>
          </a:p>
          <a:p>
            <a:pPr algn="just">
              <a:lnSpc>
                <a:spcPts val="4204"/>
              </a:lnSpc>
            </a:pPr>
            <a:r>
              <a:rPr lang="en-US" b="true" sz="3003">
                <a:solidFill>
                  <a:srgbClr val="0B4B49"/>
                </a:solidFill>
                <a:latin typeface="DM Sans Bold"/>
                <a:ea typeface="DM Sans Bold"/>
                <a:cs typeface="DM Sans Bold"/>
                <a:sym typeface="DM Sans Bold"/>
              </a:rPr>
              <a:t>L</a:t>
            </a:r>
            <a:r>
              <a:rPr lang="en-US" b="true" sz="3003">
                <a:solidFill>
                  <a:srgbClr val="0B4B49"/>
                </a:solidFill>
                <a:latin typeface="DM Sans Bold"/>
                <a:ea typeface="DM Sans Bold"/>
                <a:cs typeface="DM Sans Bold"/>
                <a:sym typeface="DM Sans Bold"/>
              </a:rPr>
              <a:t>es assureurs doivent être capables </a:t>
            </a:r>
          </a:p>
        </p:txBody>
      </p:sp>
      <p:sp>
        <p:nvSpPr>
          <p:cNvPr name="TextBox 19" id="19"/>
          <p:cNvSpPr txBox="true"/>
          <p:nvPr/>
        </p:nvSpPr>
        <p:spPr>
          <a:xfrm rot="0">
            <a:off x="11366443" y="6977718"/>
            <a:ext cx="6471595" cy="2863057"/>
          </a:xfrm>
          <a:prstGeom prst="rect">
            <a:avLst/>
          </a:prstGeom>
        </p:spPr>
        <p:txBody>
          <a:bodyPr anchor="t" rtlCol="false" tIns="0" lIns="0" bIns="0" rIns="0">
            <a:spAutoFit/>
          </a:bodyPr>
          <a:lstStyle/>
          <a:p>
            <a:pPr algn="just">
              <a:lnSpc>
                <a:spcPts val="3784"/>
              </a:lnSpc>
            </a:pPr>
          </a:p>
          <a:p>
            <a:pPr algn="just" marL="583687" indent="-291844" lvl="1">
              <a:lnSpc>
                <a:spcPts val="3784"/>
              </a:lnSpc>
              <a:buFont typeface="Arial"/>
              <a:buChar char="•"/>
            </a:pPr>
            <a:r>
              <a:rPr lang="en-US" b="true" sz="2703">
                <a:solidFill>
                  <a:srgbClr val="0B4B49"/>
                </a:solidFill>
                <a:latin typeface="DM Sans Bold"/>
                <a:ea typeface="DM Sans Bold"/>
                <a:cs typeface="DM Sans Bold"/>
                <a:sym typeface="DM Sans Bold"/>
              </a:rPr>
              <a:t>d’anticiper les coûts futurs,</a:t>
            </a:r>
          </a:p>
          <a:p>
            <a:pPr algn="just" marL="583687" indent="-291844" lvl="1">
              <a:lnSpc>
                <a:spcPts val="3784"/>
              </a:lnSpc>
              <a:buFont typeface="Arial"/>
              <a:buChar char="•"/>
            </a:pPr>
            <a:r>
              <a:rPr lang="en-US" b="true" sz="2703">
                <a:solidFill>
                  <a:srgbClr val="0B4B49"/>
                </a:solidFill>
                <a:latin typeface="DM Sans Bold"/>
                <a:ea typeface="DM Sans Bold"/>
                <a:cs typeface="DM Sans Bold"/>
                <a:sym typeface="DM Sans Bold"/>
              </a:rPr>
              <a:t>de mieux gérer les risques financiers,</a:t>
            </a:r>
          </a:p>
          <a:p>
            <a:pPr algn="just" marL="583687" indent="-291844" lvl="1">
              <a:lnSpc>
                <a:spcPts val="3784"/>
              </a:lnSpc>
              <a:buFont typeface="Arial"/>
              <a:buChar char="•"/>
            </a:pPr>
            <a:r>
              <a:rPr lang="en-US" b="true" sz="2703">
                <a:solidFill>
                  <a:srgbClr val="0B4B49"/>
                </a:solidFill>
                <a:latin typeface="DM Sans Bold"/>
                <a:ea typeface="DM Sans Bold"/>
                <a:cs typeface="DM Sans Bold"/>
                <a:sym typeface="DM Sans Bold"/>
              </a:rPr>
              <a:t>de proposer des tarifs compétitifs et équitables à leurs clients.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909699" y="4627906"/>
            <a:ext cx="5944906" cy="3315882"/>
            <a:chOff x="0" y="0"/>
            <a:chExt cx="1493209" cy="832865"/>
          </a:xfrm>
        </p:grpSpPr>
        <p:sp>
          <p:nvSpPr>
            <p:cNvPr name="Freeform 3" id="3"/>
            <p:cNvSpPr/>
            <p:nvPr/>
          </p:nvSpPr>
          <p:spPr>
            <a:xfrm flipH="false" flipV="false" rot="0">
              <a:off x="13417" y="0"/>
              <a:ext cx="1466375" cy="832865"/>
            </a:xfrm>
            <a:custGeom>
              <a:avLst/>
              <a:gdLst/>
              <a:ahLst/>
              <a:cxnLst/>
              <a:rect r="r" b="b" t="t" l="l"/>
              <a:pathLst>
                <a:path h="832865" w="1466375">
                  <a:moveTo>
                    <a:pt x="252292" y="0"/>
                  </a:moveTo>
                  <a:lnTo>
                    <a:pt x="1214083" y="0"/>
                  </a:lnTo>
                  <a:cubicBezTo>
                    <a:pt x="1250774" y="0"/>
                    <a:pt x="1282712" y="25082"/>
                    <a:pt x="1291408" y="60728"/>
                  </a:cubicBezTo>
                  <a:lnTo>
                    <a:pt x="1464976" y="772137"/>
                  </a:lnTo>
                  <a:cubicBezTo>
                    <a:pt x="1468547" y="786776"/>
                    <a:pt x="1465198" y="802244"/>
                    <a:pt x="1455891" y="814095"/>
                  </a:cubicBezTo>
                  <a:cubicBezTo>
                    <a:pt x="1446585" y="825945"/>
                    <a:pt x="1432351" y="832865"/>
                    <a:pt x="1417283" y="832865"/>
                  </a:cubicBezTo>
                  <a:lnTo>
                    <a:pt x="49092" y="832865"/>
                  </a:lnTo>
                  <a:cubicBezTo>
                    <a:pt x="34024" y="832865"/>
                    <a:pt x="19791" y="825945"/>
                    <a:pt x="10484" y="814095"/>
                  </a:cubicBezTo>
                  <a:cubicBezTo>
                    <a:pt x="1177" y="802244"/>
                    <a:pt x="-2172" y="786776"/>
                    <a:pt x="1399" y="772137"/>
                  </a:cubicBezTo>
                  <a:lnTo>
                    <a:pt x="174967" y="60728"/>
                  </a:lnTo>
                  <a:cubicBezTo>
                    <a:pt x="183664" y="25082"/>
                    <a:pt x="215601" y="0"/>
                    <a:pt x="252292" y="0"/>
                  </a:cubicBezTo>
                  <a:close/>
                </a:path>
              </a:pathLst>
            </a:custGeom>
            <a:solidFill>
              <a:srgbClr val="1BE6DA"/>
            </a:solidFill>
          </p:spPr>
        </p:sp>
        <p:sp>
          <p:nvSpPr>
            <p:cNvPr name="TextBox 4" id="4"/>
            <p:cNvSpPr txBox="true"/>
            <p:nvPr/>
          </p:nvSpPr>
          <p:spPr>
            <a:xfrm>
              <a:off x="127000" y="-38100"/>
              <a:ext cx="1239209" cy="87096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8100000">
            <a:off x="993204" y="3986184"/>
            <a:ext cx="1200464" cy="1200464"/>
          </a:xfrm>
          <a:custGeom>
            <a:avLst/>
            <a:gdLst/>
            <a:ahLst/>
            <a:cxnLst/>
            <a:rect r="r" b="b" t="t" l="l"/>
            <a:pathLst>
              <a:path h="1200464" w="1200464">
                <a:moveTo>
                  <a:pt x="0" y="0"/>
                </a:moveTo>
                <a:lnTo>
                  <a:pt x="1200463" y="0"/>
                </a:lnTo>
                <a:lnTo>
                  <a:pt x="1200463" y="1200463"/>
                </a:lnTo>
                <a:lnTo>
                  <a:pt x="0" y="1200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254025" y="4023953"/>
            <a:ext cx="1549398" cy="4523789"/>
          </a:xfrm>
          <a:custGeom>
            <a:avLst/>
            <a:gdLst/>
            <a:ahLst/>
            <a:cxnLst/>
            <a:rect r="r" b="b" t="t" l="l"/>
            <a:pathLst>
              <a:path h="4523789" w="1549398">
                <a:moveTo>
                  <a:pt x="0" y="0"/>
                </a:moveTo>
                <a:lnTo>
                  <a:pt x="1549397" y="0"/>
                </a:lnTo>
                <a:lnTo>
                  <a:pt x="1549397" y="4523789"/>
                </a:lnTo>
                <a:lnTo>
                  <a:pt x="0" y="45237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5400000">
            <a:off x="1589979" y="4677725"/>
            <a:ext cx="5639979" cy="3216245"/>
            <a:chOff x="0" y="0"/>
            <a:chExt cx="1416619" cy="807839"/>
          </a:xfrm>
        </p:grpSpPr>
        <p:sp>
          <p:nvSpPr>
            <p:cNvPr name="Freeform 8" id="8"/>
            <p:cNvSpPr/>
            <p:nvPr/>
          </p:nvSpPr>
          <p:spPr>
            <a:xfrm flipH="false" flipV="false" rot="0">
              <a:off x="14520" y="0"/>
              <a:ext cx="1387578" cy="807839"/>
            </a:xfrm>
            <a:custGeom>
              <a:avLst/>
              <a:gdLst/>
              <a:ahLst/>
              <a:cxnLst/>
              <a:rect r="r" b="b" t="t" l="l"/>
              <a:pathLst>
                <a:path h="807839" w="1387578">
                  <a:moveTo>
                    <a:pt x="254569" y="0"/>
                  </a:moveTo>
                  <a:lnTo>
                    <a:pt x="1133011" y="0"/>
                  </a:lnTo>
                  <a:cubicBezTo>
                    <a:pt x="1171746" y="0"/>
                    <a:pt x="1205523" y="26333"/>
                    <a:pt x="1214972" y="63898"/>
                  </a:cubicBezTo>
                  <a:lnTo>
                    <a:pt x="1386027" y="743940"/>
                  </a:lnTo>
                  <a:cubicBezTo>
                    <a:pt x="1389888" y="759293"/>
                    <a:pt x="1386455" y="775569"/>
                    <a:pt x="1376722" y="788054"/>
                  </a:cubicBezTo>
                  <a:cubicBezTo>
                    <a:pt x="1366988" y="800539"/>
                    <a:pt x="1352042" y="807839"/>
                    <a:pt x="1336211" y="807839"/>
                  </a:cubicBezTo>
                  <a:lnTo>
                    <a:pt x="51369" y="807839"/>
                  </a:lnTo>
                  <a:cubicBezTo>
                    <a:pt x="35538" y="807839"/>
                    <a:pt x="20591" y="800539"/>
                    <a:pt x="10858" y="788054"/>
                  </a:cubicBezTo>
                  <a:cubicBezTo>
                    <a:pt x="1124" y="775569"/>
                    <a:pt x="-2309" y="759293"/>
                    <a:pt x="1553" y="743940"/>
                  </a:cubicBezTo>
                  <a:lnTo>
                    <a:pt x="172607" y="63898"/>
                  </a:lnTo>
                  <a:cubicBezTo>
                    <a:pt x="182056" y="26333"/>
                    <a:pt x="215833" y="0"/>
                    <a:pt x="254569" y="0"/>
                  </a:cubicBezTo>
                  <a:close/>
                </a:path>
              </a:pathLst>
            </a:custGeom>
            <a:solidFill>
              <a:srgbClr val="80BFAC"/>
            </a:solidFill>
          </p:spPr>
        </p:sp>
        <p:sp>
          <p:nvSpPr>
            <p:cNvPr name="TextBox 9" id="9"/>
            <p:cNvSpPr txBox="true"/>
            <p:nvPr/>
          </p:nvSpPr>
          <p:spPr>
            <a:xfrm>
              <a:off x="127000" y="-38100"/>
              <a:ext cx="1162619" cy="845939"/>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4622409" y="4193757"/>
            <a:ext cx="1433082" cy="4184180"/>
          </a:xfrm>
          <a:custGeom>
            <a:avLst/>
            <a:gdLst/>
            <a:ahLst/>
            <a:cxnLst/>
            <a:rect r="r" b="b" t="t" l="l"/>
            <a:pathLst>
              <a:path h="4184180" w="1433082">
                <a:moveTo>
                  <a:pt x="0" y="0"/>
                </a:moveTo>
                <a:lnTo>
                  <a:pt x="1433082" y="0"/>
                </a:lnTo>
                <a:lnTo>
                  <a:pt x="1433082" y="4184180"/>
                </a:lnTo>
                <a:lnTo>
                  <a:pt x="0" y="41841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1" id="11"/>
          <p:cNvSpPr/>
          <p:nvPr/>
        </p:nvSpPr>
        <p:spPr>
          <a:xfrm flipV="true">
            <a:off x="6627613" y="3050962"/>
            <a:ext cx="0" cy="972990"/>
          </a:xfrm>
          <a:prstGeom prst="line">
            <a:avLst/>
          </a:prstGeom>
          <a:ln cap="flat" w="19050">
            <a:solidFill>
              <a:srgbClr val="116E71"/>
            </a:solidFill>
            <a:prstDash val="solid"/>
            <a:headEnd type="none" len="sm" w="sm"/>
            <a:tailEnd type="none" len="sm" w="sm"/>
          </a:ln>
        </p:spPr>
      </p:sp>
      <p:sp>
        <p:nvSpPr>
          <p:cNvPr name="AutoShape 12" id="12"/>
          <p:cNvSpPr/>
          <p:nvPr/>
        </p:nvSpPr>
        <p:spPr>
          <a:xfrm flipV="true">
            <a:off x="4252866" y="2881158"/>
            <a:ext cx="0" cy="980239"/>
          </a:xfrm>
          <a:prstGeom prst="line">
            <a:avLst/>
          </a:prstGeom>
          <a:ln cap="flat" w="19050">
            <a:solidFill>
              <a:srgbClr val="80BFAC"/>
            </a:solidFill>
            <a:prstDash val="solid"/>
            <a:headEnd type="none" len="sm" w="sm"/>
            <a:tailEnd type="none" len="sm" w="sm"/>
          </a:ln>
        </p:spPr>
      </p:sp>
      <p:sp>
        <p:nvSpPr>
          <p:cNvPr name="AutoShape 13" id="13"/>
          <p:cNvSpPr/>
          <p:nvPr/>
        </p:nvSpPr>
        <p:spPr>
          <a:xfrm flipV="true">
            <a:off x="1848156" y="2554333"/>
            <a:ext cx="0" cy="1142795"/>
          </a:xfrm>
          <a:prstGeom prst="line">
            <a:avLst/>
          </a:prstGeom>
          <a:ln cap="flat" w="19050">
            <a:solidFill>
              <a:srgbClr val="1BE6DA"/>
            </a:solidFill>
            <a:prstDash val="solid"/>
            <a:headEnd type="none" len="sm" w="sm"/>
            <a:tailEnd type="none" len="sm" w="sm"/>
          </a:ln>
        </p:spPr>
      </p:sp>
      <p:grpSp>
        <p:nvGrpSpPr>
          <p:cNvPr name="Group 14" id="14"/>
          <p:cNvGrpSpPr/>
          <p:nvPr/>
        </p:nvGrpSpPr>
        <p:grpSpPr>
          <a:xfrm rot="5400000">
            <a:off x="4238270" y="4622905"/>
            <a:ext cx="5247107" cy="3325885"/>
            <a:chOff x="0" y="0"/>
            <a:chExt cx="1317940" cy="835378"/>
          </a:xfrm>
        </p:grpSpPr>
        <p:sp>
          <p:nvSpPr>
            <p:cNvPr name="Freeform 15" id="15"/>
            <p:cNvSpPr/>
            <p:nvPr/>
          </p:nvSpPr>
          <p:spPr>
            <a:xfrm flipH="false" flipV="false" rot="0">
              <a:off x="15161" y="0"/>
              <a:ext cx="1287617" cy="835378"/>
            </a:xfrm>
            <a:custGeom>
              <a:avLst/>
              <a:gdLst/>
              <a:ahLst/>
              <a:cxnLst/>
              <a:rect r="r" b="b" t="t" l="l"/>
              <a:pathLst>
                <a:path h="835378" w="1287617">
                  <a:moveTo>
                    <a:pt x="258861" y="0"/>
                  </a:moveTo>
                  <a:lnTo>
                    <a:pt x="1028757" y="0"/>
                  </a:lnTo>
                  <a:cubicBezTo>
                    <a:pt x="1070321" y="0"/>
                    <a:pt x="1106494" y="28429"/>
                    <a:pt x="1116318" y="68816"/>
                  </a:cubicBezTo>
                  <a:lnTo>
                    <a:pt x="1286040" y="766562"/>
                  </a:lnTo>
                  <a:cubicBezTo>
                    <a:pt x="1290076" y="783156"/>
                    <a:pt x="1286272" y="800684"/>
                    <a:pt x="1275719" y="814111"/>
                  </a:cubicBezTo>
                  <a:cubicBezTo>
                    <a:pt x="1265167" y="827538"/>
                    <a:pt x="1249034" y="835378"/>
                    <a:pt x="1231957" y="835378"/>
                  </a:cubicBezTo>
                  <a:lnTo>
                    <a:pt x="55661" y="835378"/>
                  </a:lnTo>
                  <a:cubicBezTo>
                    <a:pt x="38584" y="835378"/>
                    <a:pt x="22451" y="827538"/>
                    <a:pt x="11899" y="814111"/>
                  </a:cubicBezTo>
                  <a:cubicBezTo>
                    <a:pt x="1346" y="800684"/>
                    <a:pt x="-2458" y="783156"/>
                    <a:pt x="1578" y="766562"/>
                  </a:cubicBezTo>
                  <a:lnTo>
                    <a:pt x="171300" y="68816"/>
                  </a:lnTo>
                  <a:cubicBezTo>
                    <a:pt x="181124" y="28429"/>
                    <a:pt x="217297" y="0"/>
                    <a:pt x="258861" y="0"/>
                  </a:cubicBezTo>
                  <a:close/>
                </a:path>
              </a:pathLst>
            </a:custGeom>
            <a:solidFill>
              <a:srgbClr val="9BDBC7"/>
            </a:solidFill>
            <a:ln cap="rnd">
              <a:noFill/>
              <a:prstDash val="solid"/>
              <a:round/>
            </a:ln>
          </p:spPr>
        </p:sp>
        <p:sp>
          <p:nvSpPr>
            <p:cNvPr name="TextBox 16" id="16"/>
            <p:cNvSpPr txBox="true"/>
            <p:nvPr/>
          </p:nvSpPr>
          <p:spPr>
            <a:xfrm>
              <a:off x="127000" y="-38100"/>
              <a:ext cx="1063940" cy="873478"/>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7027119" y="4391111"/>
            <a:ext cx="1297894" cy="3789472"/>
          </a:xfrm>
          <a:custGeom>
            <a:avLst/>
            <a:gdLst/>
            <a:ahLst/>
            <a:cxnLst/>
            <a:rect r="r" b="b" t="t" l="l"/>
            <a:pathLst>
              <a:path h="3789472" w="1297894">
                <a:moveTo>
                  <a:pt x="0" y="0"/>
                </a:moveTo>
                <a:lnTo>
                  <a:pt x="1297894" y="0"/>
                </a:lnTo>
                <a:lnTo>
                  <a:pt x="1297894" y="3789472"/>
                </a:lnTo>
                <a:lnTo>
                  <a:pt x="0" y="3789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8" id="18"/>
          <p:cNvSpPr/>
          <p:nvPr/>
        </p:nvSpPr>
        <p:spPr>
          <a:xfrm flipV="true">
            <a:off x="9144000" y="5761958"/>
            <a:ext cx="0" cy="1047778"/>
          </a:xfrm>
          <a:prstGeom prst="line">
            <a:avLst/>
          </a:prstGeom>
          <a:ln cap="flat" w="38100">
            <a:solidFill>
              <a:srgbClr val="1BE6DA"/>
            </a:solidFill>
            <a:prstDash val="solid"/>
            <a:headEnd type="none" len="sm" w="sm"/>
            <a:tailEnd type="none" len="sm" w="sm"/>
          </a:ln>
        </p:spPr>
      </p:sp>
      <p:grpSp>
        <p:nvGrpSpPr>
          <p:cNvPr name="Group 19" id="19"/>
          <p:cNvGrpSpPr/>
          <p:nvPr/>
        </p:nvGrpSpPr>
        <p:grpSpPr>
          <a:xfrm rot="-5400000">
            <a:off x="13252794" y="4627906"/>
            <a:ext cx="5944906" cy="3315882"/>
            <a:chOff x="0" y="0"/>
            <a:chExt cx="1493209" cy="832865"/>
          </a:xfrm>
        </p:grpSpPr>
        <p:sp>
          <p:nvSpPr>
            <p:cNvPr name="Freeform 20" id="20"/>
            <p:cNvSpPr/>
            <p:nvPr/>
          </p:nvSpPr>
          <p:spPr>
            <a:xfrm flipH="false" flipV="false" rot="0">
              <a:off x="13417" y="0"/>
              <a:ext cx="1466375" cy="832865"/>
            </a:xfrm>
            <a:custGeom>
              <a:avLst/>
              <a:gdLst/>
              <a:ahLst/>
              <a:cxnLst/>
              <a:rect r="r" b="b" t="t" l="l"/>
              <a:pathLst>
                <a:path h="832865" w="1466375">
                  <a:moveTo>
                    <a:pt x="252292" y="0"/>
                  </a:moveTo>
                  <a:lnTo>
                    <a:pt x="1214083" y="0"/>
                  </a:lnTo>
                  <a:cubicBezTo>
                    <a:pt x="1250774" y="0"/>
                    <a:pt x="1282712" y="25082"/>
                    <a:pt x="1291408" y="60728"/>
                  </a:cubicBezTo>
                  <a:lnTo>
                    <a:pt x="1464976" y="772137"/>
                  </a:lnTo>
                  <a:cubicBezTo>
                    <a:pt x="1468547" y="786776"/>
                    <a:pt x="1465198" y="802244"/>
                    <a:pt x="1455891" y="814095"/>
                  </a:cubicBezTo>
                  <a:cubicBezTo>
                    <a:pt x="1446585" y="825945"/>
                    <a:pt x="1432351" y="832865"/>
                    <a:pt x="1417283" y="832865"/>
                  </a:cubicBezTo>
                  <a:lnTo>
                    <a:pt x="49092" y="832865"/>
                  </a:lnTo>
                  <a:cubicBezTo>
                    <a:pt x="34024" y="832865"/>
                    <a:pt x="19791" y="825945"/>
                    <a:pt x="10484" y="814095"/>
                  </a:cubicBezTo>
                  <a:cubicBezTo>
                    <a:pt x="1177" y="802244"/>
                    <a:pt x="-2172" y="786776"/>
                    <a:pt x="1399" y="772137"/>
                  </a:cubicBezTo>
                  <a:lnTo>
                    <a:pt x="174967" y="60728"/>
                  </a:lnTo>
                  <a:cubicBezTo>
                    <a:pt x="183664" y="25082"/>
                    <a:pt x="215601" y="0"/>
                    <a:pt x="252292" y="0"/>
                  </a:cubicBezTo>
                  <a:close/>
                </a:path>
              </a:pathLst>
            </a:custGeom>
            <a:solidFill>
              <a:srgbClr val="116E71"/>
            </a:solidFill>
          </p:spPr>
        </p:sp>
        <p:sp>
          <p:nvSpPr>
            <p:cNvPr name="TextBox 21" id="21"/>
            <p:cNvSpPr txBox="true"/>
            <p:nvPr/>
          </p:nvSpPr>
          <p:spPr>
            <a:xfrm>
              <a:off x="127000" y="-38100"/>
              <a:ext cx="1239209" cy="870965"/>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2700000">
            <a:off x="16094333" y="3986184"/>
            <a:ext cx="1200464" cy="1200464"/>
          </a:xfrm>
          <a:custGeom>
            <a:avLst/>
            <a:gdLst/>
            <a:ahLst/>
            <a:cxnLst/>
            <a:rect r="r" b="b" t="t" l="l"/>
            <a:pathLst>
              <a:path h="1200464" w="1200464">
                <a:moveTo>
                  <a:pt x="0" y="0"/>
                </a:moveTo>
                <a:lnTo>
                  <a:pt x="1200463" y="0"/>
                </a:lnTo>
                <a:lnTo>
                  <a:pt x="1200463" y="1200463"/>
                </a:lnTo>
                <a:lnTo>
                  <a:pt x="0" y="1200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10800000">
            <a:off x="14484578" y="4023953"/>
            <a:ext cx="1549398" cy="4523789"/>
          </a:xfrm>
          <a:custGeom>
            <a:avLst/>
            <a:gdLst/>
            <a:ahLst/>
            <a:cxnLst/>
            <a:rect r="r" b="b" t="t" l="l"/>
            <a:pathLst>
              <a:path h="4523789" w="1549398">
                <a:moveTo>
                  <a:pt x="0" y="0"/>
                </a:moveTo>
                <a:lnTo>
                  <a:pt x="1549397" y="0"/>
                </a:lnTo>
                <a:lnTo>
                  <a:pt x="1549397" y="4523789"/>
                </a:lnTo>
                <a:lnTo>
                  <a:pt x="0" y="45237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4" id="24"/>
          <p:cNvGrpSpPr/>
          <p:nvPr/>
        </p:nvGrpSpPr>
        <p:grpSpPr>
          <a:xfrm rot="-5400000">
            <a:off x="11058041" y="4677725"/>
            <a:ext cx="5639979" cy="3216245"/>
            <a:chOff x="0" y="0"/>
            <a:chExt cx="1416619" cy="807839"/>
          </a:xfrm>
        </p:grpSpPr>
        <p:sp>
          <p:nvSpPr>
            <p:cNvPr name="Freeform 25" id="25"/>
            <p:cNvSpPr/>
            <p:nvPr/>
          </p:nvSpPr>
          <p:spPr>
            <a:xfrm flipH="false" flipV="false" rot="0">
              <a:off x="14520" y="0"/>
              <a:ext cx="1387578" cy="807839"/>
            </a:xfrm>
            <a:custGeom>
              <a:avLst/>
              <a:gdLst/>
              <a:ahLst/>
              <a:cxnLst/>
              <a:rect r="r" b="b" t="t" l="l"/>
              <a:pathLst>
                <a:path h="807839" w="1387578">
                  <a:moveTo>
                    <a:pt x="254569" y="0"/>
                  </a:moveTo>
                  <a:lnTo>
                    <a:pt x="1133011" y="0"/>
                  </a:lnTo>
                  <a:cubicBezTo>
                    <a:pt x="1171746" y="0"/>
                    <a:pt x="1205523" y="26333"/>
                    <a:pt x="1214972" y="63898"/>
                  </a:cubicBezTo>
                  <a:lnTo>
                    <a:pt x="1386027" y="743940"/>
                  </a:lnTo>
                  <a:cubicBezTo>
                    <a:pt x="1389888" y="759293"/>
                    <a:pt x="1386455" y="775569"/>
                    <a:pt x="1376722" y="788054"/>
                  </a:cubicBezTo>
                  <a:cubicBezTo>
                    <a:pt x="1366988" y="800539"/>
                    <a:pt x="1352042" y="807839"/>
                    <a:pt x="1336211" y="807839"/>
                  </a:cubicBezTo>
                  <a:lnTo>
                    <a:pt x="51369" y="807839"/>
                  </a:lnTo>
                  <a:cubicBezTo>
                    <a:pt x="35538" y="807839"/>
                    <a:pt x="20591" y="800539"/>
                    <a:pt x="10858" y="788054"/>
                  </a:cubicBezTo>
                  <a:cubicBezTo>
                    <a:pt x="1124" y="775569"/>
                    <a:pt x="-2309" y="759293"/>
                    <a:pt x="1553" y="743940"/>
                  </a:cubicBezTo>
                  <a:lnTo>
                    <a:pt x="172607" y="63898"/>
                  </a:lnTo>
                  <a:cubicBezTo>
                    <a:pt x="182056" y="26333"/>
                    <a:pt x="215833" y="0"/>
                    <a:pt x="254569" y="0"/>
                  </a:cubicBezTo>
                  <a:close/>
                </a:path>
              </a:pathLst>
            </a:custGeom>
            <a:solidFill>
              <a:srgbClr val="265751"/>
            </a:solidFill>
          </p:spPr>
        </p:sp>
        <p:sp>
          <p:nvSpPr>
            <p:cNvPr name="TextBox 26" id="26"/>
            <p:cNvSpPr txBox="true"/>
            <p:nvPr/>
          </p:nvSpPr>
          <p:spPr>
            <a:xfrm>
              <a:off x="127000" y="-38100"/>
              <a:ext cx="1162619" cy="845939"/>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10800000">
            <a:off x="12232509" y="4193757"/>
            <a:ext cx="1433082" cy="4184180"/>
          </a:xfrm>
          <a:custGeom>
            <a:avLst/>
            <a:gdLst/>
            <a:ahLst/>
            <a:cxnLst/>
            <a:rect r="r" b="b" t="t" l="l"/>
            <a:pathLst>
              <a:path h="4184180" w="1433082">
                <a:moveTo>
                  <a:pt x="0" y="0"/>
                </a:moveTo>
                <a:lnTo>
                  <a:pt x="1433082" y="0"/>
                </a:lnTo>
                <a:lnTo>
                  <a:pt x="1433082" y="4184180"/>
                </a:lnTo>
                <a:lnTo>
                  <a:pt x="0" y="41841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8" id="28"/>
          <p:cNvGrpSpPr/>
          <p:nvPr/>
        </p:nvGrpSpPr>
        <p:grpSpPr>
          <a:xfrm rot="-5400000">
            <a:off x="8802623" y="4622905"/>
            <a:ext cx="5247107" cy="3325885"/>
            <a:chOff x="0" y="0"/>
            <a:chExt cx="1317940" cy="835378"/>
          </a:xfrm>
        </p:grpSpPr>
        <p:sp>
          <p:nvSpPr>
            <p:cNvPr name="Freeform 29" id="29"/>
            <p:cNvSpPr/>
            <p:nvPr/>
          </p:nvSpPr>
          <p:spPr>
            <a:xfrm flipH="false" flipV="false" rot="0">
              <a:off x="15161" y="0"/>
              <a:ext cx="1287617" cy="835378"/>
            </a:xfrm>
            <a:custGeom>
              <a:avLst/>
              <a:gdLst/>
              <a:ahLst/>
              <a:cxnLst/>
              <a:rect r="r" b="b" t="t" l="l"/>
              <a:pathLst>
                <a:path h="835378" w="1287617">
                  <a:moveTo>
                    <a:pt x="258861" y="0"/>
                  </a:moveTo>
                  <a:lnTo>
                    <a:pt x="1028757" y="0"/>
                  </a:lnTo>
                  <a:cubicBezTo>
                    <a:pt x="1070321" y="0"/>
                    <a:pt x="1106494" y="28429"/>
                    <a:pt x="1116318" y="68816"/>
                  </a:cubicBezTo>
                  <a:lnTo>
                    <a:pt x="1286040" y="766562"/>
                  </a:lnTo>
                  <a:cubicBezTo>
                    <a:pt x="1290076" y="783156"/>
                    <a:pt x="1286272" y="800684"/>
                    <a:pt x="1275719" y="814111"/>
                  </a:cubicBezTo>
                  <a:cubicBezTo>
                    <a:pt x="1265167" y="827538"/>
                    <a:pt x="1249034" y="835378"/>
                    <a:pt x="1231957" y="835378"/>
                  </a:cubicBezTo>
                  <a:lnTo>
                    <a:pt x="55661" y="835378"/>
                  </a:lnTo>
                  <a:cubicBezTo>
                    <a:pt x="38584" y="835378"/>
                    <a:pt x="22451" y="827538"/>
                    <a:pt x="11899" y="814111"/>
                  </a:cubicBezTo>
                  <a:cubicBezTo>
                    <a:pt x="1346" y="800684"/>
                    <a:pt x="-2458" y="783156"/>
                    <a:pt x="1578" y="766562"/>
                  </a:cubicBezTo>
                  <a:lnTo>
                    <a:pt x="171300" y="68816"/>
                  </a:lnTo>
                  <a:cubicBezTo>
                    <a:pt x="181124" y="28429"/>
                    <a:pt x="217297" y="0"/>
                    <a:pt x="258861" y="0"/>
                  </a:cubicBezTo>
                  <a:close/>
                </a:path>
              </a:pathLst>
            </a:custGeom>
            <a:solidFill>
              <a:srgbClr val="35888A"/>
            </a:solidFill>
          </p:spPr>
        </p:sp>
        <p:sp>
          <p:nvSpPr>
            <p:cNvPr name="TextBox 30" id="30"/>
            <p:cNvSpPr txBox="true"/>
            <p:nvPr/>
          </p:nvSpPr>
          <p:spPr>
            <a:xfrm>
              <a:off x="127000" y="-38100"/>
              <a:ext cx="1063940" cy="873478"/>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10800000">
            <a:off x="9962987" y="4391111"/>
            <a:ext cx="1297894" cy="3789472"/>
          </a:xfrm>
          <a:custGeom>
            <a:avLst/>
            <a:gdLst/>
            <a:ahLst/>
            <a:cxnLst/>
            <a:rect r="r" b="b" t="t" l="l"/>
            <a:pathLst>
              <a:path h="3789472" w="1297894">
                <a:moveTo>
                  <a:pt x="0" y="0"/>
                </a:moveTo>
                <a:lnTo>
                  <a:pt x="1297894" y="0"/>
                </a:lnTo>
                <a:lnTo>
                  <a:pt x="1297894" y="3789472"/>
                </a:lnTo>
                <a:lnTo>
                  <a:pt x="0" y="3789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32" id="32"/>
          <p:cNvSpPr/>
          <p:nvPr/>
        </p:nvSpPr>
        <p:spPr>
          <a:xfrm flipV="true">
            <a:off x="11551022" y="3043714"/>
            <a:ext cx="0" cy="980239"/>
          </a:xfrm>
          <a:prstGeom prst="line">
            <a:avLst/>
          </a:prstGeom>
          <a:ln cap="flat" w="19050">
            <a:solidFill>
              <a:srgbClr val="35888A"/>
            </a:solidFill>
            <a:prstDash val="solid"/>
            <a:headEnd type="none" len="sm" w="sm"/>
            <a:tailEnd type="none" len="sm" w="sm"/>
          </a:ln>
        </p:spPr>
      </p:sp>
      <p:sp>
        <p:nvSpPr>
          <p:cNvPr name="AutoShape 33" id="33"/>
          <p:cNvSpPr/>
          <p:nvPr/>
        </p:nvSpPr>
        <p:spPr>
          <a:xfrm flipV="true">
            <a:off x="13968032" y="2881158"/>
            <a:ext cx="0" cy="980239"/>
          </a:xfrm>
          <a:prstGeom prst="line">
            <a:avLst/>
          </a:prstGeom>
          <a:ln cap="flat" w="19050">
            <a:solidFill>
              <a:srgbClr val="265751"/>
            </a:solidFill>
            <a:prstDash val="solid"/>
            <a:headEnd type="none" len="sm" w="sm"/>
            <a:tailEnd type="none" len="sm" w="sm"/>
          </a:ln>
        </p:spPr>
      </p:sp>
      <p:sp>
        <p:nvSpPr>
          <p:cNvPr name="AutoShape 34" id="34"/>
          <p:cNvSpPr/>
          <p:nvPr/>
        </p:nvSpPr>
        <p:spPr>
          <a:xfrm flipH="true" flipV="true">
            <a:off x="16355078" y="2714136"/>
            <a:ext cx="0" cy="982992"/>
          </a:xfrm>
          <a:prstGeom prst="line">
            <a:avLst/>
          </a:prstGeom>
          <a:ln cap="flat" w="19050">
            <a:solidFill>
              <a:srgbClr val="116E71"/>
            </a:solidFill>
            <a:prstDash val="solid"/>
            <a:headEnd type="none" len="sm" w="sm"/>
            <a:tailEnd type="none" len="sm" w="sm"/>
          </a:ln>
        </p:spPr>
      </p:sp>
      <p:grpSp>
        <p:nvGrpSpPr>
          <p:cNvPr name="Group 35" id="35"/>
          <p:cNvGrpSpPr/>
          <p:nvPr/>
        </p:nvGrpSpPr>
        <p:grpSpPr>
          <a:xfrm rot="0">
            <a:off x="7595915" y="3968899"/>
            <a:ext cx="3096169" cy="4633896"/>
            <a:chOff x="0" y="0"/>
            <a:chExt cx="777679" cy="1163917"/>
          </a:xfrm>
        </p:grpSpPr>
        <p:sp>
          <p:nvSpPr>
            <p:cNvPr name="Freeform 36" id="36"/>
            <p:cNvSpPr/>
            <p:nvPr/>
          </p:nvSpPr>
          <p:spPr>
            <a:xfrm flipH="false" flipV="false" rot="0">
              <a:off x="0" y="0"/>
              <a:ext cx="777679" cy="1163917"/>
            </a:xfrm>
            <a:custGeom>
              <a:avLst/>
              <a:gdLst/>
              <a:ahLst/>
              <a:cxnLst/>
              <a:rect r="r" b="b" t="t" l="l"/>
              <a:pathLst>
                <a:path h="1163917" w="777679">
                  <a:moveTo>
                    <a:pt x="120023" y="0"/>
                  </a:moveTo>
                  <a:lnTo>
                    <a:pt x="657656" y="0"/>
                  </a:lnTo>
                  <a:cubicBezTo>
                    <a:pt x="689488" y="0"/>
                    <a:pt x="720016" y="12645"/>
                    <a:pt x="742525" y="35154"/>
                  </a:cubicBezTo>
                  <a:cubicBezTo>
                    <a:pt x="765034" y="57663"/>
                    <a:pt x="777679" y="88191"/>
                    <a:pt x="777679" y="120023"/>
                  </a:cubicBezTo>
                  <a:lnTo>
                    <a:pt x="777679" y="1043894"/>
                  </a:lnTo>
                  <a:cubicBezTo>
                    <a:pt x="777679" y="1110181"/>
                    <a:pt x="723943" y="1163917"/>
                    <a:pt x="657656" y="1163917"/>
                  </a:cubicBezTo>
                  <a:lnTo>
                    <a:pt x="120023" y="1163917"/>
                  </a:lnTo>
                  <a:cubicBezTo>
                    <a:pt x="88191" y="1163917"/>
                    <a:pt x="57663" y="1151272"/>
                    <a:pt x="35154" y="1128763"/>
                  </a:cubicBezTo>
                  <a:cubicBezTo>
                    <a:pt x="12645" y="1106254"/>
                    <a:pt x="0" y="1075726"/>
                    <a:pt x="0" y="1043894"/>
                  </a:cubicBezTo>
                  <a:lnTo>
                    <a:pt x="0" y="120023"/>
                  </a:lnTo>
                  <a:cubicBezTo>
                    <a:pt x="0" y="88191"/>
                    <a:pt x="12645" y="57663"/>
                    <a:pt x="35154" y="35154"/>
                  </a:cubicBezTo>
                  <a:cubicBezTo>
                    <a:pt x="57663" y="12645"/>
                    <a:pt x="88191" y="0"/>
                    <a:pt x="120023" y="0"/>
                  </a:cubicBezTo>
                  <a:close/>
                </a:path>
              </a:pathLst>
            </a:custGeom>
            <a:solidFill>
              <a:srgbClr val="116E71"/>
            </a:solidFill>
          </p:spPr>
        </p:sp>
        <p:sp>
          <p:nvSpPr>
            <p:cNvPr name="TextBox 37" id="37"/>
            <p:cNvSpPr txBox="true"/>
            <p:nvPr/>
          </p:nvSpPr>
          <p:spPr>
            <a:xfrm>
              <a:off x="0" y="-38100"/>
              <a:ext cx="777679" cy="1202017"/>
            </a:xfrm>
            <a:prstGeom prst="rect">
              <a:avLst/>
            </a:prstGeom>
          </p:spPr>
          <p:txBody>
            <a:bodyPr anchor="ctr" rtlCol="false" tIns="50800" lIns="50800" bIns="50800" rIns="50800"/>
            <a:lstStyle/>
            <a:p>
              <a:pPr algn="ctr">
                <a:lnSpc>
                  <a:spcPts val="2659"/>
                </a:lnSpc>
              </a:pPr>
            </a:p>
          </p:txBody>
        </p:sp>
      </p:grpSp>
      <p:sp>
        <p:nvSpPr>
          <p:cNvPr name="AutoShape 38" id="38"/>
          <p:cNvSpPr/>
          <p:nvPr/>
        </p:nvSpPr>
        <p:spPr>
          <a:xfrm flipV="true">
            <a:off x="9144000" y="3125731"/>
            <a:ext cx="0" cy="1142795"/>
          </a:xfrm>
          <a:prstGeom prst="line">
            <a:avLst/>
          </a:prstGeom>
          <a:ln cap="flat" w="19050">
            <a:solidFill>
              <a:srgbClr val="116E71"/>
            </a:solidFill>
            <a:prstDash val="solid"/>
            <a:headEnd type="none" len="sm" w="sm"/>
            <a:tailEnd type="none" len="sm" w="sm"/>
          </a:ln>
        </p:spPr>
      </p:sp>
      <p:sp>
        <p:nvSpPr>
          <p:cNvPr name="Freeform 39" id="39"/>
          <p:cNvSpPr/>
          <p:nvPr/>
        </p:nvSpPr>
        <p:spPr>
          <a:xfrm flipH="false" flipV="false" rot="2700000">
            <a:off x="8543768" y="4395677"/>
            <a:ext cx="1200464" cy="1200464"/>
          </a:xfrm>
          <a:custGeom>
            <a:avLst/>
            <a:gdLst/>
            <a:ahLst/>
            <a:cxnLst/>
            <a:rect r="r" b="b" t="t" l="l"/>
            <a:pathLst>
              <a:path h="1200464" w="1200464">
                <a:moveTo>
                  <a:pt x="0" y="0"/>
                </a:moveTo>
                <a:lnTo>
                  <a:pt x="1200464" y="0"/>
                </a:lnTo>
                <a:lnTo>
                  <a:pt x="1200464" y="1200464"/>
                </a:lnTo>
                <a:lnTo>
                  <a:pt x="0" y="120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0" id="40"/>
          <p:cNvGrpSpPr/>
          <p:nvPr/>
        </p:nvGrpSpPr>
        <p:grpSpPr>
          <a:xfrm rot="0">
            <a:off x="8764470" y="2554333"/>
            <a:ext cx="759061" cy="1050758"/>
            <a:chOff x="0" y="0"/>
            <a:chExt cx="812800" cy="1125148"/>
          </a:xfrm>
        </p:grpSpPr>
        <p:sp>
          <p:nvSpPr>
            <p:cNvPr name="Freeform 41" id="41"/>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116E71"/>
            </a:solidFill>
          </p:spPr>
        </p:sp>
        <p:sp>
          <p:nvSpPr>
            <p:cNvPr name="TextBox 42" id="42"/>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04</a:t>
              </a:r>
            </a:p>
          </p:txBody>
        </p:sp>
      </p:grpSp>
      <p:grpSp>
        <p:nvGrpSpPr>
          <p:cNvPr name="Group 43" id="43"/>
          <p:cNvGrpSpPr/>
          <p:nvPr/>
        </p:nvGrpSpPr>
        <p:grpSpPr>
          <a:xfrm rot="0">
            <a:off x="6268058" y="2454457"/>
            <a:ext cx="759061" cy="1050758"/>
            <a:chOff x="0" y="0"/>
            <a:chExt cx="812800" cy="1125148"/>
          </a:xfrm>
        </p:grpSpPr>
        <p:sp>
          <p:nvSpPr>
            <p:cNvPr name="Freeform 44" id="44"/>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9BDBC7"/>
            </a:solidFill>
          </p:spPr>
        </p:sp>
        <p:sp>
          <p:nvSpPr>
            <p:cNvPr name="TextBox 45" id="45"/>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0A3F3A"/>
                  </a:solidFill>
                  <a:latin typeface="Poppins Bold"/>
                  <a:ea typeface="Poppins Bold"/>
                  <a:cs typeface="Poppins Bold"/>
                  <a:sym typeface="Poppins Bold"/>
                </a:rPr>
                <a:t>03</a:t>
              </a:r>
            </a:p>
          </p:txBody>
        </p:sp>
      </p:grpSp>
      <p:grpSp>
        <p:nvGrpSpPr>
          <p:cNvPr name="Group 46" id="46"/>
          <p:cNvGrpSpPr/>
          <p:nvPr/>
        </p:nvGrpSpPr>
        <p:grpSpPr>
          <a:xfrm rot="0">
            <a:off x="11171492" y="2454457"/>
            <a:ext cx="759061" cy="1050758"/>
            <a:chOff x="0" y="0"/>
            <a:chExt cx="812800" cy="1125148"/>
          </a:xfrm>
        </p:grpSpPr>
        <p:sp>
          <p:nvSpPr>
            <p:cNvPr name="Freeform 47" id="47"/>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35888A"/>
            </a:solidFill>
          </p:spPr>
        </p:sp>
        <p:sp>
          <p:nvSpPr>
            <p:cNvPr name="TextBox 48" id="48"/>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05</a:t>
              </a:r>
            </a:p>
          </p:txBody>
        </p:sp>
      </p:grpSp>
      <p:grpSp>
        <p:nvGrpSpPr>
          <p:cNvPr name="Group 49" id="49"/>
          <p:cNvGrpSpPr/>
          <p:nvPr/>
        </p:nvGrpSpPr>
        <p:grpSpPr>
          <a:xfrm rot="0">
            <a:off x="3863348" y="2254704"/>
            <a:ext cx="759061" cy="1050758"/>
            <a:chOff x="0" y="0"/>
            <a:chExt cx="812800" cy="1125148"/>
          </a:xfrm>
        </p:grpSpPr>
        <p:sp>
          <p:nvSpPr>
            <p:cNvPr name="Freeform 50" id="50"/>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80BFAC"/>
            </a:solidFill>
          </p:spPr>
        </p:sp>
        <p:sp>
          <p:nvSpPr>
            <p:cNvPr name="TextBox 51" id="51"/>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02</a:t>
              </a:r>
            </a:p>
          </p:txBody>
        </p:sp>
      </p:grpSp>
      <p:grpSp>
        <p:nvGrpSpPr>
          <p:cNvPr name="Group 52" id="52"/>
          <p:cNvGrpSpPr/>
          <p:nvPr/>
        </p:nvGrpSpPr>
        <p:grpSpPr>
          <a:xfrm rot="0">
            <a:off x="13578513" y="2254704"/>
            <a:ext cx="759061" cy="1050758"/>
            <a:chOff x="0" y="0"/>
            <a:chExt cx="812800" cy="1125148"/>
          </a:xfrm>
        </p:grpSpPr>
        <p:sp>
          <p:nvSpPr>
            <p:cNvPr name="Freeform 53" id="53"/>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265751"/>
            </a:solidFill>
          </p:spPr>
        </p:sp>
        <p:sp>
          <p:nvSpPr>
            <p:cNvPr name="TextBox 54" id="54"/>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06</a:t>
              </a:r>
            </a:p>
          </p:txBody>
        </p:sp>
      </p:grpSp>
      <p:grpSp>
        <p:nvGrpSpPr>
          <p:cNvPr name="Group 55" id="55"/>
          <p:cNvGrpSpPr/>
          <p:nvPr/>
        </p:nvGrpSpPr>
        <p:grpSpPr>
          <a:xfrm rot="0">
            <a:off x="1458638" y="1955075"/>
            <a:ext cx="759061" cy="1050758"/>
            <a:chOff x="0" y="0"/>
            <a:chExt cx="812800" cy="1125148"/>
          </a:xfrm>
        </p:grpSpPr>
        <p:sp>
          <p:nvSpPr>
            <p:cNvPr name="Freeform 56" id="56"/>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1BE6DA"/>
            </a:solidFill>
          </p:spPr>
        </p:sp>
        <p:sp>
          <p:nvSpPr>
            <p:cNvPr name="TextBox 57" id="57"/>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01</a:t>
              </a:r>
            </a:p>
          </p:txBody>
        </p:sp>
      </p:grpSp>
      <p:grpSp>
        <p:nvGrpSpPr>
          <p:cNvPr name="Group 58" id="58"/>
          <p:cNvGrpSpPr/>
          <p:nvPr/>
        </p:nvGrpSpPr>
        <p:grpSpPr>
          <a:xfrm rot="0">
            <a:off x="15985535" y="1955075"/>
            <a:ext cx="759061" cy="1050758"/>
            <a:chOff x="0" y="0"/>
            <a:chExt cx="812800" cy="1125148"/>
          </a:xfrm>
        </p:grpSpPr>
        <p:sp>
          <p:nvSpPr>
            <p:cNvPr name="Freeform 59" id="59"/>
            <p:cNvSpPr/>
            <p:nvPr/>
          </p:nvSpPr>
          <p:spPr>
            <a:xfrm flipH="false" flipV="false" rot="0">
              <a:off x="0" y="0"/>
              <a:ext cx="812800" cy="1125148"/>
            </a:xfrm>
            <a:custGeom>
              <a:avLst/>
              <a:gdLst/>
              <a:ahLst/>
              <a:cxnLst/>
              <a:rect r="r" b="b" t="t" l="l"/>
              <a:pathLst>
                <a:path h="1125148" w="812800">
                  <a:moveTo>
                    <a:pt x="406400" y="0"/>
                  </a:moveTo>
                  <a:cubicBezTo>
                    <a:pt x="181951" y="0"/>
                    <a:pt x="0" y="251873"/>
                    <a:pt x="0" y="562574"/>
                  </a:cubicBezTo>
                  <a:cubicBezTo>
                    <a:pt x="0" y="873275"/>
                    <a:pt x="181951" y="1125148"/>
                    <a:pt x="406400" y="1125148"/>
                  </a:cubicBezTo>
                  <a:cubicBezTo>
                    <a:pt x="630849" y="1125148"/>
                    <a:pt x="812800" y="873275"/>
                    <a:pt x="812800" y="562574"/>
                  </a:cubicBezTo>
                  <a:cubicBezTo>
                    <a:pt x="812800" y="251873"/>
                    <a:pt x="630849" y="0"/>
                    <a:pt x="406400" y="0"/>
                  </a:cubicBezTo>
                  <a:close/>
                </a:path>
              </a:pathLst>
            </a:custGeom>
            <a:solidFill>
              <a:srgbClr val="116E71"/>
            </a:solidFill>
          </p:spPr>
        </p:sp>
        <p:sp>
          <p:nvSpPr>
            <p:cNvPr name="TextBox 60" id="60"/>
            <p:cNvSpPr txBox="true"/>
            <p:nvPr/>
          </p:nvSpPr>
          <p:spPr>
            <a:xfrm>
              <a:off x="76200" y="29283"/>
              <a:ext cx="660400" cy="990383"/>
            </a:xfrm>
            <a:prstGeom prst="rect">
              <a:avLst/>
            </a:prstGeom>
          </p:spPr>
          <p:txBody>
            <a:bodyPr anchor="ctr" rtlCol="false" tIns="50800" lIns="50800" bIns="50800" rIns="50800"/>
            <a:lstStyle/>
            <a:p>
              <a:pPr algn="ctr">
                <a:lnSpc>
                  <a:spcPts val="4199"/>
                </a:lnSpc>
              </a:pPr>
              <a:r>
                <a:rPr lang="en-US" b="true" sz="2999">
                  <a:solidFill>
                    <a:srgbClr val="FFFFFF"/>
                  </a:solidFill>
                  <a:latin typeface="Poppins Bold"/>
                  <a:ea typeface="Poppins Bold"/>
                  <a:cs typeface="Poppins Bold"/>
                  <a:sym typeface="Poppins Bold"/>
                </a:rPr>
                <a:t>07</a:t>
              </a:r>
            </a:p>
          </p:txBody>
        </p:sp>
      </p:grpSp>
      <p:sp>
        <p:nvSpPr>
          <p:cNvPr name="Freeform 61" id="61"/>
          <p:cNvSpPr/>
          <p:nvPr/>
        </p:nvSpPr>
        <p:spPr>
          <a:xfrm flipH="false" flipV="false" rot="8100000">
            <a:off x="3395138" y="4185936"/>
            <a:ext cx="1200464" cy="1200464"/>
          </a:xfrm>
          <a:custGeom>
            <a:avLst/>
            <a:gdLst/>
            <a:ahLst/>
            <a:cxnLst/>
            <a:rect r="r" b="b" t="t" l="l"/>
            <a:pathLst>
              <a:path h="1200464" w="1200464">
                <a:moveTo>
                  <a:pt x="0" y="0"/>
                </a:moveTo>
                <a:lnTo>
                  <a:pt x="1200464" y="0"/>
                </a:lnTo>
                <a:lnTo>
                  <a:pt x="1200464" y="1200464"/>
                </a:lnTo>
                <a:lnTo>
                  <a:pt x="0" y="120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2" id="62"/>
          <p:cNvSpPr/>
          <p:nvPr/>
        </p:nvSpPr>
        <p:spPr>
          <a:xfrm flipH="false" flipV="false" rot="-2700000">
            <a:off x="13697298" y="4185936"/>
            <a:ext cx="1200464" cy="1200464"/>
          </a:xfrm>
          <a:custGeom>
            <a:avLst/>
            <a:gdLst/>
            <a:ahLst/>
            <a:cxnLst/>
            <a:rect r="r" b="b" t="t" l="l"/>
            <a:pathLst>
              <a:path h="1200464" w="1200464">
                <a:moveTo>
                  <a:pt x="0" y="0"/>
                </a:moveTo>
                <a:lnTo>
                  <a:pt x="1200464" y="0"/>
                </a:lnTo>
                <a:lnTo>
                  <a:pt x="1200464" y="1200464"/>
                </a:lnTo>
                <a:lnTo>
                  <a:pt x="0" y="120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3" id="63"/>
          <p:cNvSpPr/>
          <p:nvPr/>
        </p:nvSpPr>
        <p:spPr>
          <a:xfrm flipH="false" flipV="false" rot="8100000">
            <a:off x="5787179" y="4385689"/>
            <a:ext cx="1200464" cy="1200464"/>
          </a:xfrm>
          <a:custGeom>
            <a:avLst/>
            <a:gdLst/>
            <a:ahLst/>
            <a:cxnLst/>
            <a:rect r="r" b="b" t="t" l="l"/>
            <a:pathLst>
              <a:path h="1200464" w="1200464">
                <a:moveTo>
                  <a:pt x="0" y="0"/>
                </a:moveTo>
                <a:lnTo>
                  <a:pt x="1200464" y="0"/>
                </a:lnTo>
                <a:lnTo>
                  <a:pt x="1200464" y="1200464"/>
                </a:lnTo>
                <a:lnTo>
                  <a:pt x="0" y="120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4" id="64"/>
          <p:cNvSpPr/>
          <p:nvPr/>
        </p:nvSpPr>
        <p:spPr>
          <a:xfrm flipH="false" flipV="false" rot="-2700000">
            <a:off x="11300264" y="4385689"/>
            <a:ext cx="1200464" cy="1200464"/>
          </a:xfrm>
          <a:custGeom>
            <a:avLst/>
            <a:gdLst/>
            <a:ahLst/>
            <a:cxnLst/>
            <a:rect r="r" b="b" t="t" l="l"/>
            <a:pathLst>
              <a:path h="1200464" w="1200464">
                <a:moveTo>
                  <a:pt x="0" y="0"/>
                </a:moveTo>
                <a:lnTo>
                  <a:pt x="1200464" y="0"/>
                </a:lnTo>
                <a:lnTo>
                  <a:pt x="1200464" y="1200464"/>
                </a:lnTo>
                <a:lnTo>
                  <a:pt x="0" y="1200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5" id="65"/>
          <p:cNvSpPr/>
          <p:nvPr/>
        </p:nvSpPr>
        <p:spPr>
          <a:xfrm flipH="false" flipV="false" rot="0">
            <a:off x="1458638" y="4406638"/>
            <a:ext cx="479407" cy="359555"/>
          </a:xfrm>
          <a:custGeom>
            <a:avLst/>
            <a:gdLst/>
            <a:ahLst/>
            <a:cxnLst/>
            <a:rect r="r" b="b" t="t" l="l"/>
            <a:pathLst>
              <a:path h="359555" w="479407">
                <a:moveTo>
                  <a:pt x="0" y="0"/>
                </a:moveTo>
                <a:lnTo>
                  <a:pt x="479407" y="0"/>
                </a:lnTo>
                <a:lnTo>
                  <a:pt x="479407" y="359555"/>
                </a:lnTo>
                <a:lnTo>
                  <a:pt x="0" y="3595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6" id="66"/>
          <p:cNvSpPr/>
          <p:nvPr/>
        </p:nvSpPr>
        <p:spPr>
          <a:xfrm flipH="false" flipV="false" rot="0">
            <a:off x="3863348" y="4546465"/>
            <a:ext cx="479407" cy="479407"/>
          </a:xfrm>
          <a:custGeom>
            <a:avLst/>
            <a:gdLst/>
            <a:ahLst/>
            <a:cxnLst/>
            <a:rect r="r" b="b" t="t" l="l"/>
            <a:pathLst>
              <a:path h="479407" w="479407">
                <a:moveTo>
                  <a:pt x="0" y="0"/>
                </a:moveTo>
                <a:lnTo>
                  <a:pt x="479407" y="0"/>
                </a:lnTo>
                <a:lnTo>
                  <a:pt x="479407" y="479407"/>
                </a:lnTo>
                <a:lnTo>
                  <a:pt x="0" y="4794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7" id="67"/>
          <p:cNvSpPr/>
          <p:nvPr/>
        </p:nvSpPr>
        <p:spPr>
          <a:xfrm flipH="false" flipV="false" rot="0">
            <a:off x="6248083" y="4746218"/>
            <a:ext cx="479407" cy="479407"/>
          </a:xfrm>
          <a:custGeom>
            <a:avLst/>
            <a:gdLst/>
            <a:ahLst/>
            <a:cxnLst/>
            <a:rect r="r" b="b" t="t" l="l"/>
            <a:pathLst>
              <a:path h="479407" w="479407">
                <a:moveTo>
                  <a:pt x="0" y="0"/>
                </a:moveTo>
                <a:lnTo>
                  <a:pt x="479407" y="0"/>
                </a:lnTo>
                <a:lnTo>
                  <a:pt x="479407" y="479407"/>
                </a:lnTo>
                <a:lnTo>
                  <a:pt x="0" y="4794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8" id="68"/>
          <p:cNvSpPr/>
          <p:nvPr/>
        </p:nvSpPr>
        <p:spPr>
          <a:xfrm flipH="false" flipV="false" rot="0">
            <a:off x="16355078" y="4346712"/>
            <a:ext cx="500033" cy="479407"/>
          </a:xfrm>
          <a:custGeom>
            <a:avLst/>
            <a:gdLst/>
            <a:ahLst/>
            <a:cxnLst/>
            <a:rect r="r" b="b" t="t" l="l"/>
            <a:pathLst>
              <a:path h="479407" w="500033">
                <a:moveTo>
                  <a:pt x="0" y="0"/>
                </a:moveTo>
                <a:lnTo>
                  <a:pt x="500033" y="0"/>
                </a:lnTo>
                <a:lnTo>
                  <a:pt x="500033" y="479407"/>
                </a:lnTo>
                <a:lnTo>
                  <a:pt x="0" y="4794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9" id="69"/>
          <p:cNvSpPr/>
          <p:nvPr/>
        </p:nvSpPr>
        <p:spPr>
          <a:xfrm flipH="false" flipV="false" rot="0">
            <a:off x="13958044" y="4546465"/>
            <a:ext cx="479407" cy="479407"/>
          </a:xfrm>
          <a:custGeom>
            <a:avLst/>
            <a:gdLst/>
            <a:ahLst/>
            <a:cxnLst/>
            <a:rect r="r" b="b" t="t" l="l"/>
            <a:pathLst>
              <a:path h="479407" w="479407">
                <a:moveTo>
                  <a:pt x="0" y="0"/>
                </a:moveTo>
                <a:lnTo>
                  <a:pt x="479407" y="0"/>
                </a:lnTo>
                <a:lnTo>
                  <a:pt x="479407" y="479407"/>
                </a:lnTo>
                <a:lnTo>
                  <a:pt x="0" y="47940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70" id="70"/>
          <p:cNvSpPr/>
          <p:nvPr/>
        </p:nvSpPr>
        <p:spPr>
          <a:xfrm flipH="false" flipV="false" rot="0">
            <a:off x="8944147" y="4656329"/>
            <a:ext cx="399705" cy="479407"/>
          </a:xfrm>
          <a:custGeom>
            <a:avLst/>
            <a:gdLst/>
            <a:ahLst/>
            <a:cxnLst/>
            <a:rect r="r" b="b" t="t" l="l"/>
            <a:pathLst>
              <a:path h="479407" w="399705">
                <a:moveTo>
                  <a:pt x="0" y="0"/>
                </a:moveTo>
                <a:lnTo>
                  <a:pt x="399706" y="0"/>
                </a:lnTo>
                <a:lnTo>
                  <a:pt x="399706" y="479407"/>
                </a:lnTo>
                <a:lnTo>
                  <a:pt x="0" y="47940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71" id="71"/>
          <p:cNvSpPr/>
          <p:nvPr/>
        </p:nvSpPr>
        <p:spPr>
          <a:xfrm flipH="false" flipV="false" rot="0">
            <a:off x="11580485" y="4746218"/>
            <a:ext cx="479407" cy="479407"/>
          </a:xfrm>
          <a:custGeom>
            <a:avLst/>
            <a:gdLst/>
            <a:ahLst/>
            <a:cxnLst/>
            <a:rect r="r" b="b" t="t" l="l"/>
            <a:pathLst>
              <a:path h="479407" w="479407">
                <a:moveTo>
                  <a:pt x="0" y="0"/>
                </a:moveTo>
                <a:lnTo>
                  <a:pt x="479407" y="0"/>
                </a:lnTo>
                <a:lnTo>
                  <a:pt x="479407" y="479407"/>
                </a:lnTo>
                <a:lnTo>
                  <a:pt x="0" y="47940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72" id="72"/>
          <p:cNvSpPr txBox="true"/>
          <p:nvPr/>
        </p:nvSpPr>
        <p:spPr>
          <a:xfrm rot="0">
            <a:off x="629664" y="5862937"/>
            <a:ext cx="2137356" cy="798195"/>
          </a:xfrm>
          <a:prstGeom prst="rect">
            <a:avLst/>
          </a:prstGeom>
        </p:spPr>
        <p:txBody>
          <a:bodyPr anchor="t" rtlCol="false" tIns="0" lIns="0" bIns="0" rIns="0">
            <a:spAutoFit/>
          </a:bodyPr>
          <a:lstStyle/>
          <a:p>
            <a:pPr algn="ctr">
              <a:lnSpc>
                <a:spcPts val="3120"/>
              </a:lnSpc>
            </a:pPr>
            <a:r>
              <a:rPr lang="en-US" b="true" sz="2400">
                <a:solidFill>
                  <a:srgbClr val="0B4B49"/>
                </a:solidFill>
                <a:latin typeface="Poppins Bold"/>
                <a:ea typeface="Poppins Bold"/>
                <a:cs typeface="Poppins Bold"/>
                <a:sym typeface="Poppins Bold"/>
              </a:rPr>
              <a:t>Présentation des données</a:t>
            </a:r>
          </a:p>
        </p:txBody>
      </p:sp>
      <p:sp>
        <p:nvSpPr>
          <p:cNvPr name="TextBox 73" id="73"/>
          <p:cNvSpPr txBox="true"/>
          <p:nvPr/>
        </p:nvSpPr>
        <p:spPr>
          <a:xfrm rot="0">
            <a:off x="6286500" y="293241"/>
            <a:ext cx="5715000" cy="1444632"/>
          </a:xfrm>
          <a:prstGeom prst="rect">
            <a:avLst/>
          </a:prstGeom>
        </p:spPr>
        <p:txBody>
          <a:bodyPr anchor="t" rtlCol="false" tIns="0" lIns="0" bIns="0" rIns="0">
            <a:spAutoFit/>
          </a:bodyPr>
          <a:lstStyle/>
          <a:p>
            <a:pPr algn="ctr">
              <a:lnSpc>
                <a:spcPts val="11199"/>
              </a:lnSpc>
              <a:spcBef>
                <a:spcPct val="0"/>
              </a:spcBef>
            </a:pPr>
            <a:r>
              <a:rPr lang="en-US" b="true" sz="7999">
                <a:solidFill>
                  <a:srgbClr val="FFFFFF"/>
                </a:solidFill>
                <a:latin typeface="Poppins Bold"/>
                <a:ea typeface="Poppins Bold"/>
                <a:cs typeface="Poppins Bold"/>
                <a:sym typeface="Poppins Bold"/>
              </a:rPr>
              <a:t>Plan</a:t>
            </a:r>
          </a:p>
        </p:txBody>
      </p:sp>
      <p:sp>
        <p:nvSpPr>
          <p:cNvPr name="TextBox 74" id="74"/>
          <p:cNvSpPr txBox="true"/>
          <p:nvPr/>
        </p:nvSpPr>
        <p:spPr>
          <a:xfrm rot="0">
            <a:off x="10811694" y="5730547"/>
            <a:ext cx="2137356" cy="1188720"/>
          </a:xfrm>
          <a:prstGeom prst="rect">
            <a:avLst/>
          </a:prstGeom>
        </p:spPr>
        <p:txBody>
          <a:bodyPr anchor="t" rtlCol="false" tIns="0" lIns="0" bIns="0" rIns="0">
            <a:spAutoFit/>
          </a:bodyPr>
          <a:lstStyle/>
          <a:p>
            <a:pPr algn="ctr">
              <a:lnSpc>
                <a:spcPts val="3120"/>
              </a:lnSpc>
            </a:pPr>
            <a:r>
              <a:rPr lang="en-US" b="true" sz="2400">
                <a:solidFill>
                  <a:srgbClr val="FFFFFF"/>
                </a:solidFill>
                <a:latin typeface="Poppins Bold"/>
                <a:ea typeface="Poppins Bold"/>
                <a:cs typeface="Poppins Bold"/>
                <a:sym typeface="Poppins Bold"/>
              </a:rPr>
              <a:t>Résultats et comparaison des modèles</a:t>
            </a:r>
          </a:p>
        </p:txBody>
      </p:sp>
      <p:sp>
        <p:nvSpPr>
          <p:cNvPr name="TextBox 75" id="75"/>
          <p:cNvSpPr txBox="true"/>
          <p:nvPr/>
        </p:nvSpPr>
        <p:spPr>
          <a:xfrm rot="0">
            <a:off x="8075322" y="5667675"/>
            <a:ext cx="2137356" cy="1188720"/>
          </a:xfrm>
          <a:prstGeom prst="rect">
            <a:avLst/>
          </a:prstGeom>
        </p:spPr>
        <p:txBody>
          <a:bodyPr anchor="t" rtlCol="false" tIns="0" lIns="0" bIns="0" rIns="0">
            <a:spAutoFit/>
          </a:bodyPr>
          <a:lstStyle/>
          <a:p>
            <a:pPr algn="ctr">
              <a:lnSpc>
                <a:spcPts val="3120"/>
              </a:lnSpc>
            </a:pPr>
            <a:r>
              <a:rPr lang="en-US" b="true" sz="2400">
                <a:solidFill>
                  <a:srgbClr val="FFFFFF"/>
                </a:solidFill>
                <a:latin typeface="Poppins Bold"/>
                <a:ea typeface="Poppins Bold"/>
                <a:cs typeface="Poppins Bold"/>
                <a:sym typeface="Poppins Bold"/>
              </a:rPr>
              <a:t>Modélisation et méthodes de prédiction</a:t>
            </a:r>
          </a:p>
        </p:txBody>
      </p:sp>
      <p:sp>
        <p:nvSpPr>
          <p:cNvPr name="TextBox 76" id="76"/>
          <p:cNvSpPr txBox="true"/>
          <p:nvPr/>
        </p:nvSpPr>
        <p:spPr>
          <a:xfrm rot="0">
            <a:off x="5269589" y="5862937"/>
            <a:ext cx="2235644" cy="798195"/>
          </a:xfrm>
          <a:prstGeom prst="rect">
            <a:avLst/>
          </a:prstGeom>
        </p:spPr>
        <p:txBody>
          <a:bodyPr anchor="t" rtlCol="false" tIns="0" lIns="0" bIns="0" rIns="0">
            <a:spAutoFit/>
          </a:bodyPr>
          <a:lstStyle/>
          <a:p>
            <a:pPr algn="ctr">
              <a:lnSpc>
                <a:spcPts val="3120"/>
              </a:lnSpc>
            </a:pPr>
            <a:r>
              <a:rPr lang="en-US" b="true" sz="2400">
                <a:solidFill>
                  <a:srgbClr val="0B4B49"/>
                </a:solidFill>
                <a:latin typeface="Poppins Bold"/>
                <a:ea typeface="Poppins Bold"/>
                <a:cs typeface="Poppins Bold"/>
                <a:sym typeface="Poppins Bold"/>
              </a:rPr>
              <a:t>Prétraitement des données</a:t>
            </a:r>
          </a:p>
        </p:txBody>
      </p:sp>
      <p:sp>
        <p:nvSpPr>
          <p:cNvPr name="TextBox 77" id="77"/>
          <p:cNvSpPr txBox="true"/>
          <p:nvPr/>
        </p:nvSpPr>
        <p:spPr>
          <a:xfrm rot="0">
            <a:off x="3061525" y="5472412"/>
            <a:ext cx="2137356" cy="1579245"/>
          </a:xfrm>
          <a:prstGeom prst="rect">
            <a:avLst/>
          </a:prstGeom>
        </p:spPr>
        <p:txBody>
          <a:bodyPr anchor="t" rtlCol="false" tIns="0" lIns="0" bIns="0" rIns="0">
            <a:spAutoFit/>
          </a:bodyPr>
          <a:lstStyle/>
          <a:p>
            <a:pPr algn="ctr">
              <a:lnSpc>
                <a:spcPts val="3120"/>
              </a:lnSpc>
            </a:pPr>
            <a:r>
              <a:rPr lang="en-US" b="true" sz="2400">
                <a:solidFill>
                  <a:srgbClr val="0B4B49"/>
                </a:solidFill>
                <a:latin typeface="Poppins Bold"/>
                <a:ea typeface="Poppins Bold"/>
                <a:cs typeface="Poppins Bold"/>
                <a:sym typeface="Poppins Bold"/>
              </a:rPr>
              <a:t>Analyse exploratoire des données (EDA)</a:t>
            </a:r>
          </a:p>
        </p:txBody>
      </p:sp>
      <p:sp>
        <p:nvSpPr>
          <p:cNvPr name="TextBox 78" id="78"/>
          <p:cNvSpPr txBox="true"/>
          <p:nvPr/>
        </p:nvSpPr>
        <p:spPr>
          <a:xfrm rot="0">
            <a:off x="13129070" y="5862937"/>
            <a:ext cx="2137356" cy="798195"/>
          </a:xfrm>
          <a:prstGeom prst="rect">
            <a:avLst/>
          </a:prstGeom>
        </p:spPr>
        <p:txBody>
          <a:bodyPr anchor="t" rtlCol="false" tIns="0" lIns="0" bIns="0" rIns="0">
            <a:spAutoFit/>
          </a:bodyPr>
          <a:lstStyle/>
          <a:p>
            <a:pPr algn="ctr">
              <a:lnSpc>
                <a:spcPts val="3120"/>
              </a:lnSpc>
            </a:pPr>
            <a:r>
              <a:rPr lang="en-US" b="true" sz="2400">
                <a:solidFill>
                  <a:srgbClr val="FFFFFF"/>
                </a:solidFill>
                <a:latin typeface="Poppins Bold"/>
                <a:ea typeface="Poppins Bold"/>
                <a:cs typeface="Poppins Bold"/>
                <a:sym typeface="Poppins Bold"/>
              </a:rPr>
              <a:t>Choix du modèle final</a:t>
            </a:r>
          </a:p>
        </p:txBody>
      </p:sp>
      <p:sp>
        <p:nvSpPr>
          <p:cNvPr name="TextBox 79" id="79"/>
          <p:cNvSpPr txBox="true"/>
          <p:nvPr/>
        </p:nvSpPr>
        <p:spPr>
          <a:xfrm rot="0">
            <a:off x="15667128" y="6121072"/>
            <a:ext cx="2137356" cy="798195"/>
          </a:xfrm>
          <a:prstGeom prst="rect">
            <a:avLst/>
          </a:prstGeom>
        </p:spPr>
        <p:txBody>
          <a:bodyPr anchor="t" rtlCol="false" tIns="0" lIns="0" bIns="0" rIns="0">
            <a:spAutoFit/>
          </a:bodyPr>
          <a:lstStyle/>
          <a:p>
            <a:pPr algn="ctr">
              <a:lnSpc>
                <a:spcPts val="3120"/>
              </a:lnSpc>
            </a:pPr>
            <a:r>
              <a:rPr lang="en-US" b="true" sz="2400">
                <a:solidFill>
                  <a:srgbClr val="FFFFFF"/>
                </a:solidFill>
                <a:latin typeface="Poppins Bold"/>
                <a:ea typeface="Poppins Bold"/>
                <a:cs typeface="Poppins Bold"/>
                <a:sym typeface="Poppins Bold"/>
              </a:rPr>
              <a:t>API de Prédiction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285250" y="3086100"/>
            <a:ext cx="4340757" cy="4114800"/>
          </a:xfrm>
          <a:custGeom>
            <a:avLst/>
            <a:gdLst/>
            <a:ahLst/>
            <a:cxnLst/>
            <a:rect r="r" b="b" t="t" l="l"/>
            <a:pathLst>
              <a:path h="4114800" w="4340757">
                <a:moveTo>
                  <a:pt x="0" y="0"/>
                </a:moveTo>
                <a:lnTo>
                  <a:pt x="4340757" y="0"/>
                </a:lnTo>
                <a:lnTo>
                  <a:pt x="43407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880330"/>
            <a:ext cx="9471486" cy="2421566"/>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Présentation des données</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222501" cy="10287000"/>
            <a:chOff x="0" y="0"/>
            <a:chExt cx="585350" cy="2709333"/>
          </a:xfrm>
        </p:grpSpPr>
        <p:sp>
          <p:nvSpPr>
            <p:cNvPr name="Freeform 3" id="3"/>
            <p:cNvSpPr/>
            <p:nvPr/>
          </p:nvSpPr>
          <p:spPr>
            <a:xfrm flipH="false" flipV="false" rot="0">
              <a:off x="0" y="0"/>
              <a:ext cx="585350" cy="2709333"/>
            </a:xfrm>
            <a:custGeom>
              <a:avLst/>
              <a:gdLst/>
              <a:ahLst/>
              <a:cxnLst/>
              <a:rect r="r" b="b" t="t" l="l"/>
              <a:pathLst>
                <a:path h="2709333" w="585350">
                  <a:moveTo>
                    <a:pt x="0" y="0"/>
                  </a:moveTo>
                  <a:lnTo>
                    <a:pt x="585350" y="0"/>
                  </a:lnTo>
                  <a:lnTo>
                    <a:pt x="585350" y="2709333"/>
                  </a:lnTo>
                  <a:lnTo>
                    <a:pt x="0" y="2709333"/>
                  </a:lnTo>
                  <a:close/>
                </a:path>
              </a:pathLst>
            </a:custGeom>
            <a:solidFill>
              <a:srgbClr val="FFFFFF"/>
            </a:solidFill>
          </p:spPr>
        </p:sp>
        <p:sp>
          <p:nvSpPr>
            <p:cNvPr name="TextBox 4" id="4"/>
            <p:cNvSpPr txBox="true"/>
            <p:nvPr/>
          </p:nvSpPr>
          <p:spPr>
            <a:xfrm>
              <a:off x="0" y="0"/>
              <a:ext cx="585350"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2316910" y="4718888"/>
            <a:ext cx="6922997" cy="2155826"/>
          </a:xfrm>
          <a:prstGeom prst="rect">
            <a:avLst/>
          </a:prstGeom>
        </p:spPr>
        <p:txBody>
          <a:bodyPr anchor="t" rtlCol="false" tIns="0" lIns="0" bIns="0" rIns="0">
            <a:spAutoFit/>
          </a:bodyPr>
          <a:lstStyle/>
          <a:p>
            <a:pPr algn="l">
              <a:lnSpc>
                <a:spcPts val="8000"/>
              </a:lnSpc>
            </a:pPr>
            <a:r>
              <a:rPr lang="en-US" sz="8000" b="true">
                <a:solidFill>
                  <a:srgbClr val="0B4B49"/>
                </a:solidFill>
                <a:latin typeface="Poppins Bold"/>
                <a:ea typeface="Poppins Bold"/>
                <a:cs typeface="Poppins Bold"/>
                <a:sym typeface="Poppins Bold"/>
              </a:rPr>
              <a:t>Présentation des données</a:t>
            </a:r>
          </a:p>
        </p:txBody>
      </p:sp>
      <p:sp>
        <p:nvSpPr>
          <p:cNvPr name="TextBox 6" id="6"/>
          <p:cNvSpPr txBox="true"/>
          <p:nvPr/>
        </p:nvSpPr>
        <p:spPr>
          <a:xfrm rot="0">
            <a:off x="3325875" y="1158126"/>
            <a:ext cx="13724614" cy="523875"/>
          </a:xfrm>
          <a:prstGeom prst="rect">
            <a:avLst/>
          </a:prstGeom>
        </p:spPr>
        <p:txBody>
          <a:bodyPr anchor="t" rtlCol="false" tIns="0" lIns="0" bIns="0" rIns="0">
            <a:spAutoFit/>
          </a:bodyPr>
          <a:lstStyle/>
          <a:p>
            <a:pPr algn="just">
              <a:lnSpc>
                <a:spcPts val="4200"/>
              </a:lnSpc>
            </a:pPr>
            <a:r>
              <a:rPr lang="en-US" sz="3000">
                <a:solidFill>
                  <a:srgbClr val="FFFFFF"/>
                </a:solidFill>
                <a:latin typeface="DM Sans"/>
                <a:ea typeface="DM Sans"/>
                <a:cs typeface="DM Sans"/>
                <a:sym typeface="DM Sans"/>
              </a:rPr>
              <a:t>Informations personnelles et médicales collectées auprès d’individus assurés</a:t>
            </a:r>
          </a:p>
        </p:txBody>
      </p:sp>
      <p:sp>
        <p:nvSpPr>
          <p:cNvPr name="TextBox 7" id="7"/>
          <p:cNvSpPr txBox="true"/>
          <p:nvPr/>
        </p:nvSpPr>
        <p:spPr>
          <a:xfrm rot="0">
            <a:off x="4419166" y="4083050"/>
            <a:ext cx="3456154" cy="679450"/>
          </a:xfrm>
          <a:prstGeom prst="rect">
            <a:avLst/>
          </a:prstGeom>
        </p:spPr>
        <p:txBody>
          <a:bodyPr anchor="t" rtlCol="false" tIns="0" lIns="0" bIns="0" rIns="0">
            <a:spAutoFit/>
          </a:bodyPr>
          <a:lstStyle/>
          <a:p>
            <a:pPr algn="ctr">
              <a:lnSpc>
                <a:spcPts val="5599"/>
              </a:lnSpc>
            </a:pPr>
            <a:r>
              <a:rPr lang="en-US" sz="3999" b="true">
                <a:solidFill>
                  <a:srgbClr val="FFFFFF"/>
                </a:solidFill>
                <a:latin typeface="DM Sans Bold"/>
                <a:ea typeface="DM Sans Bold"/>
                <a:cs typeface="DM Sans Bold"/>
                <a:sym typeface="DM Sans Bold"/>
              </a:rPr>
              <a:t>observations</a:t>
            </a:r>
          </a:p>
        </p:txBody>
      </p:sp>
      <p:sp>
        <p:nvSpPr>
          <p:cNvPr name="TextBox 8" id="8"/>
          <p:cNvSpPr txBox="true"/>
          <p:nvPr/>
        </p:nvSpPr>
        <p:spPr>
          <a:xfrm rot="0">
            <a:off x="10474095" y="5587452"/>
            <a:ext cx="6785205" cy="259203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age : âge de l’individu </a:t>
            </a:r>
          </a:p>
          <a:p>
            <a:pPr algn="ctr">
              <a:lnSpc>
                <a:spcPts val="4131"/>
              </a:lnSpc>
            </a:pPr>
            <a:r>
              <a:rPr lang="en-US" b="true" sz="2951">
                <a:solidFill>
                  <a:srgbClr val="FFFFFF"/>
                </a:solidFill>
                <a:latin typeface="DM Sans Bold"/>
                <a:ea typeface="DM Sans Bold"/>
                <a:cs typeface="DM Sans Bold"/>
                <a:sym typeface="DM Sans Bold"/>
              </a:rPr>
              <a:t>bmi : indice de masse corporelle</a:t>
            </a:r>
          </a:p>
          <a:p>
            <a:pPr algn="ctr">
              <a:lnSpc>
                <a:spcPts val="4131"/>
              </a:lnSpc>
            </a:pPr>
            <a:r>
              <a:rPr lang="en-US" b="true" sz="2951">
                <a:solidFill>
                  <a:srgbClr val="FFFFFF"/>
                </a:solidFill>
                <a:latin typeface="DM Sans Bold"/>
                <a:ea typeface="DM Sans Bold"/>
                <a:cs typeface="DM Sans Bold"/>
                <a:sym typeface="DM Sans Bold"/>
              </a:rPr>
              <a:t>children : nombre d’enfants à charge</a:t>
            </a:r>
          </a:p>
          <a:p>
            <a:pPr algn="ctr">
              <a:lnSpc>
                <a:spcPts val="4131"/>
              </a:lnSpc>
            </a:pPr>
            <a:r>
              <a:rPr lang="en-US" b="true" sz="2951">
                <a:solidFill>
                  <a:srgbClr val="FFFFFF"/>
                </a:solidFill>
                <a:latin typeface="DM Sans Bold"/>
                <a:ea typeface="DM Sans Bold"/>
                <a:cs typeface="DM Sans Bold"/>
                <a:sym typeface="DM Sans Bold"/>
              </a:rPr>
              <a:t>charges : coût total des soins médicaux sur une période donnée.</a:t>
            </a:r>
          </a:p>
        </p:txBody>
      </p:sp>
      <p:sp>
        <p:nvSpPr>
          <p:cNvPr name="Freeform 9" id="9"/>
          <p:cNvSpPr/>
          <p:nvPr/>
        </p:nvSpPr>
        <p:spPr>
          <a:xfrm flipH="false" flipV="false" rot="0">
            <a:off x="159676" y="375399"/>
            <a:ext cx="1378353" cy="1306603"/>
          </a:xfrm>
          <a:custGeom>
            <a:avLst/>
            <a:gdLst/>
            <a:ahLst/>
            <a:cxnLst/>
            <a:rect r="r" b="b" t="t" l="l"/>
            <a:pathLst>
              <a:path h="1306603" w="1378353">
                <a:moveTo>
                  <a:pt x="0" y="0"/>
                </a:moveTo>
                <a:lnTo>
                  <a:pt x="1378352" y="0"/>
                </a:lnTo>
                <a:lnTo>
                  <a:pt x="1378352" y="1306602"/>
                </a:lnTo>
                <a:lnTo>
                  <a:pt x="0" y="1306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8146012" y="368300"/>
            <a:ext cx="4084340" cy="660400"/>
          </a:xfrm>
          <a:prstGeom prst="rect">
            <a:avLst/>
          </a:prstGeom>
        </p:spPr>
        <p:txBody>
          <a:bodyPr anchor="t" rtlCol="false" tIns="0" lIns="0" bIns="0" rIns="0">
            <a:spAutoFit/>
          </a:bodyPr>
          <a:lstStyle/>
          <a:p>
            <a:pPr algn="l">
              <a:lnSpc>
                <a:spcPts val="4999"/>
              </a:lnSpc>
            </a:pPr>
            <a:r>
              <a:rPr lang="en-US" sz="3999" b="true">
                <a:solidFill>
                  <a:srgbClr val="FFFFFF"/>
                </a:solidFill>
                <a:latin typeface="Poppins Bold"/>
                <a:ea typeface="Poppins Bold"/>
                <a:cs typeface="Poppins Bold"/>
                <a:sym typeface="Poppins Bold"/>
              </a:rPr>
              <a:t>Jeu de données</a:t>
            </a:r>
          </a:p>
        </p:txBody>
      </p:sp>
      <p:sp>
        <p:nvSpPr>
          <p:cNvPr name="TextBox 11" id="11"/>
          <p:cNvSpPr txBox="true"/>
          <p:nvPr/>
        </p:nvSpPr>
        <p:spPr>
          <a:xfrm rot="0">
            <a:off x="3896478" y="1955800"/>
            <a:ext cx="4501531" cy="2505075"/>
          </a:xfrm>
          <a:prstGeom prst="rect">
            <a:avLst/>
          </a:prstGeom>
        </p:spPr>
        <p:txBody>
          <a:bodyPr anchor="t" rtlCol="false" tIns="0" lIns="0" bIns="0" rIns="0">
            <a:spAutoFit/>
          </a:bodyPr>
          <a:lstStyle/>
          <a:p>
            <a:pPr algn="l">
              <a:lnSpc>
                <a:spcPts val="18750"/>
              </a:lnSpc>
            </a:pPr>
            <a:r>
              <a:rPr lang="en-US" sz="15000" b="true">
                <a:solidFill>
                  <a:srgbClr val="FFFFFF"/>
                </a:solidFill>
                <a:latin typeface="Poppins Bold"/>
                <a:ea typeface="Poppins Bold"/>
                <a:cs typeface="Poppins Bold"/>
                <a:sym typeface="Poppins Bold"/>
              </a:rPr>
              <a:t>1338</a:t>
            </a:r>
          </a:p>
        </p:txBody>
      </p:sp>
      <p:sp>
        <p:nvSpPr>
          <p:cNvPr name="TextBox 12" id="12"/>
          <p:cNvSpPr txBox="true"/>
          <p:nvPr/>
        </p:nvSpPr>
        <p:spPr>
          <a:xfrm rot="0">
            <a:off x="13402328" y="1809067"/>
            <a:ext cx="1125591" cy="2505075"/>
          </a:xfrm>
          <a:prstGeom prst="rect">
            <a:avLst/>
          </a:prstGeom>
        </p:spPr>
        <p:txBody>
          <a:bodyPr anchor="t" rtlCol="false" tIns="0" lIns="0" bIns="0" rIns="0">
            <a:spAutoFit/>
          </a:bodyPr>
          <a:lstStyle/>
          <a:p>
            <a:pPr algn="l">
              <a:lnSpc>
                <a:spcPts val="18750"/>
              </a:lnSpc>
            </a:pPr>
            <a:r>
              <a:rPr lang="en-US" sz="15000" b="true">
                <a:solidFill>
                  <a:srgbClr val="FFFFFF"/>
                </a:solidFill>
                <a:latin typeface="Poppins Bold"/>
                <a:ea typeface="Poppins Bold"/>
                <a:cs typeface="Poppins Bold"/>
                <a:sym typeface="Poppins Bold"/>
              </a:rPr>
              <a:t>7</a:t>
            </a:r>
          </a:p>
        </p:txBody>
      </p:sp>
      <p:sp>
        <p:nvSpPr>
          <p:cNvPr name="TextBox 13" id="13"/>
          <p:cNvSpPr txBox="true"/>
          <p:nvPr/>
        </p:nvSpPr>
        <p:spPr>
          <a:xfrm rot="0">
            <a:off x="12237046" y="3936317"/>
            <a:ext cx="3456154" cy="679450"/>
          </a:xfrm>
          <a:prstGeom prst="rect">
            <a:avLst/>
          </a:prstGeom>
        </p:spPr>
        <p:txBody>
          <a:bodyPr anchor="t" rtlCol="false" tIns="0" lIns="0" bIns="0" rIns="0">
            <a:spAutoFit/>
          </a:bodyPr>
          <a:lstStyle/>
          <a:p>
            <a:pPr algn="ctr">
              <a:lnSpc>
                <a:spcPts val="5599"/>
              </a:lnSpc>
            </a:pPr>
            <a:r>
              <a:rPr lang="en-US" sz="3999" b="true">
                <a:solidFill>
                  <a:srgbClr val="FFFFFF"/>
                </a:solidFill>
                <a:latin typeface="DM Sans Bold"/>
                <a:ea typeface="DM Sans Bold"/>
                <a:cs typeface="DM Sans Bold"/>
                <a:sym typeface="DM Sans Bold"/>
              </a:rPr>
              <a:t>variables</a:t>
            </a:r>
          </a:p>
        </p:txBody>
      </p:sp>
      <p:grpSp>
        <p:nvGrpSpPr>
          <p:cNvPr name="Group 14" id="14"/>
          <p:cNvGrpSpPr/>
          <p:nvPr/>
        </p:nvGrpSpPr>
        <p:grpSpPr>
          <a:xfrm rot="0">
            <a:off x="2701335" y="5372100"/>
            <a:ext cx="6891816" cy="3097442"/>
            <a:chOff x="0" y="0"/>
            <a:chExt cx="1576700" cy="708629"/>
          </a:xfrm>
        </p:grpSpPr>
        <p:sp>
          <p:nvSpPr>
            <p:cNvPr name="Freeform 15" id="15"/>
            <p:cNvSpPr/>
            <p:nvPr/>
          </p:nvSpPr>
          <p:spPr>
            <a:xfrm flipH="false" flipV="false" rot="0">
              <a:off x="0" y="0"/>
              <a:ext cx="1576700" cy="708629"/>
            </a:xfrm>
            <a:custGeom>
              <a:avLst/>
              <a:gdLst/>
              <a:ahLst/>
              <a:cxnLst/>
              <a:rect r="r" b="b" t="t" l="l"/>
              <a:pathLst>
                <a:path h="708629" w="1576700">
                  <a:moveTo>
                    <a:pt x="40441" y="0"/>
                  </a:moveTo>
                  <a:lnTo>
                    <a:pt x="1536260" y="0"/>
                  </a:lnTo>
                  <a:cubicBezTo>
                    <a:pt x="1558594" y="0"/>
                    <a:pt x="1576700" y="18106"/>
                    <a:pt x="1576700" y="40441"/>
                  </a:cubicBezTo>
                  <a:lnTo>
                    <a:pt x="1576700" y="668188"/>
                  </a:lnTo>
                  <a:cubicBezTo>
                    <a:pt x="1576700" y="690523"/>
                    <a:pt x="1558594" y="708629"/>
                    <a:pt x="1536260" y="708629"/>
                  </a:cubicBezTo>
                  <a:lnTo>
                    <a:pt x="40441" y="708629"/>
                  </a:lnTo>
                  <a:cubicBezTo>
                    <a:pt x="18106" y="708629"/>
                    <a:pt x="0" y="690523"/>
                    <a:pt x="0" y="668188"/>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6" id="16"/>
            <p:cNvSpPr txBox="true"/>
            <p:nvPr/>
          </p:nvSpPr>
          <p:spPr>
            <a:xfrm>
              <a:off x="0" y="-28575"/>
              <a:ext cx="1576700" cy="737204"/>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0">
            <a:off x="3827098" y="5143500"/>
            <a:ext cx="4640290" cy="497729"/>
            <a:chOff x="0" y="0"/>
            <a:chExt cx="1061599" cy="113870"/>
          </a:xfrm>
        </p:grpSpPr>
        <p:sp>
          <p:nvSpPr>
            <p:cNvPr name="Freeform 18" id="18"/>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9" id="19"/>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4176876" y="5057775"/>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Catégorielles</a:t>
            </a:r>
          </a:p>
        </p:txBody>
      </p:sp>
      <p:grpSp>
        <p:nvGrpSpPr>
          <p:cNvPr name="Group 21" id="21"/>
          <p:cNvGrpSpPr/>
          <p:nvPr/>
        </p:nvGrpSpPr>
        <p:grpSpPr>
          <a:xfrm rot="0">
            <a:off x="10474095" y="5336833"/>
            <a:ext cx="6891816" cy="3132709"/>
            <a:chOff x="0" y="0"/>
            <a:chExt cx="1576700" cy="716697"/>
          </a:xfrm>
        </p:grpSpPr>
        <p:sp>
          <p:nvSpPr>
            <p:cNvPr name="Freeform 22" id="22"/>
            <p:cNvSpPr/>
            <p:nvPr/>
          </p:nvSpPr>
          <p:spPr>
            <a:xfrm flipH="false" flipV="false" rot="0">
              <a:off x="0" y="0"/>
              <a:ext cx="1576700" cy="716697"/>
            </a:xfrm>
            <a:custGeom>
              <a:avLst/>
              <a:gdLst/>
              <a:ahLst/>
              <a:cxnLst/>
              <a:rect r="r" b="b" t="t" l="l"/>
              <a:pathLst>
                <a:path h="716697" w="1576700">
                  <a:moveTo>
                    <a:pt x="40441" y="0"/>
                  </a:moveTo>
                  <a:lnTo>
                    <a:pt x="1536260" y="0"/>
                  </a:lnTo>
                  <a:cubicBezTo>
                    <a:pt x="1558594" y="0"/>
                    <a:pt x="1576700" y="18106"/>
                    <a:pt x="1576700" y="40441"/>
                  </a:cubicBezTo>
                  <a:lnTo>
                    <a:pt x="1576700" y="676256"/>
                  </a:lnTo>
                  <a:cubicBezTo>
                    <a:pt x="1576700" y="698591"/>
                    <a:pt x="1558594" y="716697"/>
                    <a:pt x="1536260" y="716697"/>
                  </a:cubicBezTo>
                  <a:lnTo>
                    <a:pt x="40441" y="716697"/>
                  </a:lnTo>
                  <a:cubicBezTo>
                    <a:pt x="18106" y="716697"/>
                    <a:pt x="0" y="698591"/>
                    <a:pt x="0" y="676256"/>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23" id="23"/>
            <p:cNvSpPr txBox="true"/>
            <p:nvPr/>
          </p:nvSpPr>
          <p:spPr>
            <a:xfrm>
              <a:off x="0" y="-28575"/>
              <a:ext cx="1576700" cy="745272"/>
            </a:xfrm>
            <a:prstGeom prst="rect">
              <a:avLst/>
            </a:prstGeom>
          </p:spPr>
          <p:txBody>
            <a:bodyPr anchor="ctr" rtlCol="false" tIns="50800" lIns="50800" bIns="50800" rIns="50800"/>
            <a:lstStyle/>
            <a:p>
              <a:pPr algn="ctr">
                <a:lnSpc>
                  <a:spcPts val="2520"/>
                </a:lnSpc>
              </a:pPr>
            </a:p>
          </p:txBody>
        </p:sp>
      </p:grpSp>
      <p:grpSp>
        <p:nvGrpSpPr>
          <p:cNvPr name="Group 24" id="24"/>
          <p:cNvGrpSpPr/>
          <p:nvPr/>
        </p:nvGrpSpPr>
        <p:grpSpPr>
          <a:xfrm rot="0">
            <a:off x="11599858" y="5143500"/>
            <a:ext cx="4640290" cy="497729"/>
            <a:chOff x="0" y="0"/>
            <a:chExt cx="1061599" cy="113870"/>
          </a:xfrm>
        </p:grpSpPr>
        <p:sp>
          <p:nvSpPr>
            <p:cNvPr name="Freeform 25" id="25"/>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26" id="26"/>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11949636" y="5057775"/>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Numériques</a:t>
            </a:r>
          </a:p>
        </p:txBody>
      </p:sp>
      <p:sp>
        <p:nvSpPr>
          <p:cNvPr name="TextBox 28" id="28"/>
          <p:cNvSpPr txBox="true"/>
          <p:nvPr/>
        </p:nvSpPr>
        <p:spPr>
          <a:xfrm rot="0">
            <a:off x="3253046" y="5735534"/>
            <a:ext cx="5788394" cy="206816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sex : sexe de l’individu </a:t>
            </a:r>
          </a:p>
          <a:p>
            <a:pPr algn="ctr">
              <a:lnSpc>
                <a:spcPts val="4131"/>
              </a:lnSpc>
            </a:pPr>
            <a:r>
              <a:rPr lang="en-US" b="true" sz="2951">
                <a:solidFill>
                  <a:srgbClr val="FFFFFF"/>
                </a:solidFill>
                <a:latin typeface="DM Sans Bold"/>
                <a:ea typeface="DM Sans Bold"/>
                <a:cs typeface="DM Sans Bold"/>
                <a:sym typeface="DM Sans Bold"/>
              </a:rPr>
              <a:t>smoker : statut de fumeur </a:t>
            </a:r>
          </a:p>
          <a:p>
            <a:pPr algn="ctr">
              <a:lnSpc>
                <a:spcPts val="4131"/>
              </a:lnSpc>
            </a:pPr>
            <a:r>
              <a:rPr lang="en-US" b="true" sz="2951">
                <a:solidFill>
                  <a:srgbClr val="FFFFFF"/>
                </a:solidFill>
                <a:latin typeface="DM Sans Bold"/>
                <a:ea typeface="DM Sans Bold"/>
                <a:cs typeface="DM Sans Bold"/>
                <a:sym typeface="DM Sans Bold"/>
              </a:rPr>
              <a:t>region : région géographique de résidence</a:t>
            </a:r>
          </a:p>
        </p:txBody>
      </p:sp>
      <p:sp>
        <p:nvSpPr>
          <p:cNvPr name="TextBox 29" id="29"/>
          <p:cNvSpPr txBox="true"/>
          <p:nvPr/>
        </p:nvSpPr>
        <p:spPr>
          <a:xfrm rot="0">
            <a:off x="8008902" y="8564792"/>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Poppins Semi-Bold"/>
                <a:ea typeface="Poppins Semi-Bold"/>
                <a:cs typeface="Poppins Semi-Bold"/>
                <a:sym typeface="Poppins Semi-Bold"/>
              </a:rPr>
              <a:t>Cible: ‘charges’</a:t>
            </a:r>
          </a:p>
        </p:txBody>
      </p:sp>
      <p:sp>
        <p:nvSpPr>
          <p:cNvPr name="TextBox 30" id="30"/>
          <p:cNvSpPr txBox="true"/>
          <p:nvPr/>
        </p:nvSpPr>
        <p:spPr>
          <a:xfrm rot="0">
            <a:off x="3827098" y="9164867"/>
            <a:ext cx="12539826" cy="542925"/>
          </a:xfrm>
          <a:prstGeom prst="rect">
            <a:avLst/>
          </a:prstGeom>
        </p:spPr>
        <p:txBody>
          <a:bodyPr anchor="t" rtlCol="false" tIns="0" lIns="0" bIns="0" rIns="0">
            <a:spAutoFit/>
          </a:bodyPr>
          <a:lstStyle/>
          <a:p>
            <a:pPr algn="ctr">
              <a:lnSpc>
                <a:spcPts val="4200"/>
              </a:lnSpc>
            </a:pPr>
            <a:r>
              <a:rPr lang="en-US" b="true" sz="3000">
                <a:solidFill>
                  <a:srgbClr val="FFFFFF"/>
                </a:solidFill>
                <a:latin typeface="Poppins Semi-Bold"/>
                <a:ea typeface="Poppins Semi-Bold"/>
                <a:cs typeface="Poppins Semi-Bold"/>
                <a:sym typeface="Poppins Semi-Bold"/>
              </a:rPr>
              <a:t>Variables explicatives: age, sex, bmi, children, smoker, region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48193" y="3086100"/>
            <a:ext cx="4027361" cy="4114800"/>
          </a:xfrm>
          <a:custGeom>
            <a:avLst/>
            <a:gdLst/>
            <a:ahLst/>
            <a:cxnLst/>
            <a:rect r="r" b="b" t="t" l="l"/>
            <a:pathLst>
              <a:path h="4114800" w="4027361">
                <a:moveTo>
                  <a:pt x="0" y="0"/>
                </a:moveTo>
                <a:lnTo>
                  <a:pt x="4027361" y="0"/>
                </a:lnTo>
                <a:lnTo>
                  <a:pt x="402736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880330"/>
            <a:ext cx="9471486" cy="3603683"/>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Analyse exploratoire des données</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767138" y="4570413"/>
            <a:ext cx="9559925"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Analyse exploratoire des données</a:t>
            </a:r>
          </a:p>
        </p:txBody>
      </p:sp>
      <p:grpSp>
        <p:nvGrpSpPr>
          <p:cNvPr name="Group 6" id="6"/>
          <p:cNvGrpSpPr/>
          <p:nvPr/>
        </p:nvGrpSpPr>
        <p:grpSpPr>
          <a:xfrm rot="0">
            <a:off x="3206589" y="1229970"/>
            <a:ext cx="14520861" cy="1576675"/>
            <a:chOff x="0" y="0"/>
            <a:chExt cx="3322063" cy="360710"/>
          </a:xfrm>
        </p:grpSpPr>
        <p:sp>
          <p:nvSpPr>
            <p:cNvPr name="Freeform 7" id="7"/>
            <p:cNvSpPr/>
            <p:nvPr/>
          </p:nvSpPr>
          <p:spPr>
            <a:xfrm flipH="false" flipV="false" rot="0">
              <a:off x="0" y="0"/>
              <a:ext cx="3322063" cy="360710"/>
            </a:xfrm>
            <a:custGeom>
              <a:avLst/>
              <a:gdLst/>
              <a:ahLst/>
              <a:cxnLst/>
              <a:rect r="r" b="b" t="t" l="l"/>
              <a:pathLst>
                <a:path h="360710" w="3322063">
                  <a:moveTo>
                    <a:pt x="19194" y="0"/>
                  </a:moveTo>
                  <a:lnTo>
                    <a:pt x="3302869" y="0"/>
                  </a:lnTo>
                  <a:cubicBezTo>
                    <a:pt x="3313470" y="0"/>
                    <a:pt x="3322063" y="8593"/>
                    <a:pt x="3322063" y="19194"/>
                  </a:cubicBezTo>
                  <a:lnTo>
                    <a:pt x="3322063" y="341516"/>
                  </a:lnTo>
                  <a:cubicBezTo>
                    <a:pt x="3322063" y="352116"/>
                    <a:pt x="3313470" y="360710"/>
                    <a:pt x="3302869" y="360710"/>
                  </a:cubicBezTo>
                  <a:lnTo>
                    <a:pt x="19194" y="360710"/>
                  </a:lnTo>
                  <a:cubicBezTo>
                    <a:pt x="8593" y="360710"/>
                    <a:pt x="0" y="352116"/>
                    <a:pt x="0" y="341516"/>
                  </a:cubicBezTo>
                  <a:lnTo>
                    <a:pt x="0" y="19194"/>
                  </a:lnTo>
                  <a:cubicBezTo>
                    <a:pt x="0" y="8593"/>
                    <a:pt x="8593" y="0"/>
                    <a:pt x="19194" y="0"/>
                  </a:cubicBezTo>
                  <a:close/>
                </a:path>
              </a:pathLst>
            </a:custGeom>
            <a:solidFill>
              <a:srgbClr val="000000">
                <a:alpha val="0"/>
              </a:srgbClr>
            </a:solidFill>
            <a:ln w="66675" cap="rnd">
              <a:solidFill>
                <a:srgbClr val="FFFFFF"/>
              </a:solidFill>
              <a:prstDash val="solid"/>
              <a:round/>
            </a:ln>
          </p:spPr>
        </p:sp>
        <p:sp>
          <p:nvSpPr>
            <p:cNvPr name="TextBox 8" id="8"/>
            <p:cNvSpPr txBox="true"/>
            <p:nvPr/>
          </p:nvSpPr>
          <p:spPr>
            <a:xfrm>
              <a:off x="0" y="-28575"/>
              <a:ext cx="3322063" cy="389285"/>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3753113" y="1028700"/>
            <a:ext cx="13472358" cy="540327"/>
            <a:chOff x="0" y="0"/>
            <a:chExt cx="3082188" cy="123615"/>
          </a:xfrm>
        </p:grpSpPr>
        <p:sp>
          <p:nvSpPr>
            <p:cNvPr name="Freeform 10" id="10"/>
            <p:cNvSpPr/>
            <p:nvPr/>
          </p:nvSpPr>
          <p:spPr>
            <a:xfrm flipH="false" flipV="false" rot="0">
              <a:off x="0" y="0"/>
              <a:ext cx="3082188" cy="123615"/>
            </a:xfrm>
            <a:custGeom>
              <a:avLst/>
              <a:gdLst/>
              <a:ahLst/>
              <a:cxnLst/>
              <a:rect r="r" b="b" t="t" l="l"/>
              <a:pathLst>
                <a:path h="123615" w="3082188">
                  <a:moveTo>
                    <a:pt x="57465" y="0"/>
                  </a:moveTo>
                  <a:lnTo>
                    <a:pt x="3024723" y="0"/>
                  </a:lnTo>
                  <a:cubicBezTo>
                    <a:pt x="3039963" y="0"/>
                    <a:pt x="3054580" y="6054"/>
                    <a:pt x="3065357" y="16831"/>
                  </a:cubicBezTo>
                  <a:cubicBezTo>
                    <a:pt x="3076134" y="27608"/>
                    <a:pt x="3082188" y="42224"/>
                    <a:pt x="3082188" y="57465"/>
                  </a:cubicBezTo>
                  <a:lnTo>
                    <a:pt x="3082188" y="66150"/>
                  </a:lnTo>
                  <a:cubicBezTo>
                    <a:pt x="3082188" y="81391"/>
                    <a:pt x="3076134" y="96007"/>
                    <a:pt x="3065357" y="106784"/>
                  </a:cubicBezTo>
                  <a:cubicBezTo>
                    <a:pt x="3054580" y="117561"/>
                    <a:pt x="3039963" y="123615"/>
                    <a:pt x="3024723" y="123615"/>
                  </a:cubicBezTo>
                  <a:lnTo>
                    <a:pt x="57465" y="123615"/>
                  </a:lnTo>
                  <a:cubicBezTo>
                    <a:pt x="42224" y="123615"/>
                    <a:pt x="27608" y="117561"/>
                    <a:pt x="16831" y="106784"/>
                  </a:cubicBezTo>
                  <a:cubicBezTo>
                    <a:pt x="6054" y="96007"/>
                    <a:pt x="0" y="81391"/>
                    <a:pt x="0" y="66150"/>
                  </a:cubicBezTo>
                  <a:lnTo>
                    <a:pt x="0" y="57465"/>
                  </a:lnTo>
                  <a:cubicBezTo>
                    <a:pt x="0" y="42224"/>
                    <a:pt x="6054" y="27608"/>
                    <a:pt x="16831" y="16831"/>
                  </a:cubicBezTo>
                  <a:cubicBezTo>
                    <a:pt x="27608" y="6054"/>
                    <a:pt x="42224" y="0"/>
                    <a:pt x="57465" y="0"/>
                  </a:cubicBezTo>
                  <a:close/>
                </a:path>
              </a:pathLst>
            </a:custGeom>
            <a:solidFill>
              <a:srgbClr val="FFFFFF"/>
            </a:solidFill>
          </p:spPr>
        </p:sp>
        <p:sp>
          <p:nvSpPr>
            <p:cNvPr name="TextBox 11" id="11"/>
            <p:cNvSpPr txBox="true"/>
            <p:nvPr/>
          </p:nvSpPr>
          <p:spPr>
            <a:xfrm>
              <a:off x="0" y="-28575"/>
              <a:ext cx="3082188" cy="152190"/>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false" flipV="false" rot="0">
            <a:off x="1028700" y="388018"/>
            <a:ext cx="1254135" cy="1281364"/>
          </a:xfrm>
          <a:custGeom>
            <a:avLst/>
            <a:gdLst/>
            <a:ahLst/>
            <a:cxnLst/>
            <a:rect r="r" b="b" t="t" l="l"/>
            <a:pathLst>
              <a:path h="1281364" w="1254135">
                <a:moveTo>
                  <a:pt x="0" y="0"/>
                </a:moveTo>
                <a:lnTo>
                  <a:pt x="1254135" y="0"/>
                </a:lnTo>
                <a:lnTo>
                  <a:pt x="1254135" y="1281364"/>
                </a:lnTo>
                <a:lnTo>
                  <a:pt x="0" y="128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6733970" y="5143500"/>
            <a:ext cx="7510645" cy="497729"/>
            <a:chOff x="0" y="0"/>
            <a:chExt cx="1718275" cy="113870"/>
          </a:xfrm>
        </p:grpSpPr>
        <p:sp>
          <p:nvSpPr>
            <p:cNvPr name="Freeform 14" id="14"/>
            <p:cNvSpPr/>
            <p:nvPr/>
          </p:nvSpPr>
          <p:spPr>
            <a:xfrm flipH="false" flipV="false" rot="0">
              <a:off x="0" y="0"/>
              <a:ext cx="1718275" cy="113870"/>
            </a:xfrm>
            <a:custGeom>
              <a:avLst/>
              <a:gdLst/>
              <a:ahLst/>
              <a:cxnLst/>
              <a:rect r="r" b="b" t="t" l="l"/>
              <a:pathLst>
                <a:path h="113870" w="1718275">
                  <a:moveTo>
                    <a:pt x="56935" y="0"/>
                  </a:moveTo>
                  <a:lnTo>
                    <a:pt x="1661340" y="0"/>
                  </a:lnTo>
                  <a:cubicBezTo>
                    <a:pt x="1676440" y="0"/>
                    <a:pt x="1690922" y="5998"/>
                    <a:pt x="1701599" y="16676"/>
                  </a:cubicBezTo>
                  <a:cubicBezTo>
                    <a:pt x="1712277" y="27353"/>
                    <a:pt x="1718275" y="41835"/>
                    <a:pt x="1718275" y="56935"/>
                  </a:cubicBezTo>
                  <a:lnTo>
                    <a:pt x="1718275" y="56935"/>
                  </a:lnTo>
                  <a:cubicBezTo>
                    <a:pt x="1718275" y="72035"/>
                    <a:pt x="1712277" y="86517"/>
                    <a:pt x="1701599" y="97194"/>
                  </a:cubicBezTo>
                  <a:cubicBezTo>
                    <a:pt x="1690922" y="107871"/>
                    <a:pt x="1676440" y="113870"/>
                    <a:pt x="1661340"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5" id="15"/>
            <p:cNvSpPr txBox="true"/>
            <p:nvPr/>
          </p:nvSpPr>
          <p:spPr>
            <a:xfrm>
              <a:off x="0" y="-28575"/>
              <a:ext cx="1718275" cy="142445"/>
            </a:xfrm>
            <a:prstGeom prst="rect">
              <a:avLst/>
            </a:prstGeom>
          </p:spPr>
          <p:txBody>
            <a:bodyPr anchor="ctr" rtlCol="false" tIns="50800" lIns="50800" bIns="50800" rIns="50800"/>
            <a:lstStyle/>
            <a:p>
              <a:pPr algn="ctr">
                <a:lnSpc>
                  <a:spcPts val="2520"/>
                </a:lnSpc>
              </a:pPr>
            </a:p>
          </p:txBody>
        </p:sp>
      </p:grpSp>
      <p:graphicFrame>
        <p:nvGraphicFramePr>
          <p:cNvPr name="Object 16" id="16"/>
          <p:cNvGraphicFramePr/>
          <p:nvPr/>
        </p:nvGraphicFramePr>
        <p:xfrm>
          <a:off x="3642717" y="5976050"/>
          <a:ext cx="11315700" cy="3143250"/>
        </p:xfrm>
        <a:graphic>
          <a:graphicData uri="http://schemas.openxmlformats.org/presentationml/2006/ole">
            <p:oleObj imgW="13576300" imgH="5410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7" id="17"/>
          <p:cNvSpPr txBox="true"/>
          <p:nvPr/>
        </p:nvSpPr>
        <p:spPr>
          <a:xfrm rot="0">
            <a:off x="4082019" y="984538"/>
            <a:ext cx="12770003"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Qualité des données</a:t>
            </a:r>
          </a:p>
        </p:txBody>
      </p:sp>
      <p:sp>
        <p:nvSpPr>
          <p:cNvPr name="TextBox 18" id="18"/>
          <p:cNvSpPr txBox="true"/>
          <p:nvPr/>
        </p:nvSpPr>
        <p:spPr>
          <a:xfrm rot="0">
            <a:off x="4082019" y="1521402"/>
            <a:ext cx="13143453" cy="1020411"/>
          </a:xfrm>
          <a:prstGeom prst="rect">
            <a:avLst/>
          </a:prstGeom>
        </p:spPr>
        <p:txBody>
          <a:bodyPr anchor="t" rtlCol="false" tIns="0" lIns="0" bIns="0" rIns="0">
            <a:spAutoFit/>
          </a:bodyPr>
          <a:lstStyle/>
          <a:p>
            <a:pPr algn="ctr">
              <a:lnSpc>
                <a:spcPts val="4131"/>
              </a:lnSpc>
            </a:pPr>
            <a:r>
              <a:rPr lang="en-US" sz="2951" b="true">
                <a:solidFill>
                  <a:srgbClr val="FFFFFF"/>
                </a:solidFill>
                <a:latin typeface="DM Sans Bold"/>
                <a:ea typeface="DM Sans Bold"/>
                <a:cs typeface="DM Sans Bold"/>
                <a:sym typeface="DM Sans Bold"/>
              </a:rPr>
              <a:t>Aucune donnée manquante</a:t>
            </a:r>
          </a:p>
          <a:p>
            <a:pPr algn="ctr">
              <a:lnSpc>
                <a:spcPts val="4131"/>
              </a:lnSpc>
            </a:pPr>
            <a:r>
              <a:rPr lang="en-US" b="true" sz="2951">
                <a:solidFill>
                  <a:srgbClr val="FFFFFF"/>
                </a:solidFill>
                <a:latin typeface="DM Sans Bold"/>
                <a:ea typeface="DM Sans Bold"/>
                <a:cs typeface="DM Sans Bold"/>
                <a:sym typeface="DM Sans Bold"/>
              </a:rPr>
              <a:t>Un seul doublon détecté et supprimé par précaution</a:t>
            </a:r>
          </a:p>
        </p:txBody>
      </p:sp>
      <p:sp>
        <p:nvSpPr>
          <p:cNvPr name="TextBox 19" id="19"/>
          <p:cNvSpPr txBox="true"/>
          <p:nvPr/>
        </p:nvSpPr>
        <p:spPr>
          <a:xfrm rot="0">
            <a:off x="6675664" y="5057775"/>
            <a:ext cx="762725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Variables numériques</a:t>
            </a:r>
          </a:p>
        </p:txBody>
      </p:sp>
      <p:sp>
        <p:nvSpPr>
          <p:cNvPr name="TextBox 20" id="20"/>
          <p:cNvSpPr txBox="true"/>
          <p:nvPr/>
        </p:nvSpPr>
        <p:spPr>
          <a:xfrm rot="0">
            <a:off x="7129917" y="3528985"/>
            <a:ext cx="6159243" cy="825500"/>
          </a:xfrm>
          <a:prstGeom prst="rect">
            <a:avLst/>
          </a:prstGeom>
        </p:spPr>
        <p:txBody>
          <a:bodyPr anchor="t" rtlCol="false" tIns="0" lIns="0" bIns="0" rIns="0">
            <a:spAutoFit/>
          </a:bodyPr>
          <a:lstStyle/>
          <a:p>
            <a:pPr algn="ctr">
              <a:lnSpc>
                <a:spcPts val="6250"/>
              </a:lnSpc>
            </a:pPr>
            <a:r>
              <a:rPr lang="en-US" b="true" sz="5000">
                <a:solidFill>
                  <a:srgbClr val="FFFFFF"/>
                </a:solidFill>
                <a:latin typeface="Poppins Bold"/>
                <a:ea typeface="Poppins Bold"/>
                <a:cs typeface="Poppins Bold"/>
                <a:sym typeface="Poppins Bold"/>
              </a:rPr>
              <a:t>Analyse univariée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660698" y="779835"/>
            <a:ext cx="7510645" cy="497729"/>
            <a:chOff x="0" y="0"/>
            <a:chExt cx="1718275" cy="113870"/>
          </a:xfrm>
        </p:grpSpPr>
        <p:sp>
          <p:nvSpPr>
            <p:cNvPr name="Freeform 3" id="3"/>
            <p:cNvSpPr/>
            <p:nvPr/>
          </p:nvSpPr>
          <p:spPr>
            <a:xfrm flipH="false" flipV="false" rot="0">
              <a:off x="0" y="0"/>
              <a:ext cx="1718275" cy="113870"/>
            </a:xfrm>
            <a:custGeom>
              <a:avLst/>
              <a:gdLst/>
              <a:ahLst/>
              <a:cxnLst/>
              <a:rect r="r" b="b" t="t" l="l"/>
              <a:pathLst>
                <a:path h="113870" w="1718275">
                  <a:moveTo>
                    <a:pt x="56935" y="0"/>
                  </a:moveTo>
                  <a:lnTo>
                    <a:pt x="1661340" y="0"/>
                  </a:lnTo>
                  <a:cubicBezTo>
                    <a:pt x="1676440" y="0"/>
                    <a:pt x="1690922" y="5998"/>
                    <a:pt x="1701599" y="16676"/>
                  </a:cubicBezTo>
                  <a:cubicBezTo>
                    <a:pt x="1712277" y="27353"/>
                    <a:pt x="1718275" y="41835"/>
                    <a:pt x="1718275" y="56935"/>
                  </a:cubicBezTo>
                  <a:lnTo>
                    <a:pt x="1718275" y="56935"/>
                  </a:lnTo>
                  <a:cubicBezTo>
                    <a:pt x="1718275" y="72035"/>
                    <a:pt x="1712277" y="86517"/>
                    <a:pt x="1701599" y="97194"/>
                  </a:cubicBezTo>
                  <a:cubicBezTo>
                    <a:pt x="1690922" y="107871"/>
                    <a:pt x="1676440" y="113870"/>
                    <a:pt x="1661340"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4" id="4"/>
            <p:cNvSpPr txBox="true"/>
            <p:nvPr/>
          </p:nvSpPr>
          <p:spPr>
            <a:xfrm>
              <a:off x="0" y="-28575"/>
              <a:ext cx="1718275" cy="142445"/>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331579" y="2651567"/>
            <a:ext cx="5617489" cy="4983866"/>
          </a:xfrm>
          <a:custGeom>
            <a:avLst/>
            <a:gdLst/>
            <a:ahLst/>
            <a:cxnLst/>
            <a:rect r="r" b="b" t="t" l="l"/>
            <a:pathLst>
              <a:path h="4983866" w="5617489">
                <a:moveTo>
                  <a:pt x="0" y="0"/>
                </a:moveTo>
                <a:lnTo>
                  <a:pt x="5617489" y="0"/>
                </a:lnTo>
                <a:lnTo>
                  <a:pt x="5617489" y="4983866"/>
                </a:lnTo>
                <a:lnTo>
                  <a:pt x="0" y="4983866"/>
                </a:lnTo>
                <a:lnTo>
                  <a:pt x="0" y="0"/>
                </a:lnTo>
                <a:close/>
              </a:path>
            </a:pathLst>
          </a:custGeom>
          <a:blipFill>
            <a:blip r:embed="rId2"/>
            <a:stretch>
              <a:fillRect l="0" t="0" r="0" b="0"/>
            </a:stretch>
          </a:blipFill>
        </p:spPr>
      </p:sp>
      <p:sp>
        <p:nvSpPr>
          <p:cNvPr name="Freeform 6" id="6"/>
          <p:cNvSpPr/>
          <p:nvPr/>
        </p:nvSpPr>
        <p:spPr>
          <a:xfrm flipH="false" flipV="false" rot="0">
            <a:off x="6406031" y="2651567"/>
            <a:ext cx="5523165" cy="4983866"/>
          </a:xfrm>
          <a:custGeom>
            <a:avLst/>
            <a:gdLst/>
            <a:ahLst/>
            <a:cxnLst/>
            <a:rect r="r" b="b" t="t" l="l"/>
            <a:pathLst>
              <a:path h="4983866" w="5523165">
                <a:moveTo>
                  <a:pt x="0" y="0"/>
                </a:moveTo>
                <a:lnTo>
                  <a:pt x="5523165" y="0"/>
                </a:lnTo>
                <a:lnTo>
                  <a:pt x="5523165" y="4983866"/>
                </a:lnTo>
                <a:lnTo>
                  <a:pt x="0" y="4983866"/>
                </a:lnTo>
                <a:lnTo>
                  <a:pt x="0" y="0"/>
                </a:lnTo>
                <a:close/>
              </a:path>
            </a:pathLst>
          </a:custGeom>
          <a:blipFill>
            <a:blip r:embed="rId3"/>
            <a:stretch>
              <a:fillRect l="0" t="0" r="0" b="0"/>
            </a:stretch>
          </a:blipFill>
        </p:spPr>
      </p:sp>
      <p:sp>
        <p:nvSpPr>
          <p:cNvPr name="Freeform 7" id="7"/>
          <p:cNvSpPr/>
          <p:nvPr/>
        </p:nvSpPr>
        <p:spPr>
          <a:xfrm flipH="false" flipV="false" rot="0">
            <a:off x="12386159" y="2640170"/>
            <a:ext cx="5570262" cy="5006660"/>
          </a:xfrm>
          <a:custGeom>
            <a:avLst/>
            <a:gdLst/>
            <a:ahLst/>
            <a:cxnLst/>
            <a:rect r="r" b="b" t="t" l="l"/>
            <a:pathLst>
              <a:path h="5006660" w="5570262">
                <a:moveTo>
                  <a:pt x="0" y="0"/>
                </a:moveTo>
                <a:lnTo>
                  <a:pt x="5570262" y="0"/>
                </a:lnTo>
                <a:lnTo>
                  <a:pt x="5570262" y="5006660"/>
                </a:lnTo>
                <a:lnTo>
                  <a:pt x="0" y="5006660"/>
                </a:lnTo>
                <a:lnTo>
                  <a:pt x="0" y="0"/>
                </a:lnTo>
                <a:close/>
              </a:path>
            </a:pathLst>
          </a:custGeom>
          <a:blipFill>
            <a:blip r:embed="rId4"/>
            <a:stretch>
              <a:fillRect l="0" t="0" r="0" b="0"/>
            </a:stretch>
          </a:blipFill>
        </p:spPr>
      </p:sp>
      <p:sp>
        <p:nvSpPr>
          <p:cNvPr name="TextBox 8" id="8"/>
          <p:cNvSpPr txBox="true"/>
          <p:nvPr/>
        </p:nvSpPr>
        <p:spPr>
          <a:xfrm rot="0">
            <a:off x="5602392" y="694110"/>
            <a:ext cx="762725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Variables numériques</a:t>
            </a:r>
          </a:p>
        </p:txBody>
      </p:sp>
      <p:sp>
        <p:nvSpPr>
          <p:cNvPr name="TextBox 9" id="9"/>
          <p:cNvSpPr txBox="true"/>
          <p:nvPr/>
        </p:nvSpPr>
        <p:spPr>
          <a:xfrm rot="0">
            <a:off x="1915603" y="1922620"/>
            <a:ext cx="2449441" cy="717550"/>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Poppins Semi-Bold"/>
                <a:ea typeface="Poppins Semi-Bold"/>
                <a:cs typeface="Poppins Semi-Bold"/>
                <a:sym typeface="Poppins Semi-Bold"/>
              </a:rPr>
              <a:t>bmi</a:t>
            </a:r>
          </a:p>
        </p:txBody>
      </p:sp>
      <p:sp>
        <p:nvSpPr>
          <p:cNvPr name="TextBox 10" id="10"/>
          <p:cNvSpPr txBox="true"/>
          <p:nvPr/>
        </p:nvSpPr>
        <p:spPr>
          <a:xfrm rot="0">
            <a:off x="7919279" y="1922620"/>
            <a:ext cx="2449441" cy="717550"/>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Poppins Semi-Bold"/>
                <a:ea typeface="Poppins Semi-Bold"/>
                <a:cs typeface="Poppins Semi-Bold"/>
                <a:sym typeface="Poppins Semi-Bold"/>
              </a:rPr>
              <a:t>children</a:t>
            </a:r>
          </a:p>
        </p:txBody>
      </p:sp>
      <p:sp>
        <p:nvSpPr>
          <p:cNvPr name="TextBox 11" id="11"/>
          <p:cNvSpPr txBox="true"/>
          <p:nvPr/>
        </p:nvSpPr>
        <p:spPr>
          <a:xfrm rot="0">
            <a:off x="13946569" y="1922620"/>
            <a:ext cx="2449441" cy="717550"/>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Poppins Semi-Bold"/>
                <a:ea typeface="Poppins Semi-Bold"/>
                <a:cs typeface="Poppins Semi-Bold"/>
                <a:sym typeface="Poppins Semi-Bold"/>
              </a:rPr>
              <a:t>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767138" y="4570413"/>
            <a:ext cx="9559925"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Analyse exploratoire des données</a:t>
            </a:r>
          </a:p>
        </p:txBody>
      </p:sp>
      <p:sp>
        <p:nvSpPr>
          <p:cNvPr name="Freeform 6" id="6"/>
          <p:cNvSpPr/>
          <p:nvPr/>
        </p:nvSpPr>
        <p:spPr>
          <a:xfrm flipH="false" flipV="false" rot="0">
            <a:off x="1028700" y="388018"/>
            <a:ext cx="1254135" cy="1281364"/>
          </a:xfrm>
          <a:custGeom>
            <a:avLst/>
            <a:gdLst/>
            <a:ahLst/>
            <a:cxnLst/>
            <a:rect r="r" b="b" t="t" l="l"/>
            <a:pathLst>
              <a:path h="1281364" w="1254135">
                <a:moveTo>
                  <a:pt x="0" y="0"/>
                </a:moveTo>
                <a:lnTo>
                  <a:pt x="1254135" y="0"/>
                </a:lnTo>
                <a:lnTo>
                  <a:pt x="1254135" y="1281364"/>
                </a:lnTo>
                <a:lnTo>
                  <a:pt x="0" y="128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869683" y="2648575"/>
            <a:ext cx="5877410" cy="5143500"/>
          </a:xfrm>
          <a:custGeom>
            <a:avLst/>
            <a:gdLst/>
            <a:ahLst/>
            <a:cxnLst/>
            <a:rect r="r" b="b" t="t" l="l"/>
            <a:pathLst>
              <a:path h="5143500" w="5877410">
                <a:moveTo>
                  <a:pt x="0" y="0"/>
                </a:moveTo>
                <a:lnTo>
                  <a:pt x="5877409" y="0"/>
                </a:lnTo>
                <a:lnTo>
                  <a:pt x="5877409" y="5143500"/>
                </a:lnTo>
                <a:lnTo>
                  <a:pt x="0" y="5143500"/>
                </a:lnTo>
                <a:lnTo>
                  <a:pt x="0" y="0"/>
                </a:lnTo>
                <a:close/>
              </a:path>
            </a:pathLst>
          </a:custGeom>
          <a:blipFill>
            <a:blip r:embed="rId4"/>
            <a:stretch>
              <a:fillRect l="-5941" t="0" r="-3034" b="-5657"/>
            </a:stretch>
          </a:blipFill>
        </p:spPr>
      </p:sp>
      <p:grpSp>
        <p:nvGrpSpPr>
          <p:cNvPr name="Group 8" id="8"/>
          <p:cNvGrpSpPr/>
          <p:nvPr/>
        </p:nvGrpSpPr>
        <p:grpSpPr>
          <a:xfrm rot="0">
            <a:off x="3415371" y="636883"/>
            <a:ext cx="13570876" cy="1639255"/>
            <a:chOff x="0" y="0"/>
            <a:chExt cx="3104727" cy="375027"/>
          </a:xfrm>
        </p:grpSpPr>
        <p:sp>
          <p:nvSpPr>
            <p:cNvPr name="Freeform 9" id="9"/>
            <p:cNvSpPr/>
            <p:nvPr/>
          </p:nvSpPr>
          <p:spPr>
            <a:xfrm flipH="false" flipV="false" rot="0">
              <a:off x="0" y="0"/>
              <a:ext cx="3104727" cy="375027"/>
            </a:xfrm>
            <a:custGeom>
              <a:avLst/>
              <a:gdLst/>
              <a:ahLst/>
              <a:cxnLst/>
              <a:rect r="r" b="b" t="t" l="l"/>
              <a:pathLst>
                <a:path h="375027" w="3104727">
                  <a:moveTo>
                    <a:pt x="20537" y="0"/>
                  </a:moveTo>
                  <a:lnTo>
                    <a:pt x="3084189" y="0"/>
                  </a:lnTo>
                  <a:cubicBezTo>
                    <a:pt x="3095532" y="0"/>
                    <a:pt x="3104727" y="9195"/>
                    <a:pt x="3104727" y="20537"/>
                  </a:cubicBezTo>
                  <a:lnTo>
                    <a:pt x="3104727" y="354489"/>
                  </a:lnTo>
                  <a:cubicBezTo>
                    <a:pt x="3104727" y="365832"/>
                    <a:pt x="3095532" y="375027"/>
                    <a:pt x="3084189" y="375027"/>
                  </a:cubicBezTo>
                  <a:lnTo>
                    <a:pt x="20537" y="375027"/>
                  </a:lnTo>
                  <a:cubicBezTo>
                    <a:pt x="15090" y="375027"/>
                    <a:pt x="9867" y="372863"/>
                    <a:pt x="6015" y="369011"/>
                  </a:cubicBezTo>
                  <a:cubicBezTo>
                    <a:pt x="2164" y="365160"/>
                    <a:pt x="0" y="359936"/>
                    <a:pt x="0" y="354489"/>
                  </a:cubicBezTo>
                  <a:lnTo>
                    <a:pt x="0" y="20537"/>
                  </a:lnTo>
                  <a:cubicBezTo>
                    <a:pt x="0" y="9195"/>
                    <a:pt x="9195" y="0"/>
                    <a:pt x="20537" y="0"/>
                  </a:cubicBezTo>
                  <a:close/>
                </a:path>
              </a:pathLst>
            </a:custGeom>
            <a:solidFill>
              <a:srgbClr val="000000">
                <a:alpha val="0"/>
              </a:srgbClr>
            </a:solidFill>
            <a:ln w="66675" cap="rnd">
              <a:solidFill>
                <a:srgbClr val="FFFFFF"/>
              </a:solidFill>
              <a:prstDash val="solid"/>
              <a:round/>
            </a:ln>
          </p:spPr>
        </p:sp>
        <p:sp>
          <p:nvSpPr>
            <p:cNvPr name="TextBox 10" id="10"/>
            <p:cNvSpPr txBox="true"/>
            <p:nvPr/>
          </p:nvSpPr>
          <p:spPr>
            <a:xfrm>
              <a:off x="0" y="-28575"/>
              <a:ext cx="3104727" cy="403602"/>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4387514" y="388018"/>
            <a:ext cx="11626590" cy="497729"/>
            <a:chOff x="0" y="0"/>
            <a:chExt cx="2659916" cy="113870"/>
          </a:xfrm>
        </p:grpSpPr>
        <p:sp>
          <p:nvSpPr>
            <p:cNvPr name="Freeform 12" id="12"/>
            <p:cNvSpPr/>
            <p:nvPr/>
          </p:nvSpPr>
          <p:spPr>
            <a:xfrm flipH="false" flipV="false" rot="0">
              <a:off x="0" y="0"/>
              <a:ext cx="2659916" cy="113870"/>
            </a:xfrm>
            <a:custGeom>
              <a:avLst/>
              <a:gdLst/>
              <a:ahLst/>
              <a:cxnLst/>
              <a:rect r="r" b="b" t="t" l="l"/>
              <a:pathLst>
                <a:path h="113870" w="2659916">
                  <a:moveTo>
                    <a:pt x="56935" y="0"/>
                  </a:moveTo>
                  <a:lnTo>
                    <a:pt x="2602981" y="0"/>
                  </a:lnTo>
                  <a:cubicBezTo>
                    <a:pt x="2618081" y="0"/>
                    <a:pt x="2632562" y="5998"/>
                    <a:pt x="2643240" y="16676"/>
                  </a:cubicBezTo>
                  <a:cubicBezTo>
                    <a:pt x="2653917" y="27353"/>
                    <a:pt x="2659916" y="41835"/>
                    <a:pt x="2659916" y="56935"/>
                  </a:cubicBezTo>
                  <a:lnTo>
                    <a:pt x="2659916" y="56935"/>
                  </a:lnTo>
                  <a:cubicBezTo>
                    <a:pt x="2659916" y="72035"/>
                    <a:pt x="2653917" y="86517"/>
                    <a:pt x="2643240" y="97194"/>
                  </a:cubicBezTo>
                  <a:cubicBezTo>
                    <a:pt x="2632562" y="107871"/>
                    <a:pt x="2618081" y="113870"/>
                    <a:pt x="2602981"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3" id="13"/>
            <p:cNvSpPr txBox="true"/>
            <p:nvPr/>
          </p:nvSpPr>
          <p:spPr>
            <a:xfrm>
              <a:off x="0" y="-28575"/>
              <a:ext cx="2659916" cy="142445"/>
            </a:xfrm>
            <a:prstGeom prst="rect">
              <a:avLst/>
            </a:prstGeom>
          </p:spPr>
          <p:txBody>
            <a:bodyPr anchor="ctr" rtlCol="false" tIns="50800" lIns="50800" bIns="50800" rIns="50800"/>
            <a:lstStyle/>
            <a:p>
              <a:pPr algn="ctr">
                <a:lnSpc>
                  <a:spcPts val="2520"/>
                </a:lnSpc>
              </a:pPr>
            </a:p>
          </p:txBody>
        </p:sp>
      </p:grpSp>
      <p:sp>
        <p:nvSpPr>
          <p:cNvPr name="Freeform 14" id="14"/>
          <p:cNvSpPr/>
          <p:nvPr/>
        </p:nvSpPr>
        <p:spPr>
          <a:xfrm flipH="false" flipV="false" rot="0">
            <a:off x="3688424" y="2648575"/>
            <a:ext cx="5650909" cy="5143500"/>
          </a:xfrm>
          <a:custGeom>
            <a:avLst/>
            <a:gdLst/>
            <a:ahLst/>
            <a:cxnLst/>
            <a:rect r="r" b="b" t="t" l="l"/>
            <a:pathLst>
              <a:path h="5143500" w="5650909">
                <a:moveTo>
                  <a:pt x="0" y="0"/>
                </a:moveTo>
                <a:lnTo>
                  <a:pt x="5650909" y="0"/>
                </a:lnTo>
                <a:lnTo>
                  <a:pt x="5650909" y="5143500"/>
                </a:lnTo>
                <a:lnTo>
                  <a:pt x="0" y="5143500"/>
                </a:lnTo>
                <a:lnTo>
                  <a:pt x="0" y="0"/>
                </a:lnTo>
                <a:close/>
              </a:path>
            </a:pathLst>
          </a:custGeom>
          <a:blipFill>
            <a:blip r:embed="rId5"/>
            <a:stretch>
              <a:fillRect l="0" t="-5624" r="0" b="-5713"/>
            </a:stretch>
          </a:blipFill>
        </p:spPr>
      </p:sp>
      <p:sp>
        <p:nvSpPr>
          <p:cNvPr name="TextBox 15" id="15"/>
          <p:cNvSpPr txBox="true"/>
          <p:nvPr/>
        </p:nvSpPr>
        <p:spPr>
          <a:xfrm rot="0">
            <a:off x="4297256" y="302293"/>
            <a:ext cx="1180710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Variable cible</a:t>
            </a:r>
          </a:p>
        </p:txBody>
      </p:sp>
      <p:sp>
        <p:nvSpPr>
          <p:cNvPr name="TextBox 16" id="16"/>
          <p:cNvSpPr txBox="true"/>
          <p:nvPr/>
        </p:nvSpPr>
        <p:spPr>
          <a:xfrm rot="0">
            <a:off x="3337641" y="981075"/>
            <a:ext cx="13726337" cy="102041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Skweness=1.514. Distribution asymétrique étalée à droite, f</a:t>
            </a:r>
            <a:r>
              <a:rPr lang="en-US" b="true" sz="2951">
                <a:solidFill>
                  <a:srgbClr val="FFFFFF"/>
                </a:solidFill>
                <a:latin typeface="DM Sans Bold"/>
                <a:ea typeface="DM Sans Bold"/>
                <a:cs typeface="DM Sans Bold"/>
                <a:sym typeface="DM Sans Bold"/>
              </a:rPr>
              <a:t>orte dispersion</a:t>
            </a:r>
          </a:p>
          <a:p>
            <a:pPr algn="ctr">
              <a:lnSpc>
                <a:spcPts val="4131"/>
              </a:lnSpc>
            </a:pPr>
            <a:r>
              <a:rPr lang="en-US" b="true" sz="2951">
                <a:solidFill>
                  <a:srgbClr val="FFFFFF"/>
                </a:solidFill>
                <a:latin typeface="DM Sans Bold"/>
                <a:ea typeface="DM Sans Bold"/>
                <a:cs typeface="DM Sans Bold"/>
                <a:sym typeface="DM Sans Bold"/>
              </a:rPr>
              <a:t>Concentration de valeurs faibles, quelques coûts très élevés</a:t>
            </a:r>
          </a:p>
        </p:txBody>
      </p:sp>
      <p:grpSp>
        <p:nvGrpSpPr>
          <p:cNvPr name="Group 17" id="17"/>
          <p:cNvGrpSpPr/>
          <p:nvPr/>
        </p:nvGrpSpPr>
        <p:grpSpPr>
          <a:xfrm rot="0">
            <a:off x="4814898" y="7973050"/>
            <a:ext cx="10771821" cy="583454"/>
            <a:chOff x="0" y="0"/>
            <a:chExt cx="2464363" cy="133482"/>
          </a:xfrm>
        </p:grpSpPr>
        <p:sp>
          <p:nvSpPr>
            <p:cNvPr name="Freeform 18" id="18"/>
            <p:cNvSpPr/>
            <p:nvPr/>
          </p:nvSpPr>
          <p:spPr>
            <a:xfrm flipH="false" flipV="false" rot="0">
              <a:off x="0" y="0"/>
              <a:ext cx="2464363" cy="133482"/>
            </a:xfrm>
            <a:custGeom>
              <a:avLst/>
              <a:gdLst/>
              <a:ahLst/>
              <a:cxnLst/>
              <a:rect r="r" b="b" t="t" l="l"/>
              <a:pathLst>
                <a:path h="133482" w="2464363">
                  <a:moveTo>
                    <a:pt x="66741" y="0"/>
                  </a:moveTo>
                  <a:lnTo>
                    <a:pt x="2397622" y="0"/>
                  </a:lnTo>
                  <a:cubicBezTo>
                    <a:pt x="2415323" y="0"/>
                    <a:pt x="2432299" y="7032"/>
                    <a:pt x="2444815" y="19548"/>
                  </a:cubicBezTo>
                  <a:cubicBezTo>
                    <a:pt x="2457331" y="32064"/>
                    <a:pt x="2464363" y="49040"/>
                    <a:pt x="2464363" y="66741"/>
                  </a:cubicBezTo>
                  <a:lnTo>
                    <a:pt x="2464363" y="66741"/>
                  </a:lnTo>
                  <a:cubicBezTo>
                    <a:pt x="2464363" y="103601"/>
                    <a:pt x="2434482" y="133482"/>
                    <a:pt x="2397622" y="133482"/>
                  </a:cubicBezTo>
                  <a:lnTo>
                    <a:pt x="66741" y="133482"/>
                  </a:lnTo>
                  <a:cubicBezTo>
                    <a:pt x="49040" y="133482"/>
                    <a:pt x="32064" y="126450"/>
                    <a:pt x="19548" y="113934"/>
                  </a:cubicBezTo>
                  <a:cubicBezTo>
                    <a:pt x="7032" y="101418"/>
                    <a:pt x="0" y="84442"/>
                    <a:pt x="0" y="66741"/>
                  </a:cubicBezTo>
                  <a:lnTo>
                    <a:pt x="0" y="66741"/>
                  </a:lnTo>
                  <a:cubicBezTo>
                    <a:pt x="0" y="49040"/>
                    <a:pt x="7032" y="32064"/>
                    <a:pt x="19548" y="19548"/>
                  </a:cubicBezTo>
                  <a:cubicBezTo>
                    <a:pt x="32064" y="7032"/>
                    <a:pt x="49040" y="0"/>
                    <a:pt x="66741" y="0"/>
                  </a:cubicBezTo>
                  <a:close/>
                </a:path>
              </a:pathLst>
            </a:custGeom>
            <a:solidFill>
              <a:srgbClr val="FFFFFF"/>
            </a:solidFill>
          </p:spPr>
        </p:sp>
        <p:sp>
          <p:nvSpPr>
            <p:cNvPr name="TextBox 19" id="19"/>
            <p:cNvSpPr txBox="true"/>
            <p:nvPr/>
          </p:nvSpPr>
          <p:spPr>
            <a:xfrm>
              <a:off x="0" y="-28575"/>
              <a:ext cx="2464363" cy="162057"/>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5828765" y="7955258"/>
            <a:ext cx="8744089" cy="533314"/>
          </a:xfrm>
          <a:prstGeom prst="rect">
            <a:avLst/>
          </a:prstGeom>
        </p:spPr>
        <p:txBody>
          <a:bodyPr anchor="t" rtlCol="false" tIns="0" lIns="0" bIns="0" rIns="0">
            <a:spAutoFit/>
          </a:bodyPr>
          <a:lstStyle/>
          <a:p>
            <a:pPr algn="ctr">
              <a:lnSpc>
                <a:spcPts val="4111"/>
              </a:lnSpc>
              <a:spcBef>
                <a:spcPct val="0"/>
              </a:spcBef>
            </a:pPr>
            <a:r>
              <a:rPr lang="en-US" b="true" sz="2936">
                <a:solidFill>
                  <a:srgbClr val="010B40"/>
                </a:solidFill>
                <a:latin typeface="Poppins Semi-Bold"/>
                <a:ea typeface="Poppins Semi-Bold"/>
                <a:cs typeface="Poppins Semi-Bold"/>
                <a:sym typeface="Poppins Semi-Bold"/>
              </a:rPr>
              <a:t>Transformation logarithmique: logCharges</a:t>
            </a:r>
          </a:p>
        </p:txBody>
      </p:sp>
      <p:sp>
        <p:nvSpPr>
          <p:cNvPr name="TextBox 21" id="21"/>
          <p:cNvSpPr txBox="true"/>
          <p:nvPr/>
        </p:nvSpPr>
        <p:spPr>
          <a:xfrm rot="0">
            <a:off x="4577601" y="8979152"/>
            <a:ext cx="11246416" cy="102041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Réduction de l’asymétrie et s</a:t>
            </a:r>
            <a:r>
              <a:rPr lang="en-US" b="true" sz="2951">
                <a:solidFill>
                  <a:srgbClr val="FFFFFF"/>
                </a:solidFill>
                <a:latin typeface="DM Sans Bold"/>
                <a:ea typeface="DM Sans Bold"/>
                <a:cs typeface="DM Sans Bold"/>
                <a:sym typeface="DM Sans Bold"/>
              </a:rPr>
              <a:t>tabilisation de la variance pour une amélioration potentielle des performances des modèles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767138" y="4570413"/>
            <a:ext cx="9559925"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Analyse exploratoire des données</a:t>
            </a:r>
          </a:p>
        </p:txBody>
      </p:sp>
      <p:sp>
        <p:nvSpPr>
          <p:cNvPr name="Freeform 6" id="6"/>
          <p:cNvSpPr/>
          <p:nvPr/>
        </p:nvSpPr>
        <p:spPr>
          <a:xfrm flipH="false" flipV="false" rot="0">
            <a:off x="1028700" y="388018"/>
            <a:ext cx="1254135" cy="1281364"/>
          </a:xfrm>
          <a:custGeom>
            <a:avLst/>
            <a:gdLst/>
            <a:ahLst/>
            <a:cxnLst/>
            <a:rect r="r" b="b" t="t" l="l"/>
            <a:pathLst>
              <a:path h="1281364" w="1254135">
                <a:moveTo>
                  <a:pt x="0" y="0"/>
                </a:moveTo>
                <a:lnTo>
                  <a:pt x="1254135" y="0"/>
                </a:lnTo>
                <a:lnTo>
                  <a:pt x="1254135" y="1281364"/>
                </a:lnTo>
                <a:lnTo>
                  <a:pt x="0" y="128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5660698" y="779835"/>
            <a:ext cx="7510645" cy="497729"/>
            <a:chOff x="0" y="0"/>
            <a:chExt cx="1718275" cy="113870"/>
          </a:xfrm>
        </p:grpSpPr>
        <p:sp>
          <p:nvSpPr>
            <p:cNvPr name="Freeform 8" id="8"/>
            <p:cNvSpPr/>
            <p:nvPr/>
          </p:nvSpPr>
          <p:spPr>
            <a:xfrm flipH="false" flipV="false" rot="0">
              <a:off x="0" y="0"/>
              <a:ext cx="1718275" cy="113870"/>
            </a:xfrm>
            <a:custGeom>
              <a:avLst/>
              <a:gdLst/>
              <a:ahLst/>
              <a:cxnLst/>
              <a:rect r="r" b="b" t="t" l="l"/>
              <a:pathLst>
                <a:path h="113870" w="1718275">
                  <a:moveTo>
                    <a:pt x="56935" y="0"/>
                  </a:moveTo>
                  <a:lnTo>
                    <a:pt x="1661340" y="0"/>
                  </a:lnTo>
                  <a:cubicBezTo>
                    <a:pt x="1676440" y="0"/>
                    <a:pt x="1690922" y="5998"/>
                    <a:pt x="1701599" y="16676"/>
                  </a:cubicBezTo>
                  <a:cubicBezTo>
                    <a:pt x="1712277" y="27353"/>
                    <a:pt x="1718275" y="41835"/>
                    <a:pt x="1718275" y="56935"/>
                  </a:cubicBezTo>
                  <a:lnTo>
                    <a:pt x="1718275" y="56935"/>
                  </a:lnTo>
                  <a:cubicBezTo>
                    <a:pt x="1718275" y="72035"/>
                    <a:pt x="1712277" y="86517"/>
                    <a:pt x="1701599" y="97194"/>
                  </a:cubicBezTo>
                  <a:cubicBezTo>
                    <a:pt x="1690922" y="107871"/>
                    <a:pt x="1676440" y="113870"/>
                    <a:pt x="1661340"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9" id="9"/>
            <p:cNvSpPr txBox="true"/>
            <p:nvPr/>
          </p:nvSpPr>
          <p:spPr>
            <a:xfrm>
              <a:off x="0" y="-28575"/>
              <a:ext cx="1718275" cy="142445"/>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4157246" y="2007524"/>
            <a:ext cx="1628172" cy="679450"/>
          </a:xfrm>
          <a:prstGeom prst="rect">
            <a:avLst/>
          </a:prstGeom>
        </p:spPr>
        <p:txBody>
          <a:bodyPr anchor="t" rtlCol="false" tIns="0" lIns="0" bIns="0" rIns="0">
            <a:spAutoFit/>
          </a:bodyPr>
          <a:lstStyle/>
          <a:p>
            <a:pPr algn="ctr">
              <a:lnSpc>
                <a:spcPts val="5599"/>
              </a:lnSpc>
            </a:pPr>
            <a:r>
              <a:rPr lang="en-US" b="true" sz="3999">
                <a:solidFill>
                  <a:srgbClr val="FFFFFF"/>
                </a:solidFill>
                <a:latin typeface="DM Sans Bold"/>
                <a:ea typeface="DM Sans Bold"/>
                <a:cs typeface="DM Sans Bold"/>
                <a:sym typeface="DM Sans Bold"/>
              </a:rPr>
              <a:t>sex</a:t>
            </a:r>
          </a:p>
        </p:txBody>
      </p:sp>
      <p:sp>
        <p:nvSpPr>
          <p:cNvPr name="TextBox 11" id="11"/>
          <p:cNvSpPr txBox="true"/>
          <p:nvPr/>
        </p:nvSpPr>
        <p:spPr>
          <a:xfrm rot="0">
            <a:off x="5602392" y="694110"/>
            <a:ext cx="7627256"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Variables catégorielles</a:t>
            </a:r>
          </a:p>
        </p:txBody>
      </p:sp>
      <p:grpSp>
        <p:nvGrpSpPr>
          <p:cNvPr name="Group 12" id="12"/>
          <p:cNvGrpSpPr/>
          <p:nvPr/>
        </p:nvGrpSpPr>
        <p:grpSpPr>
          <a:xfrm rot="0">
            <a:off x="2434635" y="2920735"/>
            <a:ext cx="5073394" cy="5187574"/>
            <a:chOff x="0" y="0"/>
            <a:chExt cx="6764526" cy="6916765"/>
          </a:xfrm>
        </p:grpSpPr>
        <p:sp>
          <p:nvSpPr>
            <p:cNvPr name="Freeform 13" id="13"/>
            <p:cNvSpPr/>
            <p:nvPr/>
          </p:nvSpPr>
          <p:spPr>
            <a:xfrm flipH="false" flipV="false" rot="0">
              <a:off x="0" y="0"/>
              <a:ext cx="6764526" cy="6916765"/>
            </a:xfrm>
            <a:custGeom>
              <a:avLst/>
              <a:gdLst/>
              <a:ahLst/>
              <a:cxnLst/>
              <a:rect r="r" b="b" t="t" l="l"/>
              <a:pathLst>
                <a:path h="6916765" w="6764526">
                  <a:moveTo>
                    <a:pt x="0" y="0"/>
                  </a:moveTo>
                  <a:lnTo>
                    <a:pt x="6764526" y="0"/>
                  </a:lnTo>
                  <a:lnTo>
                    <a:pt x="6764526" y="6916765"/>
                  </a:lnTo>
                  <a:lnTo>
                    <a:pt x="0" y="6916765"/>
                  </a:lnTo>
                  <a:lnTo>
                    <a:pt x="0" y="0"/>
                  </a:lnTo>
                  <a:close/>
                </a:path>
              </a:pathLst>
            </a:custGeom>
            <a:blipFill>
              <a:blip r:embed="rId4"/>
              <a:stretch>
                <a:fillRect l="-23239" t="-4911" r="-17776" b="-4911"/>
              </a:stretch>
            </a:blipFill>
          </p:spPr>
        </p:sp>
        <p:sp>
          <p:nvSpPr>
            <p:cNvPr name="TextBox 14" id="14"/>
            <p:cNvSpPr txBox="true"/>
            <p:nvPr/>
          </p:nvSpPr>
          <p:spPr>
            <a:xfrm rot="0">
              <a:off x="1179995" y="1829943"/>
              <a:ext cx="1746250"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female</a:t>
              </a:r>
            </a:p>
          </p:txBody>
        </p:sp>
        <p:sp>
          <p:nvSpPr>
            <p:cNvPr name="TextBox 15" id="15"/>
            <p:cNvSpPr txBox="true"/>
            <p:nvPr/>
          </p:nvSpPr>
          <p:spPr>
            <a:xfrm rot="0">
              <a:off x="4338803" y="4418635"/>
              <a:ext cx="1746250"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male</a:t>
              </a:r>
            </a:p>
          </p:txBody>
        </p:sp>
      </p:grpSp>
      <p:grpSp>
        <p:nvGrpSpPr>
          <p:cNvPr name="Group 16" id="16"/>
          <p:cNvGrpSpPr/>
          <p:nvPr/>
        </p:nvGrpSpPr>
        <p:grpSpPr>
          <a:xfrm rot="0">
            <a:off x="7661179" y="2911861"/>
            <a:ext cx="5182696" cy="5190352"/>
            <a:chOff x="0" y="0"/>
            <a:chExt cx="6910261" cy="6920470"/>
          </a:xfrm>
        </p:grpSpPr>
        <p:sp>
          <p:nvSpPr>
            <p:cNvPr name="Freeform 17" id="17"/>
            <p:cNvSpPr/>
            <p:nvPr/>
          </p:nvSpPr>
          <p:spPr>
            <a:xfrm flipH="false" flipV="false" rot="0">
              <a:off x="0" y="0"/>
              <a:ext cx="6910261" cy="6920470"/>
            </a:xfrm>
            <a:custGeom>
              <a:avLst/>
              <a:gdLst/>
              <a:ahLst/>
              <a:cxnLst/>
              <a:rect r="r" b="b" t="t" l="l"/>
              <a:pathLst>
                <a:path h="6920470" w="6910261">
                  <a:moveTo>
                    <a:pt x="0" y="0"/>
                  </a:moveTo>
                  <a:lnTo>
                    <a:pt x="6910261" y="0"/>
                  </a:lnTo>
                  <a:lnTo>
                    <a:pt x="6910261" y="6920470"/>
                  </a:lnTo>
                  <a:lnTo>
                    <a:pt x="0" y="6920470"/>
                  </a:lnTo>
                  <a:lnTo>
                    <a:pt x="0" y="0"/>
                  </a:lnTo>
                  <a:close/>
                </a:path>
              </a:pathLst>
            </a:custGeom>
            <a:blipFill>
              <a:blip r:embed="rId5"/>
              <a:stretch>
                <a:fillRect l="0" t="-5287" r="0" b="-4295"/>
              </a:stretch>
            </a:blipFill>
          </p:spPr>
        </p:sp>
        <p:sp>
          <p:nvSpPr>
            <p:cNvPr name="TextBox 18" id="18"/>
            <p:cNvSpPr txBox="true"/>
            <p:nvPr/>
          </p:nvSpPr>
          <p:spPr>
            <a:xfrm rot="0">
              <a:off x="1466663" y="769383"/>
              <a:ext cx="1746250"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yes</a:t>
              </a:r>
            </a:p>
          </p:txBody>
        </p:sp>
        <p:sp>
          <p:nvSpPr>
            <p:cNvPr name="TextBox 19" id="19"/>
            <p:cNvSpPr txBox="true"/>
            <p:nvPr/>
          </p:nvSpPr>
          <p:spPr>
            <a:xfrm rot="0">
              <a:off x="4106840" y="3422589"/>
              <a:ext cx="1746250"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no</a:t>
              </a:r>
            </a:p>
          </p:txBody>
        </p:sp>
      </p:grpSp>
      <p:grpSp>
        <p:nvGrpSpPr>
          <p:cNvPr name="Group 20" id="20"/>
          <p:cNvGrpSpPr/>
          <p:nvPr/>
        </p:nvGrpSpPr>
        <p:grpSpPr>
          <a:xfrm rot="0">
            <a:off x="12996275" y="2878073"/>
            <a:ext cx="5291725" cy="5257928"/>
            <a:chOff x="0" y="0"/>
            <a:chExt cx="7055634" cy="7010571"/>
          </a:xfrm>
        </p:grpSpPr>
        <p:sp>
          <p:nvSpPr>
            <p:cNvPr name="Freeform 21" id="21"/>
            <p:cNvSpPr/>
            <p:nvPr/>
          </p:nvSpPr>
          <p:spPr>
            <a:xfrm flipH="false" flipV="false" rot="0">
              <a:off x="0" y="0"/>
              <a:ext cx="7055634" cy="7010571"/>
            </a:xfrm>
            <a:custGeom>
              <a:avLst/>
              <a:gdLst/>
              <a:ahLst/>
              <a:cxnLst/>
              <a:rect r="r" b="b" t="t" l="l"/>
              <a:pathLst>
                <a:path h="7010571" w="7055634">
                  <a:moveTo>
                    <a:pt x="0" y="0"/>
                  </a:moveTo>
                  <a:lnTo>
                    <a:pt x="7055634" y="0"/>
                  </a:lnTo>
                  <a:lnTo>
                    <a:pt x="7055634" y="7010571"/>
                  </a:lnTo>
                  <a:lnTo>
                    <a:pt x="0" y="7010571"/>
                  </a:lnTo>
                  <a:lnTo>
                    <a:pt x="0" y="0"/>
                  </a:lnTo>
                  <a:close/>
                </a:path>
              </a:pathLst>
            </a:custGeom>
            <a:blipFill>
              <a:blip r:embed="rId6"/>
              <a:stretch>
                <a:fillRect l="-18358" t="0" r="-16183" b="0"/>
              </a:stretch>
            </a:blipFill>
          </p:spPr>
        </p:sp>
        <p:sp>
          <p:nvSpPr>
            <p:cNvPr name="TextBox 22" id="22"/>
            <p:cNvSpPr txBox="true"/>
            <p:nvPr/>
          </p:nvSpPr>
          <p:spPr>
            <a:xfrm rot="0">
              <a:off x="3442744" y="2859112"/>
              <a:ext cx="2551273"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southeast</a:t>
              </a:r>
            </a:p>
          </p:txBody>
        </p:sp>
        <p:sp>
          <p:nvSpPr>
            <p:cNvPr name="TextBox 23" id="23"/>
            <p:cNvSpPr txBox="true"/>
            <p:nvPr/>
          </p:nvSpPr>
          <p:spPr>
            <a:xfrm rot="0">
              <a:off x="3442744" y="4475517"/>
              <a:ext cx="2807866"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southwest</a:t>
              </a:r>
            </a:p>
          </p:txBody>
        </p:sp>
        <p:sp>
          <p:nvSpPr>
            <p:cNvPr name="TextBox 24" id="24"/>
            <p:cNvSpPr txBox="true"/>
            <p:nvPr/>
          </p:nvSpPr>
          <p:spPr>
            <a:xfrm rot="0">
              <a:off x="233423" y="4066188"/>
              <a:ext cx="2777521"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northwest</a:t>
              </a:r>
            </a:p>
          </p:txBody>
        </p:sp>
        <p:sp>
          <p:nvSpPr>
            <p:cNvPr name="TextBox 25" id="25"/>
            <p:cNvSpPr txBox="true"/>
            <p:nvPr/>
          </p:nvSpPr>
          <p:spPr>
            <a:xfrm rot="0">
              <a:off x="444500" y="2569817"/>
              <a:ext cx="2425684" cy="646173"/>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northeast</a:t>
              </a:r>
            </a:p>
          </p:txBody>
        </p:sp>
      </p:grpSp>
      <p:sp>
        <p:nvSpPr>
          <p:cNvPr name="TextBox 26" id="26"/>
          <p:cNvSpPr txBox="true"/>
          <p:nvPr/>
        </p:nvSpPr>
        <p:spPr>
          <a:xfrm rot="0">
            <a:off x="14828051" y="2007524"/>
            <a:ext cx="1628172" cy="679450"/>
          </a:xfrm>
          <a:prstGeom prst="rect">
            <a:avLst/>
          </a:prstGeom>
        </p:spPr>
        <p:txBody>
          <a:bodyPr anchor="t" rtlCol="false" tIns="0" lIns="0" bIns="0" rIns="0">
            <a:spAutoFit/>
          </a:bodyPr>
          <a:lstStyle/>
          <a:p>
            <a:pPr algn="ctr">
              <a:lnSpc>
                <a:spcPts val="5599"/>
              </a:lnSpc>
            </a:pPr>
            <a:r>
              <a:rPr lang="en-US" b="true" sz="3999">
                <a:solidFill>
                  <a:srgbClr val="FFFFFF"/>
                </a:solidFill>
                <a:latin typeface="DM Sans Bold"/>
                <a:ea typeface="DM Sans Bold"/>
                <a:cs typeface="DM Sans Bold"/>
                <a:sym typeface="DM Sans Bold"/>
              </a:rPr>
              <a:t>region</a:t>
            </a:r>
          </a:p>
        </p:txBody>
      </p:sp>
      <p:sp>
        <p:nvSpPr>
          <p:cNvPr name="TextBox 27" id="27"/>
          <p:cNvSpPr txBox="true"/>
          <p:nvPr/>
        </p:nvSpPr>
        <p:spPr>
          <a:xfrm rot="0">
            <a:off x="9279198" y="2007524"/>
            <a:ext cx="1946657" cy="679450"/>
          </a:xfrm>
          <a:prstGeom prst="rect">
            <a:avLst/>
          </a:prstGeom>
        </p:spPr>
        <p:txBody>
          <a:bodyPr anchor="t" rtlCol="false" tIns="0" lIns="0" bIns="0" rIns="0">
            <a:spAutoFit/>
          </a:bodyPr>
          <a:lstStyle/>
          <a:p>
            <a:pPr algn="ctr">
              <a:lnSpc>
                <a:spcPts val="5599"/>
              </a:lnSpc>
            </a:pPr>
            <a:r>
              <a:rPr lang="en-US" b="true" sz="3999">
                <a:solidFill>
                  <a:srgbClr val="FFFFFF"/>
                </a:solidFill>
                <a:latin typeface="DM Sans Bold"/>
                <a:ea typeface="DM Sans Bold"/>
                <a:cs typeface="DM Sans Bold"/>
                <a:sym typeface="DM Sans Bold"/>
              </a:rPr>
              <a:t>smoker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767138" y="4570413"/>
            <a:ext cx="9559925"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Analyse exploratoire des données</a:t>
            </a:r>
          </a:p>
        </p:txBody>
      </p:sp>
      <p:sp>
        <p:nvSpPr>
          <p:cNvPr name="Freeform 6" id="6"/>
          <p:cNvSpPr/>
          <p:nvPr/>
        </p:nvSpPr>
        <p:spPr>
          <a:xfrm flipH="false" flipV="false" rot="0">
            <a:off x="1028700" y="388018"/>
            <a:ext cx="1254135" cy="1281364"/>
          </a:xfrm>
          <a:custGeom>
            <a:avLst/>
            <a:gdLst/>
            <a:ahLst/>
            <a:cxnLst/>
            <a:rect r="r" b="b" t="t" l="l"/>
            <a:pathLst>
              <a:path h="1281364" w="1254135">
                <a:moveTo>
                  <a:pt x="0" y="0"/>
                </a:moveTo>
                <a:lnTo>
                  <a:pt x="1254135" y="0"/>
                </a:lnTo>
                <a:lnTo>
                  <a:pt x="1254135" y="1281364"/>
                </a:lnTo>
                <a:lnTo>
                  <a:pt x="0" y="128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5135244" y="1257628"/>
            <a:ext cx="10521775" cy="823507"/>
            <a:chOff x="0" y="0"/>
            <a:chExt cx="2231658" cy="174665"/>
          </a:xfrm>
        </p:grpSpPr>
        <p:sp>
          <p:nvSpPr>
            <p:cNvPr name="Freeform 8" id="8"/>
            <p:cNvSpPr/>
            <p:nvPr/>
          </p:nvSpPr>
          <p:spPr>
            <a:xfrm flipH="false" flipV="false" rot="0">
              <a:off x="0" y="0"/>
              <a:ext cx="2231658" cy="174665"/>
            </a:xfrm>
            <a:custGeom>
              <a:avLst/>
              <a:gdLst/>
              <a:ahLst/>
              <a:cxnLst/>
              <a:rect r="r" b="b" t="t" l="l"/>
              <a:pathLst>
                <a:path h="174665" w="2231658">
                  <a:moveTo>
                    <a:pt x="73580" y="0"/>
                  </a:moveTo>
                  <a:lnTo>
                    <a:pt x="2158078" y="0"/>
                  </a:lnTo>
                  <a:cubicBezTo>
                    <a:pt x="2198715" y="0"/>
                    <a:pt x="2231658" y="32943"/>
                    <a:pt x="2231658" y="73580"/>
                  </a:cubicBezTo>
                  <a:lnTo>
                    <a:pt x="2231658" y="101085"/>
                  </a:lnTo>
                  <a:cubicBezTo>
                    <a:pt x="2231658" y="141722"/>
                    <a:pt x="2198715" y="174665"/>
                    <a:pt x="2158078" y="174665"/>
                  </a:cubicBezTo>
                  <a:lnTo>
                    <a:pt x="73580" y="174665"/>
                  </a:lnTo>
                  <a:cubicBezTo>
                    <a:pt x="32943" y="174665"/>
                    <a:pt x="0" y="141722"/>
                    <a:pt x="0" y="101085"/>
                  </a:cubicBezTo>
                  <a:lnTo>
                    <a:pt x="0" y="73580"/>
                  </a:lnTo>
                  <a:cubicBezTo>
                    <a:pt x="0" y="32943"/>
                    <a:pt x="32943" y="0"/>
                    <a:pt x="73580" y="0"/>
                  </a:cubicBezTo>
                  <a:close/>
                </a:path>
              </a:pathLst>
            </a:custGeom>
            <a:solidFill>
              <a:srgbClr val="FFFFFF"/>
            </a:solidFill>
          </p:spPr>
        </p:sp>
        <p:sp>
          <p:nvSpPr>
            <p:cNvPr name="TextBox 9" id="9"/>
            <p:cNvSpPr txBox="true"/>
            <p:nvPr/>
          </p:nvSpPr>
          <p:spPr>
            <a:xfrm>
              <a:off x="0" y="-28575"/>
              <a:ext cx="2231658" cy="20324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2993767" y="4262983"/>
            <a:ext cx="4008756" cy="880517"/>
            <a:chOff x="0" y="0"/>
            <a:chExt cx="850253" cy="186757"/>
          </a:xfrm>
        </p:grpSpPr>
        <p:sp>
          <p:nvSpPr>
            <p:cNvPr name="Freeform 11" id="11"/>
            <p:cNvSpPr/>
            <p:nvPr/>
          </p:nvSpPr>
          <p:spPr>
            <a:xfrm flipH="false" flipV="false" rot="0">
              <a:off x="0" y="0"/>
              <a:ext cx="850253" cy="186757"/>
            </a:xfrm>
            <a:custGeom>
              <a:avLst/>
              <a:gdLst/>
              <a:ahLst/>
              <a:cxnLst/>
              <a:rect r="r" b="b" t="t" l="l"/>
              <a:pathLst>
                <a:path h="186757" w="850253">
                  <a:moveTo>
                    <a:pt x="93378" y="0"/>
                  </a:moveTo>
                  <a:lnTo>
                    <a:pt x="756875" y="0"/>
                  </a:lnTo>
                  <a:cubicBezTo>
                    <a:pt x="808446" y="0"/>
                    <a:pt x="850253" y="41807"/>
                    <a:pt x="850253" y="93378"/>
                  </a:cubicBezTo>
                  <a:lnTo>
                    <a:pt x="850253" y="93378"/>
                  </a:lnTo>
                  <a:cubicBezTo>
                    <a:pt x="850253" y="118144"/>
                    <a:pt x="840415" y="141895"/>
                    <a:pt x="822903" y="159407"/>
                  </a:cubicBezTo>
                  <a:cubicBezTo>
                    <a:pt x="805391" y="176919"/>
                    <a:pt x="781640" y="186757"/>
                    <a:pt x="756875" y="186757"/>
                  </a:cubicBezTo>
                  <a:lnTo>
                    <a:pt x="93378" y="186757"/>
                  </a:lnTo>
                  <a:cubicBezTo>
                    <a:pt x="41807" y="186757"/>
                    <a:pt x="0" y="144950"/>
                    <a:pt x="0" y="93378"/>
                  </a:cubicBezTo>
                  <a:lnTo>
                    <a:pt x="0" y="93378"/>
                  </a:lnTo>
                  <a:cubicBezTo>
                    <a:pt x="0" y="41807"/>
                    <a:pt x="41807" y="0"/>
                    <a:pt x="93378" y="0"/>
                  </a:cubicBezTo>
                  <a:close/>
                </a:path>
              </a:pathLst>
            </a:custGeom>
            <a:solidFill>
              <a:srgbClr val="FFFFFF"/>
            </a:solidFill>
          </p:spPr>
        </p:sp>
        <p:sp>
          <p:nvSpPr>
            <p:cNvPr name="TextBox 12" id="12"/>
            <p:cNvSpPr txBox="true"/>
            <p:nvPr/>
          </p:nvSpPr>
          <p:spPr>
            <a:xfrm>
              <a:off x="0" y="-28575"/>
              <a:ext cx="850253" cy="215332"/>
            </a:xfrm>
            <a:prstGeom prst="rect">
              <a:avLst/>
            </a:prstGeom>
          </p:spPr>
          <p:txBody>
            <a:bodyPr anchor="ctr" rtlCol="false" tIns="50800" lIns="50800" bIns="50800" rIns="50800"/>
            <a:lstStyle/>
            <a:p>
              <a:pPr algn="ctr">
                <a:lnSpc>
                  <a:spcPts val="2520"/>
                </a:lnSpc>
              </a:pPr>
            </a:p>
          </p:txBody>
        </p:sp>
      </p:grpSp>
      <p:sp>
        <p:nvSpPr>
          <p:cNvPr name="Freeform 13" id="13"/>
          <p:cNvSpPr/>
          <p:nvPr/>
        </p:nvSpPr>
        <p:spPr>
          <a:xfrm flipH="false" flipV="false" rot="0">
            <a:off x="9606665" y="3455061"/>
            <a:ext cx="8510957" cy="6383218"/>
          </a:xfrm>
          <a:custGeom>
            <a:avLst/>
            <a:gdLst/>
            <a:ahLst/>
            <a:cxnLst/>
            <a:rect r="r" b="b" t="t" l="l"/>
            <a:pathLst>
              <a:path h="6383218" w="8510957">
                <a:moveTo>
                  <a:pt x="0" y="0"/>
                </a:moveTo>
                <a:lnTo>
                  <a:pt x="8510957" y="0"/>
                </a:lnTo>
                <a:lnTo>
                  <a:pt x="8510957" y="6383218"/>
                </a:lnTo>
                <a:lnTo>
                  <a:pt x="0" y="6383218"/>
                </a:lnTo>
                <a:lnTo>
                  <a:pt x="0" y="0"/>
                </a:lnTo>
                <a:close/>
              </a:path>
            </a:pathLst>
          </a:custGeom>
          <a:blipFill>
            <a:blip r:embed="rId4"/>
            <a:stretch>
              <a:fillRect l="0" t="0" r="0" b="0"/>
            </a:stretch>
          </a:blipFill>
        </p:spPr>
      </p:sp>
      <p:sp>
        <p:nvSpPr>
          <p:cNvPr name="TextBox 14" id="14"/>
          <p:cNvSpPr txBox="true"/>
          <p:nvPr/>
        </p:nvSpPr>
        <p:spPr>
          <a:xfrm rot="0">
            <a:off x="7002523" y="321343"/>
            <a:ext cx="6159243" cy="825500"/>
          </a:xfrm>
          <a:prstGeom prst="rect">
            <a:avLst/>
          </a:prstGeom>
        </p:spPr>
        <p:txBody>
          <a:bodyPr anchor="t" rtlCol="false" tIns="0" lIns="0" bIns="0" rIns="0">
            <a:spAutoFit/>
          </a:bodyPr>
          <a:lstStyle/>
          <a:p>
            <a:pPr algn="ctr">
              <a:lnSpc>
                <a:spcPts val="6250"/>
              </a:lnSpc>
            </a:pPr>
            <a:r>
              <a:rPr lang="en-US" b="true" sz="5000">
                <a:solidFill>
                  <a:srgbClr val="FFFFFF"/>
                </a:solidFill>
                <a:latin typeface="Poppins Bold"/>
                <a:ea typeface="Poppins Bold"/>
                <a:cs typeface="Poppins Bold"/>
                <a:sym typeface="Poppins Bold"/>
              </a:rPr>
              <a:t>Analyse bivariée</a:t>
            </a:r>
          </a:p>
        </p:txBody>
      </p:sp>
      <p:sp>
        <p:nvSpPr>
          <p:cNvPr name="TextBox 15" id="15"/>
          <p:cNvSpPr txBox="true"/>
          <p:nvPr/>
        </p:nvSpPr>
        <p:spPr>
          <a:xfrm rot="0">
            <a:off x="3835523" y="2320350"/>
            <a:ext cx="13121216" cy="102041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Coûts plus élevés chez les fumeurs, a</a:t>
            </a:r>
            <a:r>
              <a:rPr lang="en-US" b="true" sz="2951">
                <a:solidFill>
                  <a:srgbClr val="FFFFFF"/>
                </a:solidFill>
                <a:latin typeface="DM Sans Bold"/>
                <a:ea typeface="DM Sans Bold"/>
                <a:cs typeface="DM Sans Bold"/>
                <a:sym typeface="DM Sans Bold"/>
              </a:rPr>
              <a:t>ugmentation des coûts avec l’âge, relation positive entre IMC et coûts, effet limité du nombre d’enfants</a:t>
            </a:r>
          </a:p>
        </p:txBody>
      </p:sp>
      <p:sp>
        <p:nvSpPr>
          <p:cNvPr name="TextBox 16" id="16"/>
          <p:cNvSpPr txBox="true"/>
          <p:nvPr/>
        </p:nvSpPr>
        <p:spPr>
          <a:xfrm rot="0">
            <a:off x="5732628" y="1327554"/>
            <a:ext cx="9327006" cy="588405"/>
          </a:xfrm>
          <a:prstGeom prst="rect">
            <a:avLst/>
          </a:prstGeom>
        </p:spPr>
        <p:txBody>
          <a:bodyPr anchor="t" rtlCol="false" tIns="0" lIns="0" bIns="0" rIns="0">
            <a:spAutoFit/>
          </a:bodyPr>
          <a:lstStyle/>
          <a:p>
            <a:pPr algn="ctr">
              <a:lnSpc>
                <a:spcPts val="4530"/>
              </a:lnSpc>
              <a:spcBef>
                <a:spcPct val="0"/>
              </a:spcBef>
            </a:pPr>
            <a:r>
              <a:rPr lang="en-US" b="true" sz="3235">
                <a:solidFill>
                  <a:srgbClr val="010B40"/>
                </a:solidFill>
                <a:latin typeface="Poppins Semi-Bold"/>
                <a:ea typeface="Poppins Semi-Bold"/>
                <a:cs typeface="Poppins Semi-Bold"/>
                <a:sym typeface="Poppins Semi-Bold"/>
              </a:rPr>
              <a:t>Relations entre variables et coûts médicaux</a:t>
            </a:r>
          </a:p>
        </p:txBody>
      </p:sp>
      <p:sp>
        <p:nvSpPr>
          <p:cNvPr name="TextBox 17" id="17"/>
          <p:cNvSpPr txBox="true"/>
          <p:nvPr/>
        </p:nvSpPr>
        <p:spPr>
          <a:xfrm rot="0">
            <a:off x="3591151" y="4332909"/>
            <a:ext cx="2798065" cy="588405"/>
          </a:xfrm>
          <a:prstGeom prst="rect">
            <a:avLst/>
          </a:prstGeom>
        </p:spPr>
        <p:txBody>
          <a:bodyPr anchor="t" rtlCol="false" tIns="0" lIns="0" bIns="0" rIns="0">
            <a:spAutoFit/>
          </a:bodyPr>
          <a:lstStyle/>
          <a:p>
            <a:pPr algn="ctr">
              <a:lnSpc>
                <a:spcPts val="4530"/>
              </a:lnSpc>
              <a:spcBef>
                <a:spcPct val="0"/>
              </a:spcBef>
            </a:pPr>
            <a:r>
              <a:rPr lang="en-US" b="true" sz="3235">
                <a:solidFill>
                  <a:srgbClr val="010B40"/>
                </a:solidFill>
                <a:latin typeface="Poppins Semi-Bold"/>
                <a:ea typeface="Poppins Semi-Bold"/>
                <a:cs typeface="Poppins Semi-Bold"/>
                <a:sym typeface="Poppins Semi-Bold"/>
              </a:rPr>
              <a:t>Corrélations</a:t>
            </a:r>
          </a:p>
        </p:txBody>
      </p:sp>
      <p:sp>
        <p:nvSpPr>
          <p:cNvPr name="TextBox 18" id="18"/>
          <p:cNvSpPr txBox="true"/>
          <p:nvPr/>
        </p:nvSpPr>
        <p:spPr>
          <a:xfrm rot="0">
            <a:off x="2420566" y="6019800"/>
            <a:ext cx="6624124" cy="259203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Corrélation âge – charges : 0,30</a:t>
            </a:r>
          </a:p>
          <a:p>
            <a:pPr algn="ctr">
              <a:lnSpc>
                <a:spcPts val="4131"/>
              </a:lnSpc>
            </a:pPr>
            <a:r>
              <a:rPr lang="en-US" b="true" sz="2951">
                <a:solidFill>
                  <a:srgbClr val="FFFFFF"/>
                </a:solidFill>
                <a:latin typeface="DM Sans Bold"/>
                <a:ea typeface="DM Sans Bold"/>
                <a:cs typeface="DM Sans Bold"/>
                <a:sym typeface="DM Sans Bold"/>
              </a:rPr>
              <a:t>Corrélation IMC – charges : 0,20</a:t>
            </a:r>
          </a:p>
          <a:p>
            <a:pPr algn="ctr">
              <a:lnSpc>
                <a:spcPts val="4131"/>
              </a:lnSpc>
            </a:pPr>
            <a:r>
              <a:rPr lang="en-US" b="true" sz="2951">
                <a:solidFill>
                  <a:srgbClr val="FFFFFF"/>
                </a:solidFill>
                <a:latin typeface="DM Sans Bold"/>
                <a:ea typeface="DM Sans Bold"/>
                <a:cs typeface="DM Sans Bold"/>
                <a:sym typeface="DM Sans Bold"/>
              </a:rPr>
              <a:t>Corrélation enfants – charges : 0,07</a:t>
            </a:r>
          </a:p>
          <a:p>
            <a:pPr algn="ctr">
              <a:lnSpc>
                <a:spcPts val="4131"/>
              </a:lnSpc>
            </a:pPr>
            <a:r>
              <a:rPr lang="en-US" b="true" sz="2951">
                <a:solidFill>
                  <a:srgbClr val="FFFFFF"/>
                </a:solidFill>
                <a:latin typeface="DM Sans Bold"/>
                <a:ea typeface="DM Sans Bold"/>
                <a:cs typeface="DM Sans Bold"/>
                <a:sym typeface="DM Sans Bold"/>
              </a:rPr>
              <a:t>Faible multicolinéarité entre variables explicatives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8237"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880330"/>
            <a:ext cx="9471486" cy="2421566"/>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Prétraitement des données</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767138" y="4206875"/>
            <a:ext cx="9559925"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Prétraitement des données</a:t>
            </a:r>
          </a:p>
        </p:txBody>
      </p:sp>
      <p:sp>
        <p:nvSpPr>
          <p:cNvPr name="Freeform 6" id="6"/>
          <p:cNvSpPr/>
          <p:nvPr/>
        </p:nvSpPr>
        <p:spPr>
          <a:xfrm flipH="false" flipV="false" rot="0">
            <a:off x="1028700" y="388018"/>
            <a:ext cx="1254135" cy="1281364"/>
          </a:xfrm>
          <a:custGeom>
            <a:avLst/>
            <a:gdLst/>
            <a:ahLst/>
            <a:cxnLst/>
            <a:rect r="r" b="b" t="t" l="l"/>
            <a:pathLst>
              <a:path h="1281364" w="1254135">
                <a:moveTo>
                  <a:pt x="0" y="0"/>
                </a:moveTo>
                <a:lnTo>
                  <a:pt x="1254135" y="0"/>
                </a:lnTo>
                <a:lnTo>
                  <a:pt x="1254135" y="1281364"/>
                </a:lnTo>
                <a:lnTo>
                  <a:pt x="0" y="12813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5135244" y="1669382"/>
            <a:ext cx="10521775" cy="823507"/>
            <a:chOff x="0" y="0"/>
            <a:chExt cx="2231658" cy="174665"/>
          </a:xfrm>
        </p:grpSpPr>
        <p:sp>
          <p:nvSpPr>
            <p:cNvPr name="Freeform 8" id="8"/>
            <p:cNvSpPr/>
            <p:nvPr/>
          </p:nvSpPr>
          <p:spPr>
            <a:xfrm flipH="false" flipV="false" rot="0">
              <a:off x="0" y="0"/>
              <a:ext cx="2231658" cy="174665"/>
            </a:xfrm>
            <a:custGeom>
              <a:avLst/>
              <a:gdLst/>
              <a:ahLst/>
              <a:cxnLst/>
              <a:rect r="r" b="b" t="t" l="l"/>
              <a:pathLst>
                <a:path h="174665" w="2231658">
                  <a:moveTo>
                    <a:pt x="73580" y="0"/>
                  </a:moveTo>
                  <a:lnTo>
                    <a:pt x="2158078" y="0"/>
                  </a:lnTo>
                  <a:cubicBezTo>
                    <a:pt x="2198715" y="0"/>
                    <a:pt x="2231658" y="32943"/>
                    <a:pt x="2231658" y="73580"/>
                  </a:cubicBezTo>
                  <a:lnTo>
                    <a:pt x="2231658" y="101085"/>
                  </a:lnTo>
                  <a:cubicBezTo>
                    <a:pt x="2231658" y="141722"/>
                    <a:pt x="2198715" y="174665"/>
                    <a:pt x="2158078" y="174665"/>
                  </a:cubicBezTo>
                  <a:lnTo>
                    <a:pt x="73580" y="174665"/>
                  </a:lnTo>
                  <a:cubicBezTo>
                    <a:pt x="32943" y="174665"/>
                    <a:pt x="0" y="141722"/>
                    <a:pt x="0" y="101085"/>
                  </a:cubicBezTo>
                  <a:lnTo>
                    <a:pt x="0" y="73580"/>
                  </a:lnTo>
                  <a:cubicBezTo>
                    <a:pt x="0" y="32943"/>
                    <a:pt x="32943" y="0"/>
                    <a:pt x="73580" y="0"/>
                  </a:cubicBezTo>
                  <a:close/>
                </a:path>
              </a:pathLst>
            </a:custGeom>
            <a:solidFill>
              <a:srgbClr val="FFFFFF"/>
            </a:solidFill>
          </p:spPr>
        </p:sp>
        <p:sp>
          <p:nvSpPr>
            <p:cNvPr name="TextBox 9" id="9"/>
            <p:cNvSpPr txBox="true"/>
            <p:nvPr/>
          </p:nvSpPr>
          <p:spPr>
            <a:xfrm>
              <a:off x="0" y="-28575"/>
              <a:ext cx="2231658" cy="203240"/>
            </a:xfrm>
            <a:prstGeom prst="rect">
              <a:avLst/>
            </a:prstGeom>
          </p:spPr>
          <p:txBody>
            <a:bodyPr anchor="ctr" rtlCol="false" tIns="50800" lIns="50800" bIns="50800" rIns="50800"/>
            <a:lstStyle/>
            <a:p>
              <a:pPr algn="ctr">
                <a:lnSpc>
                  <a:spcPts val="2520"/>
                </a:lnSpc>
              </a:pPr>
            </a:p>
          </p:txBody>
        </p:sp>
      </p:grpSp>
      <p:sp>
        <p:nvSpPr>
          <p:cNvPr name="TextBox 10" id="10"/>
          <p:cNvSpPr txBox="true"/>
          <p:nvPr/>
        </p:nvSpPr>
        <p:spPr>
          <a:xfrm rot="0">
            <a:off x="2808001" y="3906838"/>
            <a:ext cx="12671998" cy="2406650"/>
          </a:xfrm>
          <a:prstGeom prst="rect">
            <a:avLst/>
          </a:prstGeom>
        </p:spPr>
        <p:txBody>
          <a:bodyPr anchor="t" rtlCol="false" tIns="0" lIns="0" bIns="0" rIns="0">
            <a:spAutoFit/>
          </a:bodyPr>
          <a:lstStyle/>
          <a:p>
            <a:pPr algn="just">
              <a:lnSpc>
                <a:spcPts val="6250"/>
              </a:lnSpc>
            </a:pPr>
            <a:r>
              <a:rPr lang="en-US" sz="5000" b="true">
                <a:solidFill>
                  <a:srgbClr val="FFFFFF"/>
                </a:solidFill>
                <a:latin typeface="Poppins Bold"/>
                <a:ea typeface="Poppins Bold"/>
                <a:cs typeface="Poppins Bold"/>
                <a:sym typeface="Poppins Bold"/>
              </a:rPr>
              <a:t>Séparation des jeux de données</a:t>
            </a:r>
          </a:p>
          <a:p>
            <a:pPr algn="just">
              <a:lnSpc>
                <a:spcPts val="6250"/>
              </a:lnSpc>
            </a:pPr>
            <a:r>
              <a:rPr lang="en-US" sz="5000" b="true">
                <a:solidFill>
                  <a:srgbClr val="FFFFFF"/>
                </a:solidFill>
                <a:latin typeface="Poppins Bold"/>
                <a:ea typeface="Poppins Bold"/>
                <a:cs typeface="Poppins Bold"/>
                <a:sym typeface="Poppins Bold"/>
              </a:rPr>
              <a:t>Encodage des variables catégorielles avec One Hot Encoder</a:t>
            </a:r>
          </a:p>
        </p:txBody>
      </p:sp>
      <p:sp>
        <p:nvSpPr>
          <p:cNvPr name="TextBox 11" id="11"/>
          <p:cNvSpPr txBox="true"/>
          <p:nvPr/>
        </p:nvSpPr>
        <p:spPr>
          <a:xfrm rot="0">
            <a:off x="5732628" y="1739308"/>
            <a:ext cx="9327006" cy="588405"/>
          </a:xfrm>
          <a:prstGeom prst="rect">
            <a:avLst/>
          </a:prstGeom>
        </p:spPr>
        <p:txBody>
          <a:bodyPr anchor="t" rtlCol="false" tIns="0" lIns="0" bIns="0" rIns="0">
            <a:spAutoFit/>
          </a:bodyPr>
          <a:lstStyle/>
          <a:p>
            <a:pPr algn="ctr">
              <a:lnSpc>
                <a:spcPts val="4530"/>
              </a:lnSpc>
              <a:spcBef>
                <a:spcPct val="0"/>
              </a:spcBef>
            </a:pPr>
            <a:r>
              <a:rPr lang="en-US" b="true" sz="3235">
                <a:solidFill>
                  <a:srgbClr val="010B40"/>
                </a:solidFill>
                <a:latin typeface="Poppins Semi-Bold"/>
                <a:ea typeface="Poppins Semi-Bold"/>
                <a:cs typeface="Poppins Semi-Bold"/>
                <a:sym typeface="Poppins Semi-Bold"/>
              </a:rPr>
              <a:t>Relations entre variables et coûts médicaux</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246055"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880330"/>
            <a:ext cx="8115300" cy="3603683"/>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Modélisation et méthodes de prédiction</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159421" y="5401890"/>
            <a:ext cx="8452442" cy="987425"/>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Modèles linéaires</a:t>
            </a:r>
          </a:p>
        </p:txBody>
      </p:sp>
      <p:sp>
        <p:nvSpPr>
          <p:cNvPr name="TextBox 6" id="6"/>
          <p:cNvSpPr txBox="true"/>
          <p:nvPr/>
        </p:nvSpPr>
        <p:spPr>
          <a:xfrm rot="0">
            <a:off x="5706792" y="321343"/>
            <a:ext cx="8614313" cy="825500"/>
          </a:xfrm>
          <a:prstGeom prst="rect">
            <a:avLst/>
          </a:prstGeom>
        </p:spPr>
        <p:txBody>
          <a:bodyPr anchor="t" rtlCol="false" tIns="0" lIns="0" bIns="0" rIns="0">
            <a:spAutoFit/>
          </a:bodyPr>
          <a:lstStyle/>
          <a:p>
            <a:pPr algn="ctr">
              <a:lnSpc>
                <a:spcPts val="6250"/>
              </a:lnSpc>
            </a:pPr>
            <a:r>
              <a:rPr lang="en-US" sz="5000" b="true">
                <a:solidFill>
                  <a:srgbClr val="FFFFFF"/>
                </a:solidFill>
                <a:latin typeface="Poppins Bold"/>
                <a:ea typeface="Poppins Bold"/>
                <a:cs typeface="Poppins Bold"/>
                <a:sym typeface="Poppins Bold"/>
              </a:rPr>
              <a:t>Modèles linéaires utilisés</a:t>
            </a:r>
          </a:p>
        </p:txBody>
      </p:sp>
      <p:sp>
        <p:nvSpPr>
          <p:cNvPr name="Freeform 7" id="7"/>
          <p:cNvSpPr/>
          <p:nvPr/>
        </p:nvSpPr>
        <p:spPr>
          <a:xfrm flipH="false" flipV="false" rot="0">
            <a:off x="370403" y="299929"/>
            <a:ext cx="1693828" cy="1693828"/>
          </a:xfrm>
          <a:custGeom>
            <a:avLst/>
            <a:gdLst/>
            <a:ahLst/>
            <a:cxnLst/>
            <a:rect r="r" b="b" t="t" l="l"/>
            <a:pathLst>
              <a:path h="1693828" w="1693828">
                <a:moveTo>
                  <a:pt x="0" y="0"/>
                </a:moveTo>
                <a:lnTo>
                  <a:pt x="1693829" y="0"/>
                </a:lnTo>
                <a:lnTo>
                  <a:pt x="1693829" y="1693828"/>
                </a:lnTo>
                <a:lnTo>
                  <a:pt x="0" y="1693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928502" y="2894303"/>
            <a:ext cx="6785205" cy="154428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Régularisation L2</a:t>
            </a:r>
          </a:p>
          <a:p>
            <a:pPr algn="ctr">
              <a:lnSpc>
                <a:spcPts val="4131"/>
              </a:lnSpc>
            </a:pPr>
            <a:r>
              <a:rPr lang="en-US" b="true" sz="2951">
                <a:solidFill>
                  <a:srgbClr val="FFFFFF"/>
                </a:solidFill>
                <a:latin typeface="DM Sans Bold"/>
                <a:ea typeface="DM Sans Bold"/>
                <a:cs typeface="DM Sans Bold"/>
                <a:sym typeface="DM Sans Bold"/>
              </a:rPr>
              <a:t>Réduction de la variance</a:t>
            </a:r>
          </a:p>
          <a:p>
            <a:pPr algn="ctr">
              <a:lnSpc>
                <a:spcPts val="4131"/>
              </a:lnSpc>
            </a:pPr>
            <a:r>
              <a:rPr lang="en-US" b="true" sz="2951">
                <a:solidFill>
                  <a:srgbClr val="FFFFFF"/>
                </a:solidFill>
                <a:latin typeface="DM Sans Bold"/>
                <a:ea typeface="DM Sans Bold"/>
                <a:cs typeface="DM Sans Bold"/>
                <a:sym typeface="DM Sans Bold"/>
              </a:rPr>
              <a:t>Gestion du sur-apprentissage</a:t>
            </a:r>
          </a:p>
        </p:txBody>
      </p:sp>
      <p:grpSp>
        <p:nvGrpSpPr>
          <p:cNvPr name="Group 9" id="9"/>
          <p:cNvGrpSpPr/>
          <p:nvPr/>
        </p:nvGrpSpPr>
        <p:grpSpPr>
          <a:xfrm rot="0">
            <a:off x="2954446" y="1897982"/>
            <a:ext cx="6891816" cy="3097442"/>
            <a:chOff x="0" y="0"/>
            <a:chExt cx="1576700" cy="708629"/>
          </a:xfrm>
        </p:grpSpPr>
        <p:sp>
          <p:nvSpPr>
            <p:cNvPr name="Freeform 10" id="10"/>
            <p:cNvSpPr/>
            <p:nvPr/>
          </p:nvSpPr>
          <p:spPr>
            <a:xfrm flipH="false" flipV="false" rot="0">
              <a:off x="0" y="0"/>
              <a:ext cx="1576700" cy="708629"/>
            </a:xfrm>
            <a:custGeom>
              <a:avLst/>
              <a:gdLst/>
              <a:ahLst/>
              <a:cxnLst/>
              <a:rect r="r" b="b" t="t" l="l"/>
              <a:pathLst>
                <a:path h="708629" w="1576700">
                  <a:moveTo>
                    <a:pt x="40441" y="0"/>
                  </a:moveTo>
                  <a:lnTo>
                    <a:pt x="1536260" y="0"/>
                  </a:lnTo>
                  <a:cubicBezTo>
                    <a:pt x="1558594" y="0"/>
                    <a:pt x="1576700" y="18106"/>
                    <a:pt x="1576700" y="40441"/>
                  </a:cubicBezTo>
                  <a:lnTo>
                    <a:pt x="1576700" y="668188"/>
                  </a:lnTo>
                  <a:cubicBezTo>
                    <a:pt x="1576700" y="690523"/>
                    <a:pt x="1558594" y="708629"/>
                    <a:pt x="1536260" y="708629"/>
                  </a:cubicBezTo>
                  <a:lnTo>
                    <a:pt x="40441" y="708629"/>
                  </a:lnTo>
                  <a:cubicBezTo>
                    <a:pt x="18106" y="708629"/>
                    <a:pt x="0" y="690523"/>
                    <a:pt x="0" y="668188"/>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1" id="11"/>
            <p:cNvSpPr txBox="true"/>
            <p:nvPr/>
          </p:nvSpPr>
          <p:spPr>
            <a:xfrm>
              <a:off x="0" y="-28575"/>
              <a:ext cx="1576700" cy="737204"/>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0">
            <a:off x="4080208" y="1669382"/>
            <a:ext cx="4640290" cy="497729"/>
            <a:chOff x="0" y="0"/>
            <a:chExt cx="1061599" cy="113870"/>
          </a:xfrm>
        </p:grpSpPr>
        <p:sp>
          <p:nvSpPr>
            <p:cNvPr name="Freeform 13" id="13"/>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4" id="14"/>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15" id="15"/>
          <p:cNvSpPr txBox="true"/>
          <p:nvPr/>
        </p:nvSpPr>
        <p:spPr>
          <a:xfrm rot="0">
            <a:off x="4429986" y="1583657"/>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Régression linéaire</a:t>
            </a:r>
          </a:p>
        </p:txBody>
      </p:sp>
      <p:grpSp>
        <p:nvGrpSpPr>
          <p:cNvPr name="Group 16" id="16"/>
          <p:cNvGrpSpPr/>
          <p:nvPr/>
        </p:nvGrpSpPr>
        <p:grpSpPr>
          <a:xfrm rot="0">
            <a:off x="10620595" y="1897982"/>
            <a:ext cx="6891816" cy="3132709"/>
            <a:chOff x="0" y="0"/>
            <a:chExt cx="1576700" cy="716697"/>
          </a:xfrm>
        </p:grpSpPr>
        <p:sp>
          <p:nvSpPr>
            <p:cNvPr name="Freeform 17" id="17"/>
            <p:cNvSpPr/>
            <p:nvPr/>
          </p:nvSpPr>
          <p:spPr>
            <a:xfrm flipH="false" flipV="false" rot="0">
              <a:off x="0" y="0"/>
              <a:ext cx="1576700" cy="716697"/>
            </a:xfrm>
            <a:custGeom>
              <a:avLst/>
              <a:gdLst/>
              <a:ahLst/>
              <a:cxnLst/>
              <a:rect r="r" b="b" t="t" l="l"/>
              <a:pathLst>
                <a:path h="716697" w="1576700">
                  <a:moveTo>
                    <a:pt x="40441" y="0"/>
                  </a:moveTo>
                  <a:lnTo>
                    <a:pt x="1536260" y="0"/>
                  </a:lnTo>
                  <a:cubicBezTo>
                    <a:pt x="1558594" y="0"/>
                    <a:pt x="1576700" y="18106"/>
                    <a:pt x="1576700" y="40441"/>
                  </a:cubicBezTo>
                  <a:lnTo>
                    <a:pt x="1576700" y="676256"/>
                  </a:lnTo>
                  <a:cubicBezTo>
                    <a:pt x="1576700" y="698591"/>
                    <a:pt x="1558594" y="716697"/>
                    <a:pt x="1536260" y="716697"/>
                  </a:cubicBezTo>
                  <a:lnTo>
                    <a:pt x="40441" y="716697"/>
                  </a:lnTo>
                  <a:cubicBezTo>
                    <a:pt x="18106" y="716697"/>
                    <a:pt x="0" y="698591"/>
                    <a:pt x="0" y="676256"/>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8" id="18"/>
            <p:cNvSpPr txBox="true"/>
            <p:nvPr/>
          </p:nvSpPr>
          <p:spPr>
            <a:xfrm>
              <a:off x="0" y="-28575"/>
              <a:ext cx="1576700" cy="745272"/>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0">
            <a:off x="11852969" y="1669382"/>
            <a:ext cx="4640290" cy="497729"/>
            <a:chOff x="0" y="0"/>
            <a:chExt cx="1061599" cy="113870"/>
          </a:xfrm>
        </p:grpSpPr>
        <p:sp>
          <p:nvSpPr>
            <p:cNvPr name="Freeform 20" id="20"/>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21" id="21"/>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12202747" y="1583657"/>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Ridge Regression</a:t>
            </a:r>
          </a:p>
        </p:txBody>
      </p:sp>
      <p:sp>
        <p:nvSpPr>
          <p:cNvPr name="TextBox 23" id="23"/>
          <p:cNvSpPr txBox="true"/>
          <p:nvPr/>
        </p:nvSpPr>
        <p:spPr>
          <a:xfrm rot="0">
            <a:off x="3230301" y="2370428"/>
            <a:ext cx="6340105" cy="206816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Absence de régularisation</a:t>
            </a:r>
          </a:p>
          <a:p>
            <a:pPr algn="ctr">
              <a:lnSpc>
                <a:spcPts val="4131"/>
              </a:lnSpc>
            </a:pPr>
            <a:r>
              <a:rPr lang="en-US" b="true" sz="2951">
                <a:solidFill>
                  <a:srgbClr val="FFFFFF"/>
                </a:solidFill>
                <a:latin typeface="DM Sans Bold"/>
                <a:ea typeface="DM Sans Bold"/>
                <a:cs typeface="DM Sans Bold"/>
                <a:sym typeface="DM Sans Bold"/>
              </a:rPr>
              <a:t>Sensibilité aux valeurs extrêmes</a:t>
            </a:r>
          </a:p>
          <a:p>
            <a:pPr algn="ctr">
              <a:lnSpc>
                <a:spcPts val="4131"/>
              </a:lnSpc>
            </a:pPr>
            <a:r>
              <a:rPr lang="en-US" b="true" sz="2951">
                <a:solidFill>
                  <a:srgbClr val="FFFFFF"/>
                </a:solidFill>
                <a:latin typeface="DM Sans Bold"/>
                <a:ea typeface="DM Sans Bold"/>
                <a:cs typeface="DM Sans Bold"/>
                <a:sym typeface="DM Sans Bold"/>
              </a:rPr>
              <a:t>Point de comparaison pour les autres modèles</a:t>
            </a:r>
          </a:p>
        </p:txBody>
      </p:sp>
      <p:sp>
        <p:nvSpPr>
          <p:cNvPr name="TextBox 24" id="24"/>
          <p:cNvSpPr txBox="true"/>
          <p:nvPr/>
        </p:nvSpPr>
        <p:spPr>
          <a:xfrm rot="0">
            <a:off x="10727206" y="6153751"/>
            <a:ext cx="6785205" cy="206816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Combinaison L1 + L2</a:t>
            </a:r>
          </a:p>
          <a:p>
            <a:pPr algn="ctr">
              <a:lnSpc>
                <a:spcPts val="4131"/>
              </a:lnSpc>
            </a:pPr>
            <a:r>
              <a:rPr lang="en-US" b="true" sz="2951">
                <a:solidFill>
                  <a:srgbClr val="FFFFFF"/>
                </a:solidFill>
                <a:latin typeface="DM Sans Bold"/>
                <a:ea typeface="DM Sans Bold"/>
                <a:cs typeface="DM Sans Bold"/>
                <a:sym typeface="DM Sans Bold"/>
              </a:rPr>
              <a:t>Compromis Ridge / Lasso</a:t>
            </a:r>
          </a:p>
          <a:p>
            <a:pPr algn="ctr">
              <a:lnSpc>
                <a:spcPts val="4131"/>
              </a:lnSpc>
            </a:pPr>
            <a:r>
              <a:rPr lang="en-US" b="true" sz="2951">
                <a:solidFill>
                  <a:srgbClr val="FFFFFF"/>
                </a:solidFill>
                <a:latin typeface="DM Sans Bold"/>
                <a:ea typeface="DM Sans Bold"/>
                <a:cs typeface="DM Sans Bold"/>
                <a:sym typeface="DM Sans Bold"/>
              </a:rPr>
              <a:t>Gestion de la multicolinéarité</a:t>
            </a:r>
          </a:p>
          <a:p>
            <a:pPr algn="ctr">
              <a:lnSpc>
                <a:spcPts val="4131"/>
              </a:lnSpc>
            </a:pPr>
            <a:r>
              <a:rPr lang="en-US" b="true" sz="2951">
                <a:solidFill>
                  <a:srgbClr val="FFFFFF"/>
                </a:solidFill>
                <a:latin typeface="DM Sans Bold"/>
                <a:ea typeface="DM Sans Bold"/>
                <a:cs typeface="DM Sans Bold"/>
                <a:sym typeface="DM Sans Bold"/>
              </a:rPr>
              <a:t>Stabilité des coefficients</a:t>
            </a:r>
          </a:p>
        </p:txBody>
      </p:sp>
      <p:grpSp>
        <p:nvGrpSpPr>
          <p:cNvPr name="Group 25" id="25"/>
          <p:cNvGrpSpPr/>
          <p:nvPr/>
        </p:nvGrpSpPr>
        <p:grpSpPr>
          <a:xfrm rot="0">
            <a:off x="2954446" y="5938399"/>
            <a:ext cx="6891816" cy="3097442"/>
            <a:chOff x="0" y="0"/>
            <a:chExt cx="1576700" cy="708629"/>
          </a:xfrm>
        </p:grpSpPr>
        <p:sp>
          <p:nvSpPr>
            <p:cNvPr name="Freeform 26" id="26"/>
            <p:cNvSpPr/>
            <p:nvPr/>
          </p:nvSpPr>
          <p:spPr>
            <a:xfrm flipH="false" flipV="false" rot="0">
              <a:off x="0" y="0"/>
              <a:ext cx="1576700" cy="708629"/>
            </a:xfrm>
            <a:custGeom>
              <a:avLst/>
              <a:gdLst/>
              <a:ahLst/>
              <a:cxnLst/>
              <a:rect r="r" b="b" t="t" l="l"/>
              <a:pathLst>
                <a:path h="708629" w="1576700">
                  <a:moveTo>
                    <a:pt x="40441" y="0"/>
                  </a:moveTo>
                  <a:lnTo>
                    <a:pt x="1536260" y="0"/>
                  </a:lnTo>
                  <a:cubicBezTo>
                    <a:pt x="1558594" y="0"/>
                    <a:pt x="1576700" y="18106"/>
                    <a:pt x="1576700" y="40441"/>
                  </a:cubicBezTo>
                  <a:lnTo>
                    <a:pt x="1576700" y="668188"/>
                  </a:lnTo>
                  <a:cubicBezTo>
                    <a:pt x="1576700" y="690523"/>
                    <a:pt x="1558594" y="708629"/>
                    <a:pt x="1536260" y="708629"/>
                  </a:cubicBezTo>
                  <a:lnTo>
                    <a:pt x="40441" y="708629"/>
                  </a:lnTo>
                  <a:cubicBezTo>
                    <a:pt x="18106" y="708629"/>
                    <a:pt x="0" y="690523"/>
                    <a:pt x="0" y="668188"/>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27" id="27"/>
            <p:cNvSpPr txBox="true"/>
            <p:nvPr/>
          </p:nvSpPr>
          <p:spPr>
            <a:xfrm>
              <a:off x="0" y="-28575"/>
              <a:ext cx="1576700" cy="737204"/>
            </a:xfrm>
            <a:prstGeom prst="rect">
              <a:avLst/>
            </a:prstGeom>
          </p:spPr>
          <p:txBody>
            <a:bodyPr anchor="ctr" rtlCol="false" tIns="50800" lIns="50800" bIns="50800" rIns="50800"/>
            <a:lstStyle/>
            <a:p>
              <a:pPr algn="ctr">
                <a:lnSpc>
                  <a:spcPts val="2520"/>
                </a:lnSpc>
              </a:pPr>
            </a:p>
          </p:txBody>
        </p:sp>
      </p:grpSp>
      <p:grpSp>
        <p:nvGrpSpPr>
          <p:cNvPr name="Group 28" id="28"/>
          <p:cNvGrpSpPr/>
          <p:nvPr/>
        </p:nvGrpSpPr>
        <p:grpSpPr>
          <a:xfrm rot="0">
            <a:off x="4080208" y="5709799"/>
            <a:ext cx="4640290" cy="497729"/>
            <a:chOff x="0" y="0"/>
            <a:chExt cx="1061599" cy="113870"/>
          </a:xfrm>
        </p:grpSpPr>
        <p:sp>
          <p:nvSpPr>
            <p:cNvPr name="Freeform 29" id="29"/>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30" id="30"/>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31" id="31"/>
          <p:cNvSpPr txBox="true"/>
          <p:nvPr/>
        </p:nvSpPr>
        <p:spPr>
          <a:xfrm rot="0">
            <a:off x="4429986" y="5624074"/>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Lasso Regression</a:t>
            </a:r>
          </a:p>
        </p:txBody>
      </p:sp>
      <p:grpSp>
        <p:nvGrpSpPr>
          <p:cNvPr name="Group 32" id="32"/>
          <p:cNvGrpSpPr/>
          <p:nvPr/>
        </p:nvGrpSpPr>
        <p:grpSpPr>
          <a:xfrm rot="0">
            <a:off x="10673900" y="5938399"/>
            <a:ext cx="6891816" cy="3132709"/>
            <a:chOff x="0" y="0"/>
            <a:chExt cx="1576700" cy="716697"/>
          </a:xfrm>
        </p:grpSpPr>
        <p:sp>
          <p:nvSpPr>
            <p:cNvPr name="Freeform 33" id="33"/>
            <p:cNvSpPr/>
            <p:nvPr/>
          </p:nvSpPr>
          <p:spPr>
            <a:xfrm flipH="false" flipV="false" rot="0">
              <a:off x="0" y="0"/>
              <a:ext cx="1576700" cy="716697"/>
            </a:xfrm>
            <a:custGeom>
              <a:avLst/>
              <a:gdLst/>
              <a:ahLst/>
              <a:cxnLst/>
              <a:rect r="r" b="b" t="t" l="l"/>
              <a:pathLst>
                <a:path h="716697" w="1576700">
                  <a:moveTo>
                    <a:pt x="40441" y="0"/>
                  </a:moveTo>
                  <a:lnTo>
                    <a:pt x="1536260" y="0"/>
                  </a:lnTo>
                  <a:cubicBezTo>
                    <a:pt x="1558594" y="0"/>
                    <a:pt x="1576700" y="18106"/>
                    <a:pt x="1576700" y="40441"/>
                  </a:cubicBezTo>
                  <a:lnTo>
                    <a:pt x="1576700" y="676256"/>
                  </a:lnTo>
                  <a:cubicBezTo>
                    <a:pt x="1576700" y="698591"/>
                    <a:pt x="1558594" y="716697"/>
                    <a:pt x="1536260" y="716697"/>
                  </a:cubicBezTo>
                  <a:lnTo>
                    <a:pt x="40441" y="716697"/>
                  </a:lnTo>
                  <a:cubicBezTo>
                    <a:pt x="18106" y="716697"/>
                    <a:pt x="0" y="698591"/>
                    <a:pt x="0" y="676256"/>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34" id="34"/>
            <p:cNvSpPr txBox="true"/>
            <p:nvPr/>
          </p:nvSpPr>
          <p:spPr>
            <a:xfrm>
              <a:off x="0" y="-28575"/>
              <a:ext cx="1576700" cy="745272"/>
            </a:xfrm>
            <a:prstGeom prst="rect">
              <a:avLst/>
            </a:prstGeom>
          </p:spPr>
          <p:txBody>
            <a:bodyPr anchor="ctr" rtlCol="false" tIns="50800" lIns="50800" bIns="50800" rIns="50800"/>
            <a:lstStyle/>
            <a:p>
              <a:pPr algn="ctr">
                <a:lnSpc>
                  <a:spcPts val="2520"/>
                </a:lnSpc>
              </a:pPr>
            </a:p>
          </p:txBody>
        </p:sp>
      </p:grpSp>
      <p:grpSp>
        <p:nvGrpSpPr>
          <p:cNvPr name="Group 35" id="35"/>
          <p:cNvGrpSpPr/>
          <p:nvPr/>
        </p:nvGrpSpPr>
        <p:grpSpPr>
          <a:xfrm rot="0">
            <a:off x="11852969" y="5709799"/>
            <a:ext cx="4640290" cy="497729"/>
            <a:chOff x="0" y="0"/>
            <a:chExt cx="1061599" cy="113870"/>
          </a:xfrm>
        </p:grpSpPr>
        <p:sp>
          <p:nvSpPr>
            <p:cNvPr name="Freeform 36" id="36"/>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37" id="37"/>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12202747" y="5624074"/>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Elastic Net</a:t>
            </a:r>
          </a:p>
        </p:txBody>
      </p:sp>
      <p:sp>
        <p:nvSpPr>
          <p:cNvPr name="TextBox 39" id="39"/>
          <p:cNvSpPr txBox="true"/>
          <p:nvPr/>
        </p:nvSpPr>
        <p:spPr>
          <a:xfrm rot="0">
            <a:off x="3506157" y="6415688"/>
            <a:ext cx="5788394" cy="154428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Régularisation L1</a:t>
            </a:r>
          </a:p>
          <a:p>
            <a:pPr algn="ctr">
              <a:lnSpc>
                <a:spcPts val="4131"/>
              </a:lnSpc>
            </a:pPr>
            <a:r>
              <a:rPr lang="en-US" b="true" sz="2951">
                <a:solidFill>
                  <a:srgbClr val="FFFFFF"/>
                </a:solidFill>
                <a:latin typeface="DM Sans Bold"/>
                <a:ea typeface="DM Sans Bold"/>
                <a:cs typeface="DM Sans Bold"/>
                <a:sym typeface="DM Sans Bold"/>
              </a:rPr>
              <a:t>Sélection automatique de variables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2716508" y="4958978"/>
            <a:ext cx="8452442"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Modèles non linéaires</a:t>
            </a:r>
          </a:p>
        </p:txBody>
      </p:sp>
      <p:sp>
        <p:nvSpPr>
          <p:cNvPr name="TextBox 6" id="6"/>
          <p:cNvSpPr txBox="true"/>
          <p:nvPr/>
        </p:nvSpPr>
        <p:spPr>
          <a:xfrm rot="0">
            <a:off x="5706792" y="321343"/>
            <a:ext cx="9705455" cy="825500"/>
          </a:xfrm>
          <a:prstGeom prst="rect">
            <a:avLst/>
          </a:prstGeom>
        </p:spPr>
        <p:txBody>
          <a:bodyPr anchor="t" rtlCol="false" tIns="0" lIns="0" bIns="0" rIns="0">
            <a:spAutoFit/>
          </a:bodyPr>
          <a:lstStyle/>
          <a:p>
            <a:pPr algn="ctr">
              <a:lnSpc>
                <a:spcPts val="6250"/>
              </a:lnSpc>
            </a:pPr>
            <a:r>
              <a:rPr lang="en-US" sz="5000" b="true">
                <a:solidFill>
                  <a:srgbClr val="FFFFFF"/>
                </a:solidFill>
                <a:latin typeface="Poppins Bold"/>
                <a:ea typeface="Poppins Bold"/>
                <a:cs typeface="Poppins Bold"/>
                <a:sym typeface="Poppins Bold"/>
              </a:rPr>
              <a:t>Modèles non linéaires utilisés</a:t>
            </a:r>
          </a:p>
        </p:txBody>
      </p:sp>
      <p:sp>
        <p:nvSpPr>
          <p:cNvPr name="Freeform 7" id="7"/>
          <p:cNvSpPr/>
          <p:nvPr/>
        </p:nvSpPr>
        <p:spPr>
          <a:xfrm flipH="false" flipV="false" rot="0">
            <a:off x="370403" y="299929"/>
            <a:ext cx="1693828" cy="1693828"/>
          </a:xfrm>
          <a:custGeom>
            <a:avLst/>
            <a:gdLst/>
            <a:ahLst/>
            <a:cxnLst/>
            <a:rect r="r" b="b" t="t" l="l"/>
            <a:pathLst>
              <a:path h="1693828" w="1693828">
                <a:moveTo>
                  <a:pt x="0" y="0"/>
                </a:moveTo>
                <a:lnTo>
                  <a:pt x="1693829" y="0"/>
                </a:lnTo>
                <a:lnTo>
                  <a:pt x="1693829" y="1693828"/>
                </a:lnTo>
                <a:lnTo>
                  <a:pt x="0" y="1693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620595" y="1897982"/>
            <a:ext cx="6891816" cy="3132709"/>
            <a:chOff x="0" y="0"/>
            <a:chExt cx="1576700" cy="716697"/>
          </a:xfrm>
        </p:grpSpPr>
        <p:sp>
          <p:nvSpPr>
            <p:cNvPr name="Freeform 9" id="9"/>
            <p:cNvSpPr/>
            <p:nvPr/>
          </p:nvSpPr>
          <p:spPr>
            <a:xfrm flipH="false" flipV="false" rot="0">
              <a:off x="0" y="0"/>
              <a:ext cx="1576700" cy="716697"/>
            </a:xfrm>
            <a:custGeom>
              <a:avLst/>
              <a:gdLst/>
              <a:ahLst/>
              <a:cxnLst/>
              <a:rect r="r" b="b" t="t" l="l"/>
              <a:pathLst>
                <a:path h="716697" w="1576700">
                  <a:moveTo>
                    <a:pt x="40441" y="0"/>
                  </a:moveTo>
                  <a:lnTo>
                    <a:pt x="1536260" y="0"/>
                  </a:lnTo>
                  <a:cubicBezTo>
                    <a:pt x="1558594" y="0"/>
                    <a:pt x="1576700" y="18106"/>
                    <a:pt x="1576700" y="40441"/>
                  </a:cubicBezTo>
                  <a:lnTo>
                    <a:pt x="1576700" y="676256"/>
                  </a:lnTo>
                  <a:cubicBezTo>
                    <a:pt x="1576700" y="698591"/>
                    <a:pt x="1558594" y="716697"/>
                    <a:pt x="1536260" y="716697"/>
                  </a:cubicBezTo>
                  <a:lnTo>
                    <a:pt x="40441" y="716697"/>
                  </a:lnTo>
                  <a:cubicBezTo>
                    <a:pt x="18106" y="716697"/>
                    <a:pt x="0" y="698591"/>
                    <a:pt x="0" y="676256"/>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0" id="10"/>
            <p:cNvSpPr txBox="true"/>
            <p:nvPr/>
          </p:nvSpPr>
          <p:spPr>
            <a:xfrm>
              <a:off x="0" y="-28575"/>
              <a:ext cx="1576700" cy="745272"/>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10673900" y="2212832"/>
            <a:ext cx="6785205" cy="259203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Modèle basé sur des règles</a:t>
            </a:r>
          </a:p>
          <a:p>
            <a:pPr algn="ctr">
              <a:lnSpc>
                <a:spcPts val="4131"/>
              </a:lnSpc>
            </a:pPr>
            <a:r>
              <a:rPr lang="en-US" b="true" sz="2951">
                <a:solidFill>
                  <a:srgbClr val="FFFFFF"/>
                </a:solidFill>
                <a:latin typeface="DM Sans Bold"/>
                <a:ea typeface="DM Sans Bold"/>
                <a:cs typeface="DM Sans Bold"/>
                <a:sym typeface="DM Sans Bold"/>
              </a:rPr>
              <a:t>Découpage récursif de l’espace des données</a:t>
            </a:r>
          </a:p>
          <a:p>
            <a:pPr algn="ctr">
              <a:lnSpc>
                <a:spcPts val="4131"/>
              </a:lnSpc>
            </a:pPr>
            <a:r>
              <a:rPr lang="en-US" b="true" sz="2951">
                <a:solidFill>
                  <a:srgbClr val="FFFFFF"/>
                </a:solidFill>
                <a:latin typeface="DM Sans Bold"/>
                <a:ea typeface="DM Sans Bold"/>
                <a:cs typeface="DM Sans Bold"/>
                <a:sym typeface="DM Sans Bold"/>
              </a:rPr>
              <a:t>Interprétation intuitive</a:t>
            </a:r>
          </a:p>
          <a:p>
            <a:pPr algn="ctr">
              <a:lnSpc>
                <a:spcPts val="4131"/>
              </a:lnSpc>
            </a:pPr>
            <a:r>
              <a:rPr lang="en-US" b="true" sz="2951">
                <a:solidFill>
                  <a:srgbClr val="FFFFFF"/>
                </a:solidFill>
                <a:latin typeface="DM Sans Bold"/>
                <a:ea typeface="DM Sans Bold"/>
                <a:cs typeface="DM Sans Bold"/>
                <a:sym typeface="DM Sans Bold"/>
              </a:rPr>
              <a:t>Risque de sur-apprentissage</a:t>
            </a:r>
          </a:p>
        </p:txBody>
      </p:sp>
      <p:grpSp>
        <p:nvGrpSpPr>
          <p:cNvPr name="Group 12" id="12"/>
          <p:cNvGrpSpPr/>
          <p:nvPr/>
        </p:nvGrpSpPr>
        <p:grpSpPr>
          <a:xfrm rot="0">
            <a:off x="2954446" y="1897982"/>
            <a:ext cx="6891816" cy="3097442"/>
            <a:chOff x="0" y="0"/>
            <a:chExt cx="1576700" cy="708629"/>
          </a:xfrm>
        </p:grpSpPr>
        <p:sp>
          <p:nvSpPr>
            <p:cNvPr name="Freeform 13" id="13"/>
            <p:cNvSpPr/>
            <p:nvPr/>
          </p:nvSpPr>
          <p:spPr>
            <a:xfrm flipH="false" flipV="false" rot="0">
              <a:off x="0" y="0"/>
              <a:ext cx="1576700" cy="708629"/>
            </a:xfrm>
            <a:custGeom>
              <a:avLst/>
              <a:gdLst/>
              <a:ahLst/>
              <a:cxnLst/>
              <a:rect r="r" b="b" t="t" l="l"/>
              <a:pathLst>
                <a:path h="708629" w="1576700">
                  <a:moveTo>
                    <a:pt x="40441" y="0"/>
                  </a:moveTo>
                  <a:lnTo>
                    <a:pt x="1536260" y="0"/>
                  </a:lnTo>
                  <a:cubicBezTo>
                    <a:pt x="1558594" y="0"/>
                    <a:pt x="1576700" y="18106"/>
                    <a:pt x="1576700" y="40441"/>
                  </a:cubicBezTo>
                  <a:lnTo>
                    <a:pt x="1576700" y="668188"/>
                  </a:lnTo>
                  <a:cubicBezTo>
                    <a:pt x="1576700" y="690523"/>
                    <a:pt x="1558594" y="708629"/>
                    <a:pt x="1536260" y="708629"/>
                  </a:cubicBezTo>
                  <a:lnTo>
                    <a:pt x="40441" y="708629"/>
                  </a:lnTo>
                  <a:cubicBezTo>
                    <a:pt x="18106" y="708629"/>
                    <a:pt x="0" y="690523"/>
                    <a:pt x="0" y="668188"/>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4" id="14"/>
            <p:cNvSpPr txBox="true"/>
            <p:nvPr/>
          </p:nvSpPr>
          <p:spPr>
            <a:xfrm>
              <a:off x="0" y="-28575"/>
              <a:ext cx="1576700" cy="737204"/>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3199481" y="1669382"/>
            <a:ext cx="6285864" cy="591076"/>
            <a:chOff x="0" y="0"/>
            <a:chExt cx="1438071" cy="135225"/>
          </a:xfrm>
        </p:grpSpPr>
        <p:sp>
          <p:nvSpPr>
            <p:cNvPr name="Freeform 16" id="16"/>
            <p:cNvSpPr/>
            <p:nvPr/>
          </p:nvSpPr>
          <p:spPr>
            <a:xfrm flipH="false" flipV="false" rot="0">
              <a:off x="0" y="0"/>
              <a:ext cx="1438071" cy="135225"/>
            </a:xfrm>
            <a:custGeom>
              <a:avLst/>
              <a:gdLst/>
              <a:ahLst/>
              <a:cxnLst/>
              <a:rect r="r" b="b" t="t" l="l"/>
              <a:pathLst>
                <a:path h="135225" w="1438071">
                  <a:moveTo>
                    <a:pt x="67613" y="0"/>
                  </a:moveTo>
                  <a:lnTo>
                    <a:pt x="1370459" y="0"/>
                  </a:lnTo>
                  <a:cubicBezTo>
                    <a:pt x="1407800" y="0"/>
                    <a:pt x="1438071" y="30271"/>
                    <a:pt x="1438071" y="67613"/>
                  </a:cubicBezTo>
                  <a:lnTo>
                    <a:pt x="1438071" y="67613"/>
                  </a:lnTo>
                  <a:cubicBezTo>
                    <a:pt x="1438071" y="85545"/>
                    <a:pt x="1430948" y="102742"/>
                    <a:pt x="1418268" y="115422"/>
                  </a:cubicBezTo>
                  <a:cubicBezTo>
                    <a:pt x="1405588" y="128102"/>
                    <a:pt x="1388391" y="135225"/>
                    <a:pt x="1370459"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17" id="17"/>
            <p:cNvSpPr txBox="true"/>
            <p:nvPr/>
          </p:nvSpPr>
          <p:spPr>
            <a:xfrm>
              <a:off x="0" y="-28575"/>
              <a:ext cx="1438071" cy="163800"/>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3692216" y="1650595"/>
            <a:ext cx="5416275"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K-Nearest Neighbors (KNN)</a:t>
            </a:r>
          </a:p>
        </p:txBody>
      </p:sp>
      <p:grpSp>
        <p:nvGrpSpPr>
          <p:cNvPr name="Group 19" id="19"/>
          <p:cNvGrpSpPr/>
          <p:nvPr/>
        </p:nvGrpSpPr>
        <p:grpSpPr>
          <a:xfrm rot="0">
            <a:off x="11668765" y="1602444"/>
            <a:ext cx="5008698" cy="591076"/>
            <a:chOff x="0" y="0"/>
            <a:chExt cx="1145883" cy="135225"/>
          </a:xfrm>
        </p:grpSpPr>
        <p:sp>
          <p:nvSpPr>
            <p:cNvPr name="Freeform 20" id="20"/>
            <p:cNvSpPr/>
            <p:nvPr/>
          </p:nvSpPr>
          <p:spPr>
            <a:xfrm flipH="false" flipV="false" rot="0">
              <a:off x="0" y="0"/>
              <a:ext cx="1145883" cy="135225"/>
            </a:xfrm>
            <a:custGeom>
              <a:avLst/>
              <a:gdLst/>
              <a:ahLst/>
              <a:cxnLst/>
              <a:rect r="r" b="b" t="t" l="l"/>
              <a:pathLst>
                <a:path h="135225" w="1145883">
                  <a:moveTo>
                    <a:pt x="67613" y="0"/>
                  </a:moveTo>
                  <a:lnTo>
                    <a:pt x="1078270" y="0"/>
                  </a:lnTo>
                  <a:cubicBezTo>
                    <a:pt x="1115612" y="0"/>
                    <a:pt x="1145883" y="30271"/>
                    <a:pt x="1145883" y="67613"/>
                  </a:cubicBezTo>
                  <a:lnTo>
                    <a:pt x="1145883" y="67613"/>
                  </a:lnTo>
                  <a:cubicBezTo>
                    <a:pt x="1145883" y="85545"/>
                    <a:pt x="1138760" y="102742"/>
                    <a:pt x="1126080" y="115422"/>
                  </a:cubicBezTo>
                  <a:cubicBezTo>
                    <a:pt x="1113400" y="128102"/>
                    <a:pt x="1096202" y="135225"/>
                    <a:pt x="1078270"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21" id="21"/>
            <p:cNvSpPr txBox="true"/>
            <p:nvPr/>
          </p:nvSpPr>
          <p:spPr>
            <a:xfrm>
              <a:off x="0" y="-28575"/>
              <a:ext cx="1145883" cy="163800"/>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12202747" y="1583657"/>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Arbre de décision</a:t>
            </a:r>
          </a:p>
        </p:txBody>
      </p:sp>
      <p:sp>
        <p:nvSpPr>
          <p:cNvPr name="TextBox 23" id="23"/>
          <p:cNvSpPr txBox="true"/>
          <p:nvPr/>
        </p:nvSpPr>
        <p:spPr>
          <a:xfrm rot="0">
            <a:off x="3230301" y="2370428"/>
            <a:ext cx="6340105" cy="206816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Méthode basée sur la similarité</a:t>
            </a:r>
          </a:p>
          <a:p>
            <a:pPr algn="ctr">
              <a:lnSpc>
                <a:spcPts val="4131"/>
              </a:lnSpc>
            </a:pPr>
            <a:r>
              <a:rPr lang="en-US" b="true" sz="2951">
                <a:solidFill>
                  <a:srgbClr val="FFFFFF"/>
                </a:solidFill>
                <a:latin typeface="DM Sans Bold"/>
                <a:ea typeface="DM Sans Bold"/>
                <a:cs typeface="DM Sans Bold"/>
                <a:sym typeface="DM Sans Bold"/>
              </a:rPr>
              <a:t>Prédiction par voisinage</a:t>
            </a:r>
          </a:p>
          <a:p>
            <a:pPr algn="ctr">
              <a:lnSpc>
                <a:spcPts val="4131"/>
              </a:lnSpc>
            </a:pPr>
            <a:r>
              <a:rPr lang="en-US" b="true" sz="2951">
                <a:solidFill>
                  <a:srgbClr val="FFFFFF"/>
                </a:solidFill>
                <a:latin typeface="DM Sans Bold"/>
                <a:ea typeface="DM Sans Bold"/>
                <a:cs typeface="DM Sans Bold"/>
                <a:sym typeface="DM Sans Bold"/>
              </a:rPr>
              <a:t>Sensibilité à l’échelle des variables</a:t>
            </a:r>
          </a:p>
          <a:p>
            <a:pPr algn="ctr">
              <a:lnSpc>
                <a:spcPts val="4131"/>
              </a:lnSpc>
            </a:pPr>
            <a:r>
              <a:rPr lang="en-US" b="true" sz="2951">
                <a:solidFill>
                  <a:srgbClr val="FFFFFF"/>
                </a:solidFill>
                <a:latin typeface="DM Sans Bold"/>
                <a:ea typeface="DM Sans Bold"/>
                <a:cs typeface="DM Sans Bold"/>
                <a:sym typeface="DM Sans Bold"/>
              </a:rPr>
              <a:t>Dépendance au choix de k</a:t>
            </a:r>
          </a:p>
        </p:txBody>
      </p:sp>
      <p:grpSp>
        <p:nvGrpSpPr>
          <p:cNvPr name="Group 24" id="24"/>
          <p:cNvGrpSpPr/>
          <p:nvPr/>
        </p:nvGrpSpPr>
        <p:grpSpPr>
          <a:xfrm rot="0">
            <a:off x="6087861" y="5554566"/>
            <a:ext cx="8085253" cy="1801711"/>
            <a:chOff x="0" y="0"/>
            <a:chExt cx="1849733" cy="412193"/>
          </a:xfrm>
        </p:grpSpPr>
        <p:sp>
          <p:nvSpPr>
            <p:cNvPr name="Freeform 25" id="25"/>
            <p:cNvSpPr/>
            <p:nvPr/>
          </p:nvSpPr>
          <p:spPr>
            <a:xfrm flipH="false" flipV="false" rot="0">
              <a:off x="0" y="0"/>
              <a:ext cx="1849733" cy="412193"/>
            </a:xfrm>
            <a:custGeom>
              <a:avLst/>
              <a:gdLst/>
              <a:ahLst/>
              <a:cxnLst/>
              <a:rect r="r" b="b" t="t" l="l"/>
              <a:pathLst>
                <a:path h="412193" w="1849733">
                  <a:moveTo>
                    <a:pt x="34471" y="0"/>
                  </a:moveTo>
                  <a:lnTo>
                    <a:pt x="1815262" y="0"/>
                  </a:lnTo>
                  <a:cubicBezTo>
                    <a:pt x="1834300" y="0"/>
                    <a:pt x="1849733" y="15433"/>
                    <a:pt x="1849733" y="34471"/>
                  </a:cubicBezTo>
                  <a:lnTo>
                    <a:pt x="1849733" y="377722"/>
                  </a:lnTo>
                  <a:cubicBezTo>
                    <a:pt x="1849733" y="386864"/>
                    <a:pt x="1846101" y="395632"/>
                    <a:pt x="1839637" y="402097"/>
                  </a:cubicBezTo>
                  <a:cubicBezTo>
                    <a:pt x="1833172" y="408561"/>
                    <a:pt x="1824404" y="412193"/>
                    <a:pt x="1815262" y="412193"/>
                  </a:cubicBezTo>
                  <a:lnTo>
                    <a:pt x="34471" y="412193"/>
                  </a:lnTo>
                  <a:cubicBezTo>
                    <a:pt x="25329" y="412193"/>
                    <a:pt x="16561" y="408561"/>
                    <a:pt x="10096" y="402097"/>
                  </a:cubicBezTo>
                  <a:cubicBezTo>
                    <a:pt x="3632" y="395632"/>
                    <a:pt x="0" y="386864"/>
                    <a:pt x="0" y="377722"/>
                  </a:cubicBezTo>
                  <a:lnTo>
                    <a:pt x="0" y="34471"/>
                  </a:lnTo>
                  <a:cubicBezTo>
                    <a:pt x="0" y="25329"/>
                    <a:pt x="3632" y="16561"/>
                    <a:pt x="10096" y="10096"/>
                  </a:cubicBezTo>
                  <a:cubicBezTo>
                    <a:pt x="16561" y="3632"/>
                    <a:pt x="25329" y="0"/>
                    <a:pt x="34471" y="0"/>
                  </a:cubicBezTo>
                  <a:close/>
                </a:path>
              </a:pathLst>
            </a:custGeom>
            <a:solidFill>
              <a:srgbClr val="000000">
                <a:alpha val="0"/>
              </a:srgbClr>
            </a:solidFill>
            <a:ln w="66675" cap="rnd">
              <a:solidFill>
                <a:srgbClr val="FFFFFF"/>
              </a:solidFill>
              <a:prstDash val="solid"/>
              <a:round/>
            </a:ln>
          </p:spPr>
        </p:sp>
        <p:sp>
          <p:nvSpPr>
            <p:cNvPr name="TextBox 26" id="26"/>
            <p:cNvSpPr txBox="true"/>
            <p:nvPr/>
          </p:nvSpPr>
          <p:spPr>
            <a:xfrm>
              <a:off x="0" y="-28575"/>
              <a:ext cx="1849733" cy="440768"/>
            </a:xfrm>
            <a:prstGeom prst="rect">
              <a:avLst/>
            </a:prstGeom>
          </p:spPr>
          <p:txBody>
            <a:bodyPr anchor="ctr" rtlCol="false" tIns="50800" lIns="50800" bIns="50800" rIns="50800"/>
            <a:lstStyle/>
            <a:p>
              <a:pPr algn="ctr">
                <a:lnSpc>
                  <a:spcPts val="2520"/>
                </a:lnSpc>
              </a:pPr>
            </a:p>
          </p:txBody>
        </p:sp>
      </p:grpSp>
      <p:grpSp>
        <p:nvGrpSpPr>
          <p:cNvPr name="Group 27" id="27"/>
          <p:cNvGrpSpPr/>
          <p:nvPr/>
        </p:nvGrpSpPr>
        <p:grpSpPr>
          <a:xfrm rot="0">
            <a:off x="6375329" y="5325966"/>
            <a:ext cx="7374369" cy="591076"/>
            <a:chOff x="0" y="0"/>
            <a:chExt cx="1687098" cy="135225"/>
          </a:xfrm>
        </p:grpSpPr>
        <p:sp>
          <p:nvSpPr>
            <p:cNvPr name="Freeform 28" id="28"/>
            <p:cNvSpPr/>
            <p:nvPr/>
          </p:nvSpPr>
          <p:spPr>
            <a:xfrm flipH="false" flipV="false" rot="0">
              <a:off x="0" y="0"/>
              <a:ext cx="1687098" cy="135225"/>
            </a:xfrm>
            <a:custGeom>
              <a:avLst/>
              <a:gdLst/>
              <a:ahLst/>
              <a:cxnLst/>
              <a:rect r="r" b="b" t="t" l="l"/>
              <a:pathLst>
                <a:path h="135225" w="1687098">
                  <a:moveTo>
                    <a:pt x="67613" y="0"/>
                  </a:moveTo>
                  <a:lnTo>
                    <a:pt x="1619486" y="0"/>
                  </a:lnTo>
                  <a:cubicBezTo>
                    <a:pt x="1637418" y="0"/>
                    <a:pt x="1654615" y="7123"/>
                    <a:pt x="1667295" y="19803"/>
                  </a:cubicBezTo>
                  <a:cubicBezTo>
                    <a:pt x="1679975" y="32483"/>
                    <a:pt x="1687098" y="49681"/>
                    <a:pt x="1687098" y="67613"/>
                  </a:cubicBezTo>
                  <a:lnTo>
                    <a:pt x="1687098" y="67613"/>
                  </a:lnTo>
                  <a:cubicBezTo>
                    <a:pt x="1687098" y="104954"/>
                    <a:pt x="1656827" y="135225"/>
                    <a:pt x="1619486"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29" id="29"/>
            <p:cNvSpPr txBox="true"/>
            <p:nvPr/>
          </p:nvSpPr>
          <p:spPr>
            <a:xfrm>
              <a:off x="0" y="-28575"/>
              <a:ext cx="1687098" cy="163800"/>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6868144" y="5307179"/>
            <a:ext cx="6524687"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Support Vector Regression (SVR)</a:t>
            </a:r>
          </a:p>
        </p:txBody>
      </p:sp>
      <p:sp>
        <p:nvSpPr>
          <p:cNvPr name="TextBox 31" id="31"/>
          <p:cNvSpPr txBox="true"/>
          <p:nvPr/>
        </p:nvSpPr>
        <p:spPr>
          <a:xfrm rot="0">
            <a:off x="6411486" y="6027012"/>
            <a:ext cx="7438003" cy="102041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Marges optimales</a:t>
            </a:r>
          </a:p>
          <a:p>
            <a:pPr algn="ctr">
              <a:lnSpc>
                <a:spcPts val="4131"/>
              </a:lnSpc>
            </a:pPr>
            <a:r>
              <a:rPr lang="en-US" b="true" sz="2951">
                <a:solidFill>
                  <a:srgbClr val="FFFFFF"/>
                </a:solidFill>
                <a:latin typeface="DM Sans Bold"/>
                <a:ea typeface="DM Sans Bold"/>
                <a:cs typeface="DM Sans Bold"/>
                <a:sym typeface="DM Sans Bold"/>
              </a:rPr>
              <a:t>Sensibilité aux hyperparamètres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2970803" y="4025052"/>
            <a:ext cx="8452442" cy="1873250"/>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Modèles ensemblistes</a:t>
            </a:r>
          </a:p>
        </p:txBody>
      </p:sp>
      <p:sp>
        <p:nvSpPr>
          <p:cNvPr name="TextBox 6" id="6"/>
          <p:cNvSpPr txBox="true"/>
          <p:nvPr/>
        </p:nvSpPr>
        <p:spPr>
          <a:xfrm rot="0">
            <a:off x="5832776" y="1080168"/>
            <a:ext cx="8614313" cy="825500"/>
          </a:xfrm>
          <a:prstGeom prst="rect">
            <a:avLst/>
          </a:prstGeom>
        </p:spPr>
        <p:txBody>
          <a:bodyPr anchor="t" rtlCol="false" tIns="0" lIns="0" bIns="0" rIns="0">
            <a:spAutoFit/>
          </a:bodyPr>
          <a:lstStyle/>
          <a:p>
            <a:pPr algn="ctr">
              <a:lnSpc>
                <a:spcPts val="6250"/>
              </a:lnSpc>
            </a:pPr>
            <a:r>
              <a:rPr lang="en-US" sz="5000" b="true">
                <a:solidFill>
                  <a:srgbClr val="FFFFFF"/>
                </a:solidFill>
                <a:latin typeface="Poppins Bold"/>
                <a:ea typeface="Poppins Bold"/>
                <a:cs typeface="Poppins Bold"/>
                <a:sym typeface="Poppins Bold"/>
              </a:rPr>
              <a:t>Modèles ensemblistes</a:t>
            </a:r>
          </a:p>
        </p:txBody>
      </p:sp>
      <p:sp>
        <p:nvSpPr>
          <p:cNvPr name="Freeform 7" id="7"/>
          <p:cNvSpPr/>
          <p:nvPr/>
        </p:nvSpPr>
        <p:spPr>
          <a:xfrm flipH="false" flipV="false" rot="0">
            <a:off x="370403" y="299929"/>
            <a:ext cx="1693828" cy="1693828"/>
          </a:xfrm>
          <a:custGeom>
            <a:avLst/>
            <a:gdLst/>
            <a:ahLst/>
            <a:cxnLst/>
            <a:rect r="r" b="b" t="t" l="l"/>
            <a:pathLst>
              <a:path h="1693828" w="1693828">
                <a:moveTo>
                  <a:pt x="0" y="0"/>
                </a:moveTo>
                <a:lnTo>
                  <a:pt x="1693829" y="0"/>
                </a:lnTo>
                <a:lnTo>
                  <a:pt x="1693829" y="1693828"/>
                </a:lnTo>
                <a:lnTo>
                  <a:pt x="0" y="16938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608503" y="4441606"/>
            <a:ext cx="6891816" cy="1632388"/>
            <a:chOff x="0" y="0"/>
            <a:chExt cx="1576700" cy="373456"/>
          </a:xfrm>
        </p:grpSpPr>
        <p:sp>
          <p:nvSpPr>
            <p:cNvPr name="Freeform 9" id="9"/>
            <p:cNvSpPr/>
            <p:nvPr/>
          </p:nvSpPr>
          <p:spPr>
            <a:xfrm flipH="false" flipV="false" rot="0">
              <a:off x="0" y="0"/>
              <a:ext cx="1576700" cy="373456"/>
            </a:xfrm>
            <a:custGeom>
              <a:avLst/>
              <a:gdLst/>
              <a:ahLst/>
              <a:cxnLst/>
              <a:rect r="r" b="b" t="t" l="l"/>
              <a:pathLst>
                <a:path h="373456" w="1576700">
                  <a:moveTo>
                    <a:pt x="40441" y="0"/>
                  </a:moveTo>
                  <a:lnTo>
                    <a:pt x="1536260" y="0"/>
                  </a:lnTo>
                  <a:cubicBezTo>
                    <a:pt x="1558594" y="0"/>
                    <a:pt x="1576700" y="18106"/>
                    <a:pt x="1576700" y="40441"/>
                  </a:cubicBezTo>
                  <a:lnTo>
                    <a:pt x="1576700" y="333015"/>
                  </a:lnTo>
                  <a:cubicBezTo>
                    <a:pt x="1576700" y="355350"/>
                    <a:pt x="1558594" y="373456"/>
                    <a:pt x="1536260" y="373456"/>
                  </a:cubicBezTo>
                  <a:lnTo>
                    <a:pt x="40441" y="373456"/>
                  </a:lnTo>
                  <a:cubicBezTo>
                    <a:pt x="18106" y="373456"/>
                    <a:pt x="0" y="355350"/>
                    <a:pt x="0" y="333015"/>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0" id="10"/>
            <p:cNvSpPr txBox="true"/>
            <p:nvPr/>
          </p:nvSpPr>
          <p:spPr>
            <a:xfrm>
              <a:off x="0" y="-28575"/>
              <a:ext cx="1576700" cy="402031"/>
            </a:xfrm>
            <a:prstGeom prst="rect">
              <a:avLst/>
            </a:prstGeom>
          </p:spPr>
          <p:txBody>
            <a:bodyPr anchor="ctr" rtlCol="false" tIns="50800" lIns="50800" bIns="50800" rIns="50800"/>
            <a:lstStyle/>
            <a:p>
              <a:pPr algn="ctr">
                <a:lnSpc>
                  <a:spcPts val="2520"/>
                </a:lnSpc>
              </a:pPr>
            </a:p>
          </p:txBody>
        </p:sp>
      </p:grpSp>
      <p:sp>
        <p:nvSpPr>
          <p:cNvPr name="TextBox 11" id="11"/>
          <p:cNvSpPr txBox="true"/>
          <p:nvPr/>
        </p:nvSpPr>
        <p:spPr>
          <a:xfrm rot="0">
            <a:off x="10768420" y="4786935"/>
            <a:ext cx="6785205" cy="1020411"/>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AdaBoost, </a:t>
            </a:r>
            <a:r>
              <a:rPr lang="en-US" b="true" sz="2951">
                <a:solidFill>
                  <a:srgbClr val="FFFFFF"/>
                </a:solidFill>
                <a:latin typeface="DM Sans Bold"/>
                <a:ea typeface="DM Sans Bold"/>
                <a:cs typeface="DM Sans Bold"/>
                <a:sym typeface="DM Sans Bold"/>
              </a:rPr>
              <a:t>Gradient Boosting, XGBoost, LightGBM, CatBoost</a:t>
            </a:r>
          </a:p>
        </p:txBody>
      </p:sp>
      <p:grpSp>
        <p:nvGrpSpPr>
          <p:cNvPr name="Group 12" id="12"/>
          <p:cNvGrpSpPr/>
          <p:nvPr/>
        </p:nvGrpSpPr>
        <p:grpSpPr>
          <a:xfrm rot="0">
            <a:off x="2942354" y="4441606"/>
            <a:ext cx="6891816" cy="1632388"/>
            <a:chOff x="0" y="0"/>
            <a:chExt cx="1576700" cy="373456"/>
          </a:xfrm>
        </p:grpSpPr>
        <p:sp>
          <p:nvSpPr>
            <p:cNvPr name="Freeform 13" id="13"/>
            <p:cNvSpPr/>
            <p:nvPr/>
          </p:nvSpPr>
          <p:spPr>
            <a:xfrm flipH="false" flipV="false" rot="0">
              <a:off x="0" y="0"/>
              <a:ext cx="1576700" cy="373456"/>
            </a:xfrm>
            <a:custGeom>
              <a:avLst/>
              <a:gdLst/>
              <a:ahLst/>
              <a:cxnLst/>
              <a:rect r="r" b="b" t="t" l="l"/>
              <a:pathLst>
                <a:path h="373456" w="1576700">
                  <a:moveTo>
                    <a:pt x="40441" y="0"/>
                  </a:moveTo>
                  <a:lnTo>
                    <a:pt x="1536260" y="0"/>
                  </a:lnTo>
                  <a:cubicBezTo>
                    <a:pt x="1558594" y="0"/>
                    <a:pt x="1576700" y="18106"/>
                    <a:pt x="1576700" y="40441"/>
                  </a:cubicBezTo>
                  <a:lnTo>
                    <a:pt x="1576700" y="333015"/>
                  </a:lnTo>
                  <a:cubicBezTo>
                    <a:pt x="1576700" y="355350"/>
                    <a:pt x="1558594" y="373456"/>
                    <a:pt x="1536260" y="373456"/>
                  </a:cubicBezTo>
                  <a:lnTo>
                    <a:pt x="40441" y="373456"/>
                  </a:lnTo>
                  <a:cubicBezTo>
                    <a:pt x="18106" y="373456"/>
                    <a:pt x="0" y="355350"/>
                    <a:pt x="0" y="333015"/>
                  </a:cubicBezTo>
                  <a:lnTo>
                    <a:pt x="0" y="40441"/>
                  </a:lnTo>
                  <a:cubicBezTo>
                    <a:pt x="0" y="18106"/>
                    <a:pt x="18106" y="0"/>
                    <a:pt x="40441" y="0"/>
                  </a:cubicBezTo>
                  <a:close/>
                </a:path>
              </a:pathLst>
            </a:custGeom>
            <a:solidFill>
              <a:srgbClr val="000000">
                <a:alpha val="0"/>
              </a:srgbClr>
            </a:solidFill>
            <a:ln w="66675" cap="rnd">
              <a:solidFill>
                <a:srgbClr val="FFFFFF"/>
              </a:solidFill>
              <a:prstDash val="solid"/>
              <a:round/>
            </a:ln>
          </p:spPr>
        </p:sp>
        <p:sp>
          <p:nvSpPr>
            <p:cNvPr name="TextBox 14" id="14"/>
            <p:cNvSpPr txBox="true"/>
            <p:nvPr/>
          </p:nvSpPr>
          <p:spPr>
            <a:xfrm>
              <a:off x="0" y="-28575"/>
              <a:ext cx="1576700" cy="402031"/>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4068117" y="4213006"/>
            <a:ext cx="4640290" cy="497729"/>
            <a:chOff x="0" y="0"/>
            <a:chExt cx="1061599" cy="113870"/>
          </a:xfrm>
        </p:grpSpPr>
        <p:sp>
          <p:nvSpPr>
            <p:cNvPr name="Freeform 16" id="16"/>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7" id="17"/>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4417895" y="4127281"/>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Bagging</a:t>
            </a:r>
          </a:p>
        </p:txBody>
      </p:sp>
      <p:grpSp>
        <p:nvGrpSpPr>
          <p:cNvPr name="Group 19" id="19"/>
          <p:cNvGrpSpPr/>
          <p:nvPr/>
        </p:nvGrpSpPr>
        <p:grpSpPr>
          <a:xfrm rot="0">
            <a:off x="11840877" y="4213006"/>
            <a:ext cx="4640290" cy="497729"/>
            <a:chOff x="0" y="0"/>
            <a:chExt cx="1061599" cy="113870"/>
          </a:xfrm>
        </p:grpSpPr>
        <p:sp>
          <p:nvSpPr>
            <p:cNvPr name="Freeform 20" id="20"/>
            <p:cNvSpPr/>
            <p:nvPr/>
          </p:nvSpPr>
          <p:spPr>
            <a:xfrm flipH="false" flipV="false" rot="0">
              <a:off x="0" y="0"/>
              <a:ext cx="1061599" cy="113870"/>
            </a:xfrm>
            <a:custGeom>
              <a:avLst/>
              <a:gdLst/>
              <a:ahLst/>
              <a:cxnLst/>
              <a:rect r="r" b="b" t="t" l="l"/>
              <a:pathLst>
                <a:path h="113870" w="1061599">
                  <a:moveTo>
                    <a:pt x="56935" y="0"/>
                  </a:moveTo>
                  <a:lnTo>
                    <a:pt x="1004665" y="0"/>
                  </a:lnTo>
                  <a:cubicBezTo>
                    <a:pt x="1019765" y="0"/>
                    <a:pt x="1034246" y="5998"/>
                    <a:pt x="1044924" y="16676"/>
                  </a:cubicBezTo>
                  <a:cubicBezTo>
                    <a:pt x="1055601" y="27353"/>
                    <a:pt x="1061599" y="41835"/>
                    <a:pt x="1061599" y="56935"/>
                  </a:cubicBezTo>
                  <a:lnTo>
                    <a:pt x="1061599" y="56935"/>
                  </a:lnTo>
                  <a:cubicBezTo>
                    <a:pt x="1061599" y="72035"/>
                    <a:pt x="1055601" y="86517"/>
                    <a:pt x="1044924" y="97194"/>
                  </a:cubicBezTo>
                  <a:cubicBezTo>
                    <a:pt x="1034246" y="107871"/>
                    <a:pt x="1019765" y="113870"/>
                    <a:pt x="1004665"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21" id="21"/>
            <p:cNvSpPr txBox="true"/>
            <p:nvPr/>
          </p:nvSpPr>
          <p:spPr>
            <a:xfrm>
              <a:off x="0" y="-28575"/>
              <a:ext cx="1061599" cy="14244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12190655" y="4127281"/>
            <a:ext cx="394073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Boosting</a:t>
            </a:r>
          </a:p>
        </p:txBody>
      </p:sp>
      <p:sp>
        <p:nvSpPr>
          <p:cNvPr name="TextBox 23" id="23"/>
          <p:cNvSpPr txBox="true"/>
          <p:nvPr/>
        </p:nvSpPr>
        <p:spPr>
          <a:xfrm rot="0">
            <a:off x="3218209" y="4914052"/>
            <a:ext cx="6340105" cy="496536"/>
          </a:xfrm>
          <a:prstGeom prst="rect">
            <a:avLst/>
          </a:prstGeom>
        </p:spPr>
        <p:txBody>
          <a:bodyPr anchor="t" rtlCol="false" tIns="0" lIns="0" bIns="0" rIns="0">
            <a:spAutoFit/>
          </a:bodyPr>
          <a:lstStyle/>
          <a:p>
            <a:pPr algn="ctr">
              <a:lnSpc>
                <a:spcPts val="4131"/>
              </a:lnSpc>
            </a:pPr>
            <a:r>
              <a:rPr lang="en-US" b="true" sz="2951">
                <a:solidFill>
                  <a:srgbClr val="FFFFFF"/>
                </a:solidFill>
                <a:latin typeface="DM Sans Bold"/>
                <a:ea typeface="DM Sans Bold"/>
                <a:cs typeface="DM Sans Bold"/>
                <a:sym typeface="DM Sans Bold"/>
              </a:rPr>
              <a:t>Random Forest</a:t>
            </a:r>
          </a:p>
        </p:txBody>
      </p:sp>
      <p:grpSp>
        <p:nvGrpSpPr>
          <p:cNvPr name="Group 24" id="24"/>
          <p:cNvGrpSpPr/>
          <p:nvPr/>
        </p:nvGrpSpPr>
        <p:grpSpPr>
          <a:xfrm rot="0">
            <a:off x="2942354" y="1905668"/>
            <a:ext cx="14863239" cy="1298725"/>
            <a:chOff x="0" y="0"/>
            <a:chExt cx="3400392" cy="297120"/>
          </a:xfrm>
        </p:grpSpPr>
        <p:sp>
          <p:nvSpPr>
            <p:cNvPr name="Freeform 25" id="25"/>
            <p:cNvSpPr/>
            <p:nvPr/>
          </p:nvSpPr>
          <p:spPr>
            <a:xfrm flipH="false" flipV="false" rot="0">
              <a:off x="0" y="0"/>
              <a:ext cx="3400392" cy="297120"/>
            </a:xfrm>
            <a:custGeom>
              <a:avLst/>
              <a:gdLst/>
              <a:ahLst/>
              <a:cxnLst/>
              <a:rect r="r" b="b" t="t" l="l"/>
              <a:pathLst>
                <a:path h="297120" w="3400392">
                  <a:moveTo>
                    <a:pt x="52088" y="0"/>
                  </a:moveTo>
                  <a:lnTo>
                    <a:pt x="3348305" y="0"/>
                  </a:lnTo>
                  <a:cubicBezTo>
                    <a:pt x="3362119" y="0"/>
                    <a:pt x="3375368" y="5488"/>
                    <a:pt x="3385136" y="15256"/>
                  </a:cubicBezTo>
                  <a:cubicBezTo>
                    <a:pt x="3394904" y="25024"/>
                    <a:pt x="3400392" y="38273"/>
                    <a:pt x="3400392" y="52088"/>
                  </a:cubicBezTo>
                  <a:lnTo>
                    <a:pt x="3400392" y="245033"/>
                  </a:lnTo>
                  <a:cubicBezTo>
                    <a:pt x="3400392" y="258847"/>
                    <a:pt x="3394904" y="272096"/>
                    <a:pt x="3385136" y="281864"/>
                  </a:cubicBezTo>
                  <a:cubicBezTo>
                    <a:pt x="3375368" y="291633"/>
                    <a:pt x="3362119" y="297120"/>
                    <a:pt x="3348305" y="297120"/>
                  </a:cubicBezTo>
                  <a:lnTo>
                    <a:pt x="52088" y="297120"/>
                  </a:lnTo>
                  <a:cubicBezTo>
                    <a:pt x="38273" y="297120"/>
                    <a:pt x="25024" y="291633"/>
                    <a:pt x="15256" y="281864"/>
                  </a:cubicBezTo>
                  <a:cubicBezTo>
                    <a:pt x="5488" y="272096"/>
                    <a:pt x="0" y="258847"/>
                    <a:pt x="0" y="245033"/>
                  </a:cubicBezTo>
                  <a:lnTo>
                    <a:pt x="0" y="52088"/>
                  </a:lnTo>
                  <a:cubicBezTo>
                    <a:pt x="0" y="38273"/>
                    <a:pt x="5488" y="25024"/>
                    <a:pt x="15256" y="15256"/>
                  </a:cubicBezTo>
                  <a:cubicBezTo>
                    <a:pt x="25024" y="5488"/>
                    <a:pt x="38273" y="0"/>
                    <a:pt x="52088" y="0"/>
                  </a:cubicBezTo>
                  <a:close/>
                </a:path>
              </a:pathLst>
            </a:custGeom>
            <a:solidFill>
              <a:srgbClr val="FFFFFF"/>
            </a:solidFill>
          </p:spPr>
        </p:sp>
        <p:sp>
          <p:nvSpPr>
            <p:cNvPr name="TextBox 26" id="26"/>
            <p:cNvSpPr txBox="true"/>
            <p:nvPr/>
          </p:nvSpPr>
          <p:spPr>
            <a:xfrm>
              <a:off x="0" y="-28575"/>
              <a:ext cx="3400392" cy="325695"/>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3482037" y="1978502"/>
            <a:ext cx="13783872" cy="1020411"/>
          </a:xfrm>
          <a:prstGeom prst="rect">
            <a:avLst/>
          </a:prstGeom>
        </p:spPr>
        <p:txBody>
          <a:bodyPr anchor="t" rtlCol="false" tIns="0" lIns="0" bIns="0" rIns="0">
            <a:spAutoFit/>
          </a:bodyPr>
          <a:lstStyle/>
          <a:p>
            <a:pPr algn="ctr">
              <a:lnSpc>
                <a:spcPts val="4131"/>
              </a:lnSpc>
            </a:pPr>
            <a:r>
              <a:rPr lang="en-US" sz="2951" b="true">
                <a:solidFill>
                  <a:srgbClr val="0B4B49"/>
                </a:solidFill>
                <a:latin typeface="DM Sans Bold"/>
                <a:ea typeface="DM Sans Bold"/>
                <a:cs typeface="DM Sans Bold"/>
                <a:sym typeface="DM Sans Bold"/>
              </a:rPr>
              <a:t>Principe général:  </a:t>
            </a:r>
            <a:r>
              <a:rPr lang="en-US" sz="2951" b="true">
                <a:solidFill>
                  <a:srgbClr val="0B4B49"/>
                </a:solidFill>
                <a:latin typeface="DM Sans Bold"/>
                <a:ea typeface="DM Sans Bold"/>
                <a:cs typeface="DM Sans Bold"/>
                <a:sym typeface="DM Sans Bold"/>
              </a:rPr>
              <a:t>Combinaison de plusieurs modèles et donc réduction du biais et/ou de la variance et a</a:t>
            </a:r>
            <a:r>
              <a:rPr lang="en-US" sz="2951" b="true">
                <a:solidFill>
                  <a:srgbClr val="0B4B49"/>
                </a:solidFill>
                <a:latin typeface="DM Sans Bold"/>
                <a:ea typeface="DM Sans Bold"/>
                <a:cs typeface="DM Sans Bold"/>
                <a:sym typeface="DM Sans Bold"/>
              </a:rPr>
              <a:t>mélioration de la généralisation</a:t>
            </a:r>
          </a:p>
        </p:txBody>
      </p:sp>
      <p:sp>
        <p:nvSpPr>
          <p:cNvPr name="TextBox 28" id="28"/>
          <p:cNvSpPr txBox="true"/>
          <p:nvPr/>
        </p:nvSpPr>
        <p:spPr>
          <a:xfrm rot="0">
            <a:off x="3218209" y="6093044"/>
            <a:ext cx="1381969" cy="3321050"/>
          </a:xfrm>
          <a:prstGeom prst="rect">
            <a:avLst/>
          </a:prstGeom>
        </p:spPr>
        <p:txBody>
          <a:bodyPr anchor="t" rtlCol="false" tIns="0" lIns="0" bIns="0" rIns="0">
            <a:spAutoFit/>
          </a:bodyPr>
          <a:lstStyle/>
          <a:p>
            <a:pPr algn="l">
              <a:lnSpc>
                <a:spcPts val="25000"/>
              </a:lnSpc>
            </a:pPr>
            <a:r>
              <a:rPr lang="en-US" sz="20000" b="true">
                <a:solidFill>
                  <a:srgbClr val="FFFFFF"/>
                </a:solidFill>
                <a:latin typeface="Poppins Bold"/>
                <a:ea typeface="Poppins Bold"/>
                <a:cs typeface="Poppins Bold"/>
                <a:sym typeface="Poppins Bold"/>
              </a:rPr>
              <a:t>4</a:t>
            </a:r>
          </a:p>
        </p:txBody>
      </p:sp>
      <p:sp>
        <p:nvSpPr>
          <p:cNvPr name="TextBox 29" id="29"/>
          <p:cNvSpPr txBox="true"/>
          <p:nvPr/>
        </p:nvSpPr>
        <p:spPr>
          <a:xfrm rot="0">
            <a:off x="2205347" y="8588594"/>
            <a:ext cx="3725538" cy="825500"/>
          </a:xfrm>
          <a:prstGeom prst="rect">
            <a:avLst/>
          </a:prstGeom>
        </p:spPr>
        <p:txBody>
          <a:bodyPr anchor="t" rtlCol="false" tIns="0" lIns="0" bIns="0" rIns="0">
            <a:spAutoFit/>
          </a:bodyPr>
          <a:lstStyle/>
          <a:p>
            <a:pPr algn="ctr">
              <a:lnSpc>
                <a:spcPts val="6250"/>
              </a:lnSpc>
            </a:pPr>
            <a:r>
              <a:rPr lang="en-US" sz="5000" b="true">
                <a:solidFill>
                  <a:srgbClr val="FFFFFF"/>
                </a:solidFill>
                <a:latin typeface="Poppins Bold"/>
                <a:ea typeface="Poppins Bold"/>
                <a:cs typeface="Poppins Bold"/>
                <a:sym typeface="Poppins Bold"/>
              </a:rPr>
              <a:t>scénarios</a:t>
            </a:r>
          </a:p>
        </p:txBody>
      </p:sp>
      <p:sp>
        <p:nvSpPr>
          <p:cNvPr name="TextBox 30" id="30"/>
          <p:cNvSpPr txBox="true"/>
          <p:nvPr/>
        </p:nvSpPr>
        <p:spPr>
          <a:xfrm rot="0">
            <a:off x="4417895" y="6531194"/>
            <a:ext cx="13783872" cy="2124075"/>
          </a:xfrm>
          <a:prstGeom prst="rect">
            <a:avLst/>
          </a:prstGeom>
        </p:spPr>
        <p:txBody>
          <a:bodyPr anchor="t" rtlCol="false" tIns="0" lIns="0" bIns="0" rIns="0">
            <a:spAutoFit/>
          </a:bodyPr>
          <a:lstStyle/>
          <a:p>
            <a:pPr algn="r">
              <a:lnSpc>
                <a:spcPts val="4200"/>
              </a:lnSpc>
            </a:pPr>
            <a:r>
              <a:rPr lang="en-US" b="true" sz="3000">
                <a:solidFill>
                  <a:srgbClr val="FFFFFF"/>
                </a:solidFill>
                <a:latin typeface="DM Sans Bold"/>
                <a:ea typeface="DM Sans Bold"/>
                <a:cs typeface="DM Sans Bold"/>
                <a:sym typeface="DM Sans Bold"/>
              </a:rPr>
              <a:t>Scénario 1 : charges + One-Hot Encoding</a:t>
            </a:r>
          </a:p>
          <a:p>
            <a:pPr algn="r">
              <a:lnSpc>
                <a:spcPts val="4200"/>
              </a:lnSpc>
            </a:pPr>
            <a:r>
              <a:rPr lang="en-US" b="true" sz="3000">
                <a:solidFill>
                  <a:srgbClr val="FFFFFF"/>
                </a:solidFill>
                <a:latin typeface="DM Sans Bold"/>
                <a:ea typeface="DM Sans Bold"/>
                <a:cs typeface="DM Sans Bold"/>
                <a:sym typeface="DM Sans Bold"/>
              </a:rPr>
              <a:t>Scénario 2 : log1p(charges) + One-Hot Encoding</a:t>
            </a:r>
          </a:p>
          <a:p>
            <a:pPr algn="r">
              <a:lnSpc>
                <a:spcPts val="4200"/>
              </a:lnSpc>
            </a:pPr>
            <a:r>
              <a:rPr lang="en-US" b="true" sz="3000">
                <a:solidFill>
                  <a:srgbClr val="FFFFFF"/>
                </a:solidFill>
                <a:latin typeface="DM Sans Bold"/>
                <a:ea typeface="DM Sans Bold"/>
                <a:cs typeface="DM Sans Bold"/>
                <a:sym typeface="DM Sans Bold"/>
              </a:rPr>
              <a:t>Scénario 3 : charges + traitement natif des variables catégorielles</a:t>
            </a:r>
          </a:p>
          <a:p>
            <a:pPr algn="r">
              <a:lnSpc>
                <a:spcPts val="4200"/>
              </a:lnSpc>
            </a:pPr>
            <a:r>
              <a:rPr lang="en-US" b="true" sz="3000">
                <a:solidFill>
                  <a:srgbClr val="FFFFFF"/>
                </a:solidFill>
                <a:latin typeface="DM Sans Bold"/>
                <a:ea typeface="DM Sans Bold"/>
                <a:cs typeface="DM Sans Bold"/>
                <a:sym typeface="DM Sans Bold"/>
              </a:rPr>
              <a:t>Scénario 4 : log1charges) + traitement natif des variables catégorielles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3880330"/>
            <a:ext cx="10649880" cy="3603683"/>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Résultats et comparaison des modèles</a:t>
            </a:r>
          </a:p>
        </p:txBody>
      </p:sp>
      <p:sp>
        <p:nvSpPr>
          <p:cNvPr name="Freeform 7" id="7"/>
          <p:cNvSpPr/>
          <p:nvPr/>
        </p:nvSpPr>
        <p:spPr>
          <a:xfrm flipH="false" flipV="false" rot="0">
            <a:off x="13129011" y="3086100"/>
            <a:ext cx="4130289" cy="4114800"/>
          </a:xfrm>
          <a:custGeom>
            <a:avLst/>
            <a:gdLst/>
            <a:ahLst/>
            <a:cxnLst/>
            <a:rect r="r" b="b" t="t" l="l"/>
            <a:pathLst>
              <a:path h="4114800" w="4130289">
                <a:moveTo>
                  <a:pt x="0" y="0"/>
                </a:moveTo>
                <a:lnTo>
                  <a:pt x="4130289" y="0"/>
                </a:lnTo>
                <a:lnTo>
                  <a:pt x="413028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5</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7916439" y="-7883823"/>
            <a:ext cx="2463582" cy="18279540"/>
            <a:chOff x="0" y="0"/>
            <a:chExt cx="648845" cy="4814364"/>
          </a:xfrm>
        </p:grpSpPr>
        <p:sp>
          <p:nvSpPr>
            <p:cNvPr name="Freeform 3" id="3"/>
            <p:cNvSpPr/>
            <p:nvPr/>
          </p:nvSpPr>
          <p:spPr>
            <a:xfrm flipH="false" flipV="false" rot="0">
              <a:off x="0" y="0"/>
              <a:ext cx="648845" cy="4814364"/>
            </a:xfrm>
            <a:custGeom>
              <a:avLst/>
              <a:gdLst/>
              <a:ahLst/>
              <a:cxnLst/>
              <a:rect r="r" b="b" t="t" l="l"/>
              <a:pathLst>
                <a:path h="4814364" w="648845">
                  <a:moveTo>
                    <a:pt x="0" y="0"/>
                  </a:moveTo>
                  <a:lnTo>
                    <a:pt x="648845" y="0"/>
                  </a:lnTo>
                  <a:lnTo>
                    <a:pt x="648845" y="4814364"/>
                  </a:lnTo>
                  <a:lnTo>
                    <a:pt x="0" y="4814364"/>
                  </a:lnTo>
                  <a:close/>
                </a:path>
              </a:pathLst>
            </a:custGeom>
            <a:solidFill>
              <a:srgbClr val="FFFFFF"/>
            </a:solidFill>
          </p:spPr>
        </p:sp>
        <p:sp>
          <p:nvSpPr>
            <p:cNvPr name="TextBox 4" id="4"/>
            <p:cNvSpPr txBox="true"/>
            <p:nvPr/>
          </p:nvSpPr>
          <p:spPr>
            <a:xfrm>
              <a:off x="0" y="0"/>
              <a:ext cx="648845" cy="4814364"/>
            </a:xfrm>
            <a:prstGeom prst="rect">
              <a:avLst/>
            </a:prstGeom>
          </p:spPr>
          <p:txBody>
            <a:bodyPr anchor="ctr" rtlCol="false" tIns="50800" lIns="50800" bIns="50800" rIns="50800"/>
            <a:lstStyle/>
            <a:p>
              <a:pPr algn="ctr">
                <a:lnSpc>
                  <a:spcPts val="2729"/>
                </a:lnSpc>
              </a:pPr>
            </a:p>
          </p:txBody>
        </p:sp>
      </p:grpSp>
      <p:graphicFrame>
        <p:nvGraphicFramePr>
          <p:cNvPr name="Object 5" id="5"/>
          <p:cNvGraphicFramePr/>
          <p:nvPr/>
        </p:nvGraphicFramePr>
        <p:xfrm>
          <a:off x="72651" y="838200"/>
          <a:ext cx="16230600" cy="5838933"/>
        </p:xfrm>
        <a:graphic>
          <a:graphicData uri="http://schemas.openxmlformats.org/presentationml/2006/ole">
            <p:oleObj imgW="19469100" imgH="908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127139" y="130174"/>
            <a:ext cx="18289063" cy="708026"/>
          </a:xfrm>
          <a:prstGeom prst="rect">
            <a:avLst/>
          </a:prstGeom>
        </p:spPr>
        <p:txBody>
          <a:bodyPr anchor="t" rtlCol="false" tIns="0" lIns="0" bIns="0" rIns="0">
            <a:spAutoFit/>
          </a:bodyPr>
          <a:lstStyle/>
          <a:p>
            <a:pPr algn="ctr">
              <a:lnSpc>
                <a:spcPts val="5000"/>
              </a:lnSpc>
            </a:pPr>
            <a:r>
              <a:rPr lang="en-US" sz="5000" b="true">
                <a:solidFill>
                  <a:srgbClr val="0B4B49"/>
                </a:solidFill>
                <a:latin typeface="Poppins Bold"/>
                <a:ea typeface="Poppins Bold"/>
                <a:cs typeface="Poppins Bold"/>
                <a:sym typeface="Poppins Bold"/>
              </a:rPr>
              <a:t>Modèles linéaires et non linéaires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8683605" y="-8650989"/>
            <a:ext cx="929250" cy="18279540"/>
            <a:chOff x="0" y="0"/>
            <a:chExt cx="244741" cy="4814364"/>
          </a:xfrm>
        </p:grpSpPr>
        <p:sp>
          <p:nvSpPr>
            <p:cNvPr name="Freeform 3" id="3"/>
            <p:cNvSpPr/>
            <p:nvPr/>
          </p:nvSpPr>
          <p:spPr>
            <a:xfrm flipH="false" flipV="false" rot="0">
              <a:off x="0" y="0"/>
              <a:ext cx="244741" cy="4814364"/>
            </a:xfrm>
            <a:custGeom>
              <a:avLst/>
              <a:gdLst/>
              <a:ahLst/>
              <a:cxnLst/>
              <a:rect r="r" b="b" t="t" l="l"/>
              <a:pathLst>
                <a:path h="4814364" w="244741">
                  <a:moveTo>
                    <a:pt x="0" y="0"/>
                  </a:moveTo>
                  <a:lnTo>
                    <a:pt x="244741" y="0"/>
                  </a:lnTo>
                  <a:lnTo>
                    <a:pt x="244741" y="4814364"/>
                  </a:lnTo>
                  <a:lnTo>
                    <a:pt x="0" y="4814364"/>
                  </a:lnTo>
                  <a:close/>
                </a:path>
              </a:pathLst>
            </a:custGeom>
            <a:solidFill>
              <a:srgbClr val="FFFFFF"/>
            </a:solidFill>
          </p:spPr>
        </p:sp>
        <p:sp>
          <p:nvSpPr>
            <p:cNvPr name="TextBox 4" id="4"/>
            <p:cNvSpPr txBox="true"/>
            <p:nvPr/>
          </p:nvSpPr>
          <p:spPr>
            <a:xfrm>
              <a:off x="0" y="0"/>
              <a:ext cx="244741" cy="4814364"/>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0">
            <a:off x="3887343" y="1028700"/>
            <a:ext cx="10521775" cy="493155"/>
            <a:chOff x="0" y="0"/>
            <a:chExt cx="2231658" cy="104598"/>
          </a:xfrm>
        </p:grpSpPr>
        <p:sp>
          <p:nvSpPr>
            <p:cNvPr name="Freeform 6" id="6"/>
            <p:cNvSpPr/>
            <p:nvPr/>
          </p:nvSpPr>
          <p:spPr>
            <a:xfrm flipH="false" flipV="false" rot="0">
              <a:off x="0" y="0"/>
              <a:ext cx="2231658" cy="104598"/>
            </a:xfrm>
            <a:custGeom>
              <a:avLst/>
              <a:gdLst/>
              <a:ahLst/>
              <a:cxnLst/>
              <a:rect r="r" b="b" t="t" l="l"/>
              <a:pathLst>
                <a:path h="104598" w="2231658">
                  <a:moveTo>
                    <a:pt x="52299" y="0"/>
                  </a:moveTo>
                  <a:lnTo>
                    <a:pt x="2179359" y="0"/>
                  </a:lnTo>
                  <a:cubicBezTo>
                    <a:pt x="2208243" y="0"/>
                    <a:pt x="2231658" y="23415"/>
                    <a:pt x="2231658" y="52299"/>
                  </a:cubicBezTo>
                  <a:lnTo>
                    <a:pt x="2231658" y="52299"/>
                  </a:lnTo>
                  <a:cubicBezTo>
                    <a:pt x="2231658" y="81183"/>
                    <a:pt x="2208243" y="104598"/>
                    <a:pt x="2179359" y="104598"/>
                  </a:cubicBezTo>
                  <a:lnTo>
                    <a:pt x="52299" y="104598"/>
                  </a:lnTo>
                  <a:cubicBezTo>
                    <a:pt x="23415" y="104598"/>
                    <a:pt x="0" y="81183"/>
                    <a:pt x="0" y="52299"/>
                  </a:cubicBezTo>
                  <a:lnTo>
                    <a:pt x="0" y="52299"/>
                  </a:lnTo>
                  <a:cubicBezTo>
                    <a:pt x="0" y="23415"/>
                    <a:pt x="23415" y="0"/>
                    <a:pt x="52299" y="0"/>
                  </a:cubicBezTo>
                  <a:close/>
                </a:path>
              </a:pathLst>
            </a:custGeom>
            <a:solidFill>
              <a:srgbClr val="9BDBC7"/>
            </a:solidFill>
          </p:spPr>
        </p:sp>
        <p:sp>
          <p:nvSpPr>
            <p:cNvPr name="TextBox 7" id="7"/>
            <p:cNvSpPr txBox="true"/>
            <p:nvPr/>
          </p:nvSpPr>
          <p:spPr>
            <a:xfrm>
              <a:off x="0" y="-28575"/>
              <a:ext cx="2231658" cy="133173"/>
            </a:xfrm>
            <a:prstGeom prst="rect">
              <a:avLst/>
            </a:prstGeom>
          </p:spPr>
          <p:txBody>
            <a:bodyPr anchor="ctr" rtlCol="false" tIns="50800" lIns="50800" bIns="50800" rIns="50800"/>
            <a:lstStyle/>
            <a:p>
              <a:pPr algn="ctr">
                <a:lnSpc>
                  <a:spcPts val="2520"/>
                </a:lnSpc>
              </a:pPr>
            </a:p>
          </p:txBody>
        </p:sp>
      </p:grpSp>
      <p:graphicFrame>
        <p:nvGraphicFramePr>
          <p:cNvPr name="Object 8" id="8"/>
          <p:cNvGraphicFramePr/>
          <p:nvPr/>
        </p:nvGraphicFramePr>
        <p:xfrm>
          <a:off x="1433688" y="3209350"/>
          <a:ext cx="3771900" cy="8172450"/>
        </p:xfrm>
        <a:graphic>
          <a:graphicData uri="http://schemas.openxmlformats.org/presentationml/2006/ole">
            <p:oleObj imgW="5410200" imgH="9804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9" id="9"/>
          <p:cNvSpPr txBox="true"/>
          <p:nvPr/>
        </p:nvSpPr>
        <p:spPr>
          <a:xfrm rot="0">
            <a:off x="4480497" y="933450"/>
            <a:ext cx="9327006" cy="588405"/>
          </a:xfrm>
          <a:prstGeom prst="rect">
            <a:avLst/>
          </a:prstGeom>
        </p:spPr>
        <p:txBody>
          <a:bodyPr anchor="t" rtlCol="false" tIns="0" lIns="0" bIns="0" rIns="0">
            <a:spAutoFit/>
          </a:bodyPr>
          <a:lstStyle/>
          <a:p>
            <a:pPr algn="ctr">
              <a:lnSpc>
                <a:spcPts val="4530"/>
              </a:lnSpc>
              <a:spcBef>
                <a:spcPct val="0"/>
              </a:spcBef>
            </a:pPr>
            <a:r>
              <a:rPr lang="en-US" b="true" sz="3235">
                <a:solidFill>
                  <a:srgbClr val="010B40"/>
                </a:solidFill>
                <a:latin typeface="Poppins Semi-Bold"/>
                <a:ea typeface="Poppins Semi-Bold"/>
                <a:cs typeface="Poppins Semi-Bold"/>
                <a:sym typeface="Poppins Semi-Bold"/>
              </a:rPr>
              <a:t>Hyperparamètres optimisés</a:t>
            </a:r>
          </a:p>
        </p:txBody>
      </p:sp>
      <p:sp>
        <p:nvSpPr>
          <p:cNvPr name="TextBox 10" id="10"/>
          <p:cNvSpPr txBox="true"/>
          <p:nvPr/>
        </p:nvSpPr>
        <p:spPr>
          <a:xfrm rot="0">
            <a:off x="-127139" y="1655205"/>
            <a:ext cx="18415139" cy="1563370"/>
          </a:xfrm>
          <a:prstGeom prst="rect">
            <a:avLst/>
          </a:prstGeom>
        </p:spPr>
        <p:txBody>
          <a:bodyPr anchor="t" rtlCol="false" tIns="0" lIns="0" bIns="0" rIns="0">
            <a:spAutoFit/>
          </a:bodyPr>
          <a:lstStyle/>
          <a:p>
            <a:pPr algn="ctr">
              <a:lnSpc>
                <a:spcPts val="3079"/>
              </a:lnSpc>
            </a:pPr>
            <a:r>
              <a:rPr lang="en-US" sz="2199" b="true">
                <a:solidFill>
                  <a:srgbClr val="FFFFFF"/>
                </a:solidFill>
                <a:latin typeface="Poppins Semi-Bold"/>
                <a:ea typeface="Poppins Semi-Bold"/>
                <a:cs typeface="Poppins Semi-Bold"/>
                <a:sym typeface="Poppins Semi-Bold"/>
              </a:rPr>
              <a:t>Les modèles arborescents, en particulier le Random Forest avec transformation logarithmique, offrent les meilleures performances, avec un R² test ≈ 0,84 et un RMSE test ≈ 4 840, traduisant une bonne capacité de généralisation.</a:t>
            </a:r>
          </a:p>
          <a:p>
            <a:pPr algn="ctr">
              <a:lnSpc>
                <a:spcPts val="3079"/>
              </a:lnSpc>
              <a:spcBef>
                <a:spcPct val="0"/>
              </a:spcBef>
            </a:pPr>
            <a:r>
              <a:rPr lang="en-US" b="true" sz="2199">
                <a:solidFill>
                  <a:srgbClr val="FFFFFF"/>
                </a:solidFill>
                <a:latin typeface="Poppins Semi-Bold"/>
                <a:ea typeface="Poppins Semi-Bold"/>
                <a:cs typeface="Poppins Semi-Bold"/>
                <a:sym typeface="Poppins Semi-Bold"/>
              </a:rPr>
              <a:t> Les modèles linéaires (Ridge, Lasso, ElasticNet) présentent des performances nettement inférieures, tandis que le SVR reste peu adapté à la complexité des données.</a:t>
            </a:r>
          </a:p>
        </p:txBody>
      </p:sp>
      <p:sp>
        <p:nvSpPr>
          <p:cNvPr name="TextBox 11" id="11"/>
          <p:cNvSpPr txBox="true"/>
          <p:nvPr/>
        </p:nvSpPr>
        <p:spPr>
          <a:xfrm rot="0">
            <a:off x="-127139" y="130174"/>
            <a:ext cx="18289063" cy="708026"/>
          </a:xfrm>
          <a:prstGeom prst="rect">
            <a:avLst/>
          </a:prstGeom>
        </p:spPr>
        <p:txBody>
          <a:bodyPr anchor="t" rtlCol="false" tIns="0" lIns="0" bIns="0" rIns="0">
            <a:spAutoFit/>
          </a:bodyPr>
          <a:lstStyle/>
          <a:p>
            <a:pPr algn="ctr">
              <a:lnSpc>
                <a:spcPts val="5000"/>
              </a:lnSpc>
            </a:pPr>
            <a:r>
              <a:rPr lang="en-US" sz="5000" b="true">
                <a:solidFill>
                  <a:srgbClr val="0B4B49"/>
                </a:solidFill>
                <a:latin typeface="Poppins Bold"/>
                <a:ea typeface="Poppins Bold"/>
                <a:cs typeface="Poppins Bold"/>
                <a:sym typeface="Poppins Bold"/>
              </a:rPr>
              <a:t>Modèles linéaires et non linéaires</a:t>
            </a:r>
          </a:p>
        </p:txBody>
      </p:sp>
    </p:spTree>
  </p:cSld>
  <p:clrMapOvr>
    <a:masterClrMapping/>
  </p:clrMapOvr>
</p:sld>
</file>

<file path=ppt/slides/slide21.xml><?xml version="1.0" encoding="utf-8"?>
<p:sld xmlns:p="http://schemas.openxmlformats.org/presentationml/2006/main" xmlns:a="http://schemas.openxmlformats.org/drawingml/2006/main">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8645958" y="-8613342"/>
            <a:ext cx="1004544" cy="18279540"/>
            <a:chOff x="0" y="0"/>
            <a:chExt cx="264571" cy="4814364"/>
          </a:xfrm>
        </p:grpSpPr>
        <p:sp>
          <p:nvSpPr>
            <p:cNvPr name="Freeform 3" id="3"/>
            <p:cNvSpPr/>
            <p:nvPr/>
          </p:nvSpPr>
          <p:spPr>
            <a:xfrm flipH="false" flipV="false" rot="0">
              <a:off x="0" y="0"/>
              <a:ext cx="264571" cy="4814364"/>
            </a:xfrm>
            <a:custGeom>
              <a:avLst/>
              <a:gdLst/>
              <a:ahLst/>
              <a:cxnLst/>
              <a:rect r="r" b="b" t="t" l="l"/>
              <a:pathLst>
                <a:path h="4814364" w="264571">
                  <a:moveTo>
                    <a:pt x="0" y="0"/>
                  </a:moveTo>
                  <a:lnTo>
                    <a:pt x="264571" y="0"/>
                  </a:lnTo>
                  <a:lnTo>
                    <a:pt x="264571" y="4814364"/>
                  </a:lnTo>
                  <a:lnTo>
                    <a:pt x="0" y="4814364"/>
                  </a:lnTo>
                  <a:close/>
                </a:path>
              </a:pathLst>
            </a:custGeom>
            <a:solidFill>
              <a:srgbClr val="FFFFFF"/>
            </a:solidFill>
          </p:spPr>
        </p:sp>
        <p:sp>
          <p:nvSpPr>
            <p:cNvPr name="TextBox 4" id="4"/>
            <p:cNvSpPr txBox="true"/>
            <p:nvPr/>
          </p:nvSpPr>
          <p:spPr>
            <a:xfrm>
              <a:off x="0" y="0"/>
              <a:ext cx="264571" cy="4814364"/>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0">
            <a:off x="8460" y="130175"/>
            <a:ext cx="18289063" cy="987425"/>
          </a:xfrm>
          <a:prstGeom prst="rect">
            <a:avLst/>
          </a:prstGeom>
        </p:spPr>
        <p:txBody>
          <a:bodyPr anchor="t" rtlCol="false" tIns="0" lIns="0" bIns="0" rIns="0">
            <a:spAutoFit/>
          </a:bodyPr>
          <a:lstStyle/>
          <a:p>
            <a:pPr algn="ctr">
              <a:lnSpc>
                <a:spcPts val="6999"/>
              </a:lnSpc>
            </a:pPr>
            <a:r>
              <a:rPr lang="en-US" sz="6999" b="true">
                <a:solidFill>
                  <a:srgbClr val="0B4B49"/>
                </a:solidFill>
                <a:latin typeface="Poppins Bold"/>
                <a:ea typeface="Poppins Bold"/>
                <a:cs typeface="Poppins Bold"/>
                <a:sym typeface="Poppins Bold"/>
              </a:rPr>
              <a:t>Modèles ensemblistes</a:t>
            </a:r>
          </a:p>
        </p:txBody>
      </p:sp>
      <p:grpSp>
        <p:nvGrpSpPr>
          <p:cNvPr name="Group 6" id="6"/>
          <p:cNvGrpSpPr/>
          <p:nvPr/>
        </p:nvGrpSpPr>
        <p:grpSpPr>
          <a:xfrm rot="0">
            <a:off x="544077" y="1519960"/>
            <a:ext cx="8059799" cy="3097442"/>
            <a:chOff x="0" y="0"/>
            <a:chExt cx="1843910" cy="708629"/>
          </a:xfrm>
        </p:grpSpPr>
        <p:sp>
          <p:nvSpPr>
            <p:cNvPr name="Freeform 7" id="7"/>
            <p:cNvSpPr/>
            <p:nvPr/>
          </p:nvSpPr>
          <p:spPr>
            <a:xfrm flipH="false" flipV="false" rot="0">
              <a:off x="0" y="0"/>
              <a:ext cx="1843910" cy="708629"/>
            </a:xfrm>
            <a:custGeom>
              <a:avLst/>
              <a:gdLst/>
              <a:ahLst/>
              <a:cxnLst/>
              <a:rect r="r" b="b" t="t" l="l"/>
              <a:pathLst>
                <a:path h="708629" w="1843910">
                  <a:moveTo>
                    <a:pt x="34580" y="0"/>
                  </a:moveTo>
                  <a:lnTo>
                    <a:pt x="1809330" y="0"/>
                  </a:lnTo>
                  <a:cubicBezTo>
                    <a:pt x="1828428" y="0"/>
                    <a:pt x="1843910" y="15482"/>
                    <a:pt x="1843910" y="34580"/>
                  </a:cubicBezTo>
                  <a:lnTo>
                    <a:pt x="1843910" y="674049"/>
                  </a:lnTo>
                  <a:cubicBezTo>
                    <a:pt x="1843910" y="683220"/>
                    <a:pt x="1840267" y="692015"/>
                    <a:pt x="1833782" y="698500"/>
                  </a:cubicBezTo>
                  <a:cubicBezTo>
                    <a:pt x="1827297" y="704986"/>
                    <a:pt x="1818501" y="708629"/>
                    <a:pt x="1809330" y="708629"/>
                  </a:cubicBezTo>
                  <a:lnTo>
                    <a:pt x="34580" y="708629"/>
                  </a:lnTo>
                  <a:cubicBezTo>
                    <a:pt x="15482" y="708629"/>
                    <a:pt x="0" y="693147"/>
                    <a:pt x="0" y="674049"/>
                  </a:cubicBezTo>
                  <a:lnTo>
                    <a:pt x="0" y="34580"/>
                  </a:lnTo>
                  <a:cubicBezTo>
                    <a:pt x="0" y="15482"/>
                    <a:pt x="15482" y="0"/>
                    <a:pt x="34580" y="0"/>
                  </a:cubicBezTo>
                  <a:close/>
                </a:path>
              </a:pathLst>
            </a:custGeom>
            <a:solidFill>
              <a:srgbClr val="000000">
                <a:alpha val="0"/>
              </a:srgbClr>
            </a:solidFill>
            <a:ln w="66675" cap="rnd">
              <a:solidFill>
                <a:srgbClr val="FFFFFF"/>
              </a:solidFill>
              <a:prstDash val="solid"/>
              <a:round/>
            </a:ln>
          </p:spPr>
        </p:sp>
        <p:sp>
          <p:nvSpPr>
            <p:cNvPr name="TextBox 8" id="8"/>
            <p:cNvSpPr txBox="true"/>
            <p:nvPr/>
          </p:nvSpPr>
          <p:spPr>
            <a:xfrm>
              <a:off x="0" y="-28575"/>
              <a:ext cx="1843910" cy="737204"/>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1050072" y="1291360"/>
            <a:ext cx="6990257" cy="497729"/>
            <a:chOff x="0" y="0"/>
            <a:chExt cx="1599222" cy="113870"/>
          </a:xfrm>
        </p:grpSpPr>
        <p:sp>
          <p:nvSpPr>
            <p:cNvPr name="Freeform 10" id="10"/>
            <p:cNvSpPr/>
            <p:nvPr/>
          </p:nvSpPr>
          <p:spPr>
            <a:xfrm flipH="false" flipV="false" rot="0">
              <a:off x="0" y="0"/>
              <a:ext cx="1599222" cy="113870"/>
            </a:xfrm>
            <a:custGeom>
              <a:avLst/>
              <a:gdLst/>
              <a:ahLst/>
              <a:cxnLst/>
              <a:rect r="r" b="b" t="t" l="l"/>
              <a:pathLst>
                <a:path h="113870" w="1599222">
                  <a:moveTo>
                    <a:pt x="56935" y="0"/>
                  </a:moveTo>
                  <a:lnTo>
                    <a:pt x="1542287" y="0"/>
                  </a:lnTo>
                  <a:cubicBezTo>
                    <a:pt x="1557387" y="0"/>
                    <a:pt x="1571868" y="5998"/>
                    <a:pt x="1582546" y="16676"/>
                  </a:cubicBezTo>
                  <a:cubicBezTo>
                    <a:pt x="1593223" y="27353"/>
                    <a:pt x="1599222" y="41835"/>
                    <a:pt x="1599222" y="56935"/>
                  </a:cubicBezTo>
                  <a:lnTo>
                    <a:pt x="1599222" y="56935"/>
                  </a:lnTo>
                  <a:cubicBezTo>
                    <a:pt x="1599222" y="72035"/>
                    <a:pt x="1593223" y="86517"/>
                    <a:pt x="1582546" y="97194"/>
                  </a:cubicBezTo>
                  <a:cubicBezTo>
                    <a:pt x="1571868" y="107871"/>
                    <a:pt x="1557387" y="113870"/>
                    <a:pt x="1542287"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1" id="11"/>
            <p:cNvSpPr txBox="true"/>
            <p:nvPr/>
          </p:nvSpPr>
          <p:spPr>
            <a:xfrm>
              <a:off x="0" y="-28575"/>
              <a:ext cx="1599222" cy="142445"/>
            </a:xfrm>
            <a:prstGeom prst="rect">
              <a:avLst/>
            </a:prstGeom>
          </p:spPr>
          <p:txBody>
            <a:bodyPr anchor="ctr" rtlCol="false" tIns="50800" lIns="50800" bIns="50800" rIns="50800"/>
            <a:lstStyle/>
            <a:p>
              <a:pPr algn="ctr">
                <a:lnSpc>
                  <a:spcPts val="2520"/>
                </a:lnSpc>
              </a:pPr>
            </a:p>
          </p:txBody>
        </p:sp>
      </p:grpSp>
      <p:sp>
        <p:nvSpPr>
          <p:cNvPr name="TextBox 12" id="12"/>
          <p:cNvSpPr txBox="true"/>
          <p:nvPr/>
        </p:nvSpPr>
        <p:spPr>
          <a:xfrm rot="0">
            <a:off x="1659878" y="1205635"/>
            <a:ext cx="577064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charges + One-Hot Encoding</a:t>
            </a:r>
          </a:p>
        </p:txBody>
      </p:sp>
      <p:sp>
        <p:nvSpPr>
          <p:cNvPr name="TextBox 13" id="13"/>
          <p:cNvSpPr txBox="true"/>
          <p:nvPr/>
        </p:nvSpPr>
        <p:spPr>
          <a:xfrm rot="0">
            <a:off x="705380" y="1794236"/>
            <a:ext cx="7737193" cy="2501265"/>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Meilleure performance globale : CatBoost</a:t>
            </a:r>
          </a:p>
          <a:p>
            <a:pPr algn="ctr">
              <a:lnSpc>
                <a:spcPts val="3359"/>
              </a:lnSpc>
            </a:pPr>
            <a:r>
              <a:rPr lang="en-US" b="true" sz="2399">
                <a:solidFill>
                  <a:srgbClr val="FFFFFF"/>
                </a:solidFill>
                <a:latin typeface="DM Sans Bold"/>
                <a:ea typeface="DM Sans Bold"/>
                <a:cs typeface="DM Sans Bold"/>
                <a:sym typeface="DM Sans Bold"/>
              </a:rPr>
              <a:t>RMSE Test ≈ 4 721 , R² Test ≈ 0,843</a:t>
            </a:r>
          </a:p>
          <a:p>
            <a:pPr algn="ctr">
              <a:lnSpc>
                <a:spcPts val="3359"/>
              </a:lnSpc>
            </a:pPr>
            <a:r>
              <a:rPr lang="en-US" b="true" sz="2399">
                <a:solidFill>
                  <a:srgbClr val="FFFFFF"/>
                </a:solidFill>
                <a:latin typeface="DM Sans Bold"/>
                <a:ea typeface="DM Sans Bold"/>
                <a:cs typeface="DM Sans Bold"/>
                <a:sym typeface="DM Sans Bold"/>
              </a:rPr>
              <a:t>Erreur absolue moyenne modérée (MAE ≈ 2 561 )</a:t>
            </a:r>
          </a:p>
          <a:p>
            <a:pPr algn="ctr">
              <a:lnSpc>
                <a:spcPts val="3359"/>
              </a:lnSpc>
            </a:pPr>
            <a:r>
              <a:rPr lang="en-US" b="true" sz="2399">
                <a:solidFill>
                  <a:srgbClr val="FFFFFF"/>
                </a:solidFill>
                <a:latin typeface="DM Sans Bold"/>
                <a:ea typeface="DM Sans Bold"/>
                <a:cs typeface="DM Sans Bold"/>
                <a:sym typeface="DM Sans Bold"/>
              </a:rPr>
              <a:t>Gradient Boosting et XGBoost proches, mais légèrement moins performants</a:t>
            </a:r>
          </a:p>
          <a:p>
            <a:pPr algn="ctr">
              <a:lnSpc>
                <a:spcPts val="3359"/>
              </a:lnSpc>
            </a:pPr>
            <a:r>
              <a:rPr lang="en-US" b="true" sz="2399">
                <a:solidFill>
                  <a:srgbClr val="FFFFFF"/>
                </a:solidFill>
                <a:latin typeface="DM Sans Bold"/>
                <a:ea typeface="DM Sans Bold"/>
                <a:cs typeface="DM Sans Bold"/>
                <a:sym typeface="DM Sans Bold"/>
              </a:rPr>
              <a:t>AdaBoost nettement moins précis (RMSE &gt; 5 100)</a:t>
            </a:r>
          </a:p>
        </p:txBody>
      </p:sp>
      <p:grpSp>
        <p:nvGrpSpPr>
          <p:cNvPr name="Group 14" id="14"/>
          <p:cNvGrpSpPr/>
          <p:nvPr/>
        </p:nvGrpSpPr>
        <p:grpSpPr>
          <a:xfrm rot="0">
            <a:off x="9641380" y="1519960"/>
            <a:ext cx="8059799" cy="3097442"/>
            <a:chOff x="0" y="0"/>
            <a:chExt cx="1843910" cy="708629"/>
          </a:xfrm>
        </p:grpSpPr>
        <p:sp>
          <p:nvSpPr>
            <p:cNvPr name="Freeform 15" id="15"/>
            <p:cNvSpPr/>
            <p:nvPr/>
          </p:nvSpPr>
          <p:spPr>
            <a:xfrm flipH="false" flipV="false" rot="0">
              <a:off x="0" y="0"/>
              <a:ext cx="1843910" cy="708629"/>
            </a:xfrm>
            <a:custGeom>
              <a:avLst/>
              <a:gdLst/>
              <a:ahLst/>
              <a:cxnLst/>
              <a:rect r="r" b="b" t="t" l="l"/>
              <a:pathLst>
                <a:path h="708629" w="1843910">
                  <a:moveTo>
                    <a:pt x="34580" y="0"/>
                  </a:moveTo>
                  <a:lnTo>
                    <a:pt x="1809330" y="0"/>
                  </a:lnTo>
                  <a:cubicBezTo>
                    <a:pt x="1828428" y="0"/>
                    <a:pt x="1843910" y="15482"/>
                    <a:pt x="1843910" y="34580"/>
                  </a:cubicBezTo>
                  <a:lnTo>
                    <a:pt x="1843910" y="674049"/>
                  </a:lnTo>
                  <a:cubicBezTo>
                    <a:pt x="1843910" y="683220"/>
                    <a:pt x="1840267" y="692015"/>
                    <a:pt x="1833782" y="698500"/>
                  </a:cubicBezTo>
                  <a:cubicBezTo>
                    <a:pt x="1827297" y="704986"/>
                    <a:pt x="1818501" y="708629"/>
                    <a:pt x="1809330" y="708629"/>
                  </a:cubicBezTo>
                  <a:lnTo>
                    <a:pt x="34580" y="708629"/>
                  </a:lnTo>
                  <a:cubicBezTo>
                    <a:pt x="15482" y="708629"/>
                    <a:pt x="0" y="693147"/>
                    <a:pt x="0" y="674049"/>
                  </a:cubicBezTo>
                  <a:lnTo>
                    <a:pt x="0" y="34580"/>
                  </a:lnTo>
                  <a:cubicBezTo>
                    <a:pt x="0" y="15482"/>
                    <a:pt x="15482" y="0"/>
                    <a:pt x="34580" y="0"/>
                  </a:cubicBezTo>
                  <a:close/>
                </a:path>
              </a:pathLst>
            </a:custGeom>
            <a:solidFill>
              <a:srgbClr val="000000">
                <a:alpha val="0"/>
              </a:srgbClr>
            </a:solidFill>
            <a:ln w="66675" cap="rnd">
              <a:solidFill>
                <a:srgbClr val="FFFFFF"/>
              </a:solidFill>
              <a:prstDash val="solid"/>
              <a:round/>
            </a:ln>
          </p:spPr>
        </p:sp>
        <p:sp>
          <p:nvSpPr>
            <p:cNvPr name="TextBox 16" id="16"/>
            <p:cNvSpPr txBox="true"/>
            <p:nvPr/>
          </p:nvSpPr>
          <p:spPr>
            <a:xfrm>
              <a:off x="0" y="-28575"/>
              <a:ext cx="1843910" cy="737204"/>
            </a:xfrm>
            <a:prstGeom prst="rect">
              <a:avLst/>
            </a:prstGeom>
          </p:spPr>
          <p:txBody>
            <a:bodyPr anchor="ctr" rtlCol="false" tIns="50800" lIns="50800" bIns="50800" rIns="50800"/>
            <a:lstStyle/>
            <a:p>
              <a:pPr algn="ctr">
                <a:lnSpc>
                  <a:spcPts val="2520"/>
                </a:lnSpc>
              </a:pPr>
            </a:p>
          </p:txBody>
        </p:sp>
      </p:grpSp>
      <p:grpSp>
        <p:nvGrpSpPr>
          <p:cNvPr name="Group 17" id="17"/>
          <p:cNvGrpSpPr/>
          <p:nvPr/>
        </p:nvGrpSpPr>
        <p:grpSpPr>
          <a:xfrm rot="0">
            <a:off x="10147374" y="1291360"/>
            <a:ext cx="6990257" cy="497729"/>
            <a:chOff x="0" y="0"/>
            <a:chExt cx="1599222" cy="113870"/>
          </a:xfrm>
        </p:grpSpPr>
        <p:sp>
          <p:nvSpPr>
            <p:cNvPr name="Freeform 18" id="18"/>
            <p:cNvSpPr/>
            <p:nvPr/>
          </p:nvSpPr>
          <p:spPr>
            <a:xfrm flipH="false" flipV="false" rot="0">
              <a:off x="0" y="0"/>
              <a:ext cx="1599222" cy="113870"/>
            </a:xfrm>
            <a:custGeom>
              <a:avLst/>
              <a:gdLst/>
              <a:ahLst/>
              <a:cxnLst/>
              <a:rect r="r" b="b" t="t" l="l"/>
              <a:pathLst>
                <a:path h="113870" w="1599222">
                  <a:moveTo>
                    <a:pt x="56935" y="0"/>
                  </a:moveTo>
                  <a:lnTo>
                    <a:pt x="1542287" y="0"/>
                  </a:lnTo>
                  <a:cubicBezTo>
                    <a:pt x="1557387" y="0"/>
                    <a:pt x="1571868" y="5998"/>
                    <a:pt x="1582546" y="16676"/>
                  </a:cubicBezTo>
                  <a:cubicBezTo>
                    <a:pt x="1593223" y="27353"/>
                    <a:pt x="1599222" y="41835"/>
                    <a:pt x="1599222" y="56935"/>
                  </a:cubicBezTo>
                  <a:lnTo>
                    <a:pt x="1599222" y="56935"/>
                  </a:lnTo>
                  <a:cubicBezTo>
                    <a:pt x="1599222" y="72035"/>
                    <a:pt x="1593223" y="86517"/>
                    <a:pt x="1582546" y="97194"/>
                  </a:cubicBezTo>
                  <a:cubicBezTo>
                    <a:pt x="1571868" y="107871"/>
                    <a:pt x="1557387" y="113870"/>
                    <a:pt x="1542287"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19" id="19"/>
            <p:cNvSpPr txBox="true"/>
            <p:nvPr/>
          </p:nvSpPr>
          <p:spPr>
            <a:xfrm>
              <a:off x="0" y="-28575"/>
              <a:ext cx="1599222" cy="142445"/>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10473649" y="1205635"/>
            <a:ext cx="6337707"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logcharges + One-Hot Encoding</a:t>
            </a:r>
          </a:p>
        </p:txBody>
      </p:sp>
      <p:grpSp>
        <p:nvGrpSpPr>
          <p:cNvPr name="Group 21" id="21"/>
          <p:cNvGrpSpPr/>
          <p:nvPr/>
        </p:nvGrpSpPr>
        <p:grpSpPr>
          <a:xfrm rot="0">
            <a:off x="586821" y="5179377"/>
            <a:ext cx="8059799" cy="3097442"/>
            <a:chOff x="0" y="0"/>
            <a:chExt cx="1843910" cy="708629"/>
          </a:xfrm>
        </p:grpSpPr>
        <p:sp>
          <p:nvSpPr>
            <p:cNvPr name="Freeform 22" id="22"/>
            <p:cNvSpPr/>
            <p:nvPr/>
          </p:nvSpPr>
          <p:spPr>
            <a:xfrm flipH="false" flipV="false" rot="0">
              <a:off x="0" y="0"/>
              <a:ext cx="1843910" cy="708629"/>
            </a:xfrm>
            <a:custGeom>
              <a:avLst/>
              <a:gdLst/>
              <a:ahLst/>
              <a:cxnLst/>
              <a:rect r="r" b="b" t="t" l="l"/>
              <a:pathLst>
                <a:path h="708629" w="1843910">
                  <a:moveTo>
                    <a:pt x="34580" y="0"/>
                  </a:moveTo>
                  <a:lnTo>
                    <a:pt x="1809330" y="0"/>
                  </a:lnTo>
                  <a:cubicBezTo>
                    <a:pt x="1828428" y="0"/>
                    <a:pt x="1843910" y="15482"/>
                    <a:pt x="1843910" y="34580"/>
                  </a:cubicBezTo>
                  <a:lnTo>
                    <a:pt x="1843910" y="674049"/>
                  </a:lnTo>
                  <a:cubicBezTo>
                    <a:pt x="1843910" y="683220"/>
                    <a:pt x="1840267" y="692015"/>
                    <a:pt x="1833782" y="698500"/>
                  </a:cubicBezTo>
                  <a:cubicBezTo>
                    <a:pt x="1827297" y="704986"/>
                    <a:pt x="1818501" y="708629"/>
                    <a:pt x="1809330" y="708629"/>
                  </a:cubicBezTo>
                  <a:lnTo>
                    <a:pt x="34580" y="708629"/>
                  </a:lnTo>
                  <a:cubicBezTo>
                    <a:pt x="15482" y="708629"/>
                    <a:pt x="0" y="693147"/>
                    <a:pt x="0" y="674049"/>
                  </a:cubicBezTo>
                  <a:lnTo>
                    <a:pt x="0" y="34580"/>
                  </a:lnTo>
                  <a:cubicBezTo>
                    <a:pt x="0" y="15482"/>
                    <a:pt x="15482" y="0"/>
                    <a:pt x="34580" y="0"/>
                  </a:cubicBezTo>
                  <a:close/>
                </a:path>
              </a:pathLst>
            </a:custGeom>
            <a:solidFill>
              <a:srgbClr val="000000">
                <a:alpha val="0"/>
              </a:srgbClr>
            </a:solidFill>
            <a:ln w="66675" cap="rnd">
              <a:solidFill>
                <a:srgbClr val="FFFFFF"/>
              </a:solidFill>
              <a:prstDash val="solid"/>
              <a:round/>
            </a:ln>
          </p:spPr>
        </p:sp>
        <p:sp>
          <p:nvSpPr>
            <p:cNvPr name="TextBox 23" id="23"/>
            <p:cNvSpPr txBox="true"/>
            <p:nvPr/>
          </p:nvSpPr>
          <p:spPr>
            <a:xfrm>
              <a:off x="0" y="-28575"/>
              <a:ext cx="1843910" cy="737204"/>
            </a:xfrm>
            <a:prstGeom prst="rect">
              <a:avLst/>
            </a:prstGeom>
          </p:spPr>
          <p:txBody>
            <a:bodyPr anchor="ctr" rtlCol="false" tIns="50800" lIns="50800" bIns="50800" rIns="50800"/>
            <a:lstStyle/>
            <a:p>
              <a:pPr algn="ctr">
                <a:lnSpc>
                  <a:spcPts val="2520"/>
                </a:lnSpc>
              </a:pPr>
            </a:p>
          </p:txBody>
        </p:sp>
      </p:grpSp>
      <p:grpSp>
        <p:nvGrpSpPr>
          <p:cNvPr name="Group 24" id="24"/>
          <p:cNvGrpSpPr/>
          <p:nvPr/>
        </p:nvGrpSpPr>
        <p:grpSpPr>
          <a:xfrm rot="0">
            <a:off x="1092815" y="4950777"/>
            <a:ext cx="6990257" cy="497729"/>
            <a:chOff x="0" y="0"/>
            <a:chExt cx="1599222" cy="113870"/>
          </a:xfrm>
        </p:grpSpPr>
        <p:sp>
          <p:nvSpPr>
            <p:cNvPr name="Freeform 25" id="25"/>
            <p:cNvSpPr/>
            <p:nvPr/>
          </p:nvSpPr>
          <p:spPr>
            <a:xfrm flipH="false" flipV="false" rot="0">
              <a:off x="0" y="0"/>
              <a:ext cx="1599222" cy="113870"/>
            </a:xfrm>
            <a:custGeom>
              <a:avLst/>
              <a:gdLst/>
              <a:ahLst/>
              <a:cxnLst/>
              <a:rect r="r" b="b" t="t" l="l"/>
              <a:pathLst>
                <a:path h="113870" w="1599222">
                  <a:moveTo>
                    <a:pt x="56935" y="0"/>
                  </a:moveTo>
                  <a:lnTo>
                    <a:pt x="1542287" y="0"/>
                  </a:lnTo>
                  <a:cubicBezTo>
                    <a:pt x="1557387" y="0"/>
                    <a:pt x="1571868" y="5998"/>
                    <a:pt x="1582546" y="16676"/>
                  </a:cubicBezTo>
                  <a:cubicBezTo>
                    <a:pt x="1593223" y="27353"/>
                    <a:pt x="1599222" y="41835"/>
                    <a:pt x="1599222" y="56935"/>
                  </a:cubicBezTo>
                  <a:lnTo>
                    <a:pt x="1599222" y="56935"/>
                  </a:lnTo>
                  <a:cubicBezTo>
                    <a:pt x="1599222" y="72035"/>
                    <a:pt x="1593223" y="86517"/>
                    <a:pt x="1582546" y="97194"/>
                  </a:cubicBezTo>
                  <a:cubicBezTo>
                    <a:pt x="1571868" y="107871"/>
                    <a:pt x="1557387" y="113870"/>
                    <a:pt x="1542287"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26" id="26"/>
            <p:cNvSpPr txBox="true"/>
            <p:nvPr/>
          </p:nvSpPr>
          <p:spPr>
            <a:xfrm>
              <a:off x="0" y="-28575"/>
              <a:ext cx="1599222" cy="142445"/>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1702621" y="4865052"/>
            <a:ext cx="577064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charges sans OHE</a:t>
            </a:r>
          </a:p>
        </p:txBody>
      </p:sp>
      <p:grpSp>
        <p:nvGrpSpPr>
          <p:cNvPr name="Group 28" id="28"/>
          <p:cNvGrpSpPr/>
          <p:nvPr/>
        </p:nvGrpSpPr>
        <p:grpSpPr>
          <a:xfrm rot="0">
            <a:off x="9684124" y="5179377"/>
            <a:ext cx="8059799" cy="3097442"/>
            <a:chOff x="0" y="0"/>
            <a:chExt cx="1843910" cy="708629"/>
          </a:xfrm>
        </p:grpSpPr>
        <p:sp>
          <p:nvSpPr>
            <p:cNvPr name="Freeform 29" id="29"/>
            <p:cNvSpPr/>
            <p:nvPr/>
          </p:nvSpPr>
          <p:spPr>
            <a:xfrm flipH="false" flipV="false" rot="0">
              <a:off x="0" y="0"/>
              <a:ext cx="1843910" cy="708629"/>
            </a:xfrm>
            <a:custGeom>
              <a:avLst/>
              <a:gdLst/>
              <a:ahLst/>
              <a:cxnLst/>
              <a:rect r="r" b="b" t="t" l="l"/>
              <a:pathLst>
                <a:path h="708629" w="1843910">
                  <a:moveTo>
                    <a:pt x="34580" y="0"/>
                  </a:moveTo>
                  <a:lnTo>
                    <a:pt x="1809330" y="0"/>
                  </a:lnTo>
                  <a:cubicBezTo>
                    <a:pt x="1828428" y="0"/>
                    <a:pt x="1843910" y="15482"/>
                    <a:pt x="1843910" y="34580"/>
                  </a:cubicBezTo>
                  <a:lnTo>
                    <a:pt x="1843910" y="674049"/>
                  </a:lnTo>
                  <a:cubicBezTo>
                    <a:pt x="1843910" y="683220"/>
                    <a:pt x="1840267" y="692015"/>
                    <a:pt x="1833782" y="698500"/>
                  </a:cubicBezTo>
                  <a:cubicBezTo>
                    <a:pt x="1827297" y="704986"/>
                    <a:pt x="1818501" y="708629"/>
                    <a:pt x="1809330" y="708629"/>
                  </a:cubicBezTo>
                  <a:lnTo>
                    <a:pt x="34580" y="708629"/>
                  </a:lnTo>
                  <a:cubicBezTo>
                    <a:pt x="15482" y="708629"/>
                    <a:pt x="0" y="693147"/>
                    <a:pt x="0" y="674049"/>
                  </a:cubicBezTo>
                  <a:lnTo>
                    <a:pt x="0" y="34580"/>
                  </a:lnTo>
                  <a:cubicBezTo>
                    <a:pt x="0" y="15482"/>
                    <a:pt x="15482" y="0"/>
                    <a:pt x="34580" y="0"/>
                  </a:cubicBezTo>
                  <a:close/>
                </a:path>
              </a:pathLst>
            </a:custGeom>
            <a:solidFill>
              <a:srgbClr val="000000">
                <a:alpha val="0"/>
              </a:srgbClr>
            </a:solidFill>
            <a:ln w="66675" cap="rnd">
              <a:solidFill>
                <a:srgbClr val="FFFFFF"/>
              </a:solidFill>
              <a:prstDash val="solid"/>
              <a:round/>
            </a:ln>
          </p:spPr>
        </p:sp>
        <p:sp>
          <p:nvSpPr>
            <p:cNvPr name="TextBox 30" id="30"/>
            <p:cNvSpPr txBox="true"/>
            <p:nvPr/>
          </p:nvSpPr>
          <p:spPr>
            <a:xfrm>
              <a:off x="0" y="-28575"/>
              <a:ext cx="1843910" cy="737204"/>
            </a:xfrm>
            <a:prstGeom prst="rect">
              <a:avLst/>
            </a:prstGeom>
          </p:spPr>
          <p:txBody>
            <a:bodyPr anchor="ctr" rtlCol="false" tIns="50800" lIns="50800" bIns="50800" rIns="50800"/>
            <a:lstStyle/>
            <a:p>
              <a:pPr algn="ctr">
                <a:lnSpc>
                  <a:spcPts val="2520"/>
                </a:lnSpc>
              </a:pPr>
            </a:p>
          </p:txBody>
        </p:sp>
      </p:grpSp>
      <p:grpSp>
        <p:nvGrpSpPr>
          <p:cNvPr name="Group 31" id="31"/>
          <p:cNvGrpSpPr/>
          <p:nvPr/>
        </p:nvGrpSpPr>
        <p:grpSpPr>
          <a:xfrm rot="0">
            <a:off x="10190118" y="4950777"/>
            <a:ext cx="6990257" cy="497729"/>
            <a:chOff x="0" y="0"/>
            <a:chExt cx="1599222" cy="113870"/>
          </a:xfrm>
        </p:grpSpPr>
        <p:sp>
          <p:nvSpPr>
            <p:cNvPr name="Freeform 32" id="32"/>
            <p:cNvSpPr/>
            <p:nvPr/>
          </p:nvSpPr>
          <p:spPr>
            <a:xfrm flipH="false" flipV="false" rot="0">
              <a:off x="0" y="0"/>
              <a:ext cx="1599222" cy="113870"/>
            </a:xfrm>
            <a:custGeom>
              <a:avLst/>
              <a:gdLst/>
              <a:ahLst/>
              <a:cxnLst/>
              <a:rect r="r" b="b" t="t" l="l"/>
              <a:pathLst>
                <a:path h="113870" w="1599222">
                  <a:moveTo>
                    <a:pt x="56935" y="0"/>
                  </a:moveTo>
                  <a:lnTo>
                    <a:pt x="1542287" y="0"/>
                  </a:lnTo>
                  <a:cubicBezTo>
                    <a:pt x="1557387" y="0"/>
                    <a:pt x="1571868" y="5998"/>
                    <a:pt x="1582546" y="16676"/>
                  </a:cubicBezTo>
                  <a:cubicBezTo>
                    <a:pt x="1593223" y="27353"/>
                    <a:pt x="1599222" y="41835"/>
                    <a:pt x="1599222" y="56935"/>
                  </a:cubicBezTo>
                  <a:lnTo>
                    <a:pt x="1599222" y="56935"/>
                  </a:lnTo>
                  <a:cubicBezTo>
                    <a:pt x="1599222" y="72035"/>
                    <a:pt x="1593223" y="86517"/>
                    <a:pt x="1582546" y="97194"/>
                  </a:cubicBezTo>
                  <a:cubicBezTo>
                    <a:pt x="1571868" y="107871"/>
                    <a:pt x="1557387" y="113870"/>
                    <a:pt x="1542287" y="113870"/>
                  </a:cubicBezTo>
                  <a:lnTo>
                    <a:pt x="56935" y="113870"/>
                  </a:lnTo>
                  <a:cubicBezTo>
                    <a:pt x="41835" y="113870"/>
                    <a:pt x="27353" y="107871"/>
                    <a:pt x="16676" y="97194"/>
                  </a:cubicBezTo>
                  <a:cubicBezTo>
                    <a:pt x="5998" y="86517"/>
                    <a:pt x="0" y="72035"/>
                    <a:pt x="0" y="56935"/>
                  </a:cubicBezTo>
                  <a:lnTo>
                    <a:pt x="0" y="56935"/>
                  </a:lnTo>
                  <a:cubicBezTo>
                    <a:pt x="0" y="41835"/>
                    <a:pt x="5998" y="27353"/>
                    <a:pt x="16676" y="16676"/>
                  </a:cubicBezTo>
                  <a:cubicBezTo>
                    <a:pt x="27353" y="5998"/>
                    <a:pt x="41835" y="0"/>
                    <a:pt x="56935" y="0"/>
                  </a:cubicBezTo>
                  <a:close/>
                </a:path>
              </a:pathLst>
            </a:custGeom>
            <a:solidFill>
              <a:srgbClr val="FFFFFF"/>
            </a:solidFill>
          </p:spPr>
        </p:sp>
        <p:sp>
          <p:nvSpPr>
            <p:cNvPr name="TextBox 33" id="33"/>
            <p:cNvSpPr txBox="true"/>
            <p:nvPr/>
          </p:nvSpPr>
          <p:spPr>
            <a:xfrm>
              <a:off x="0" y="-28575"/>
              <a:ext cx="1599222" cy="142445"/>
            </a:xfrm>
            <a:prstGeom prst="rect">
              <a:avLst/>
            </a:prstGeom>
          </p:spPr>
          <p:txBody>
            <a:bodyPr anchor="ctr" rtlCol="false" tIns="50800" lIns="50800" bIns="50800" rIns="50800"/>
            <a:lstStyle/>
            <a:p>
              <a:pPr algn="ctr">
                <a:lnSpc>
                  <a:spcPts val="2520"/>
                </a:lnSpc>
              </a:pPr>
            </a:p>
          </p:txBody>
        </p:sp>
      </p:grpSp>
      <p:sp>
        <p:nvSpPr>
          <p:cNvPr name="TextBox 34" id="34"/>
          <p:cNvSpPr txBox="true"/>
          <p:nvPr/>
        </p:nvSpPr>
        <p:spPr>
          <a:xfrm rot="0">
            <a:off x="10799924" y="4865052"/>
            <a:ext cx="5770644"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10B40"/>
                </a:solidFill>
                <a:latin typeface="Poppins Semi-Bold"/>
                <a:ea typeface="Poppins Semi-Bold"/>
                <a:cs typeface="Poppins Semi-Bold"/>
                <a:sym typeface="Poppins Semi-Bold"/>
              </a:rPr>
              <a:t>logcharges sans OHE</a:t>
            </a:r>
          </a:p>
        </p:txBody>
      </p:sp>
      <p:sp>
        <p:nvSpPr>
          <p:cNvPr name="TextBox 35" id="35"/>
          <p:cNvSpPr txBox="true"/>
          <p:nvPr/>
        </p:nvSpPr>
        <p:spPr>
          <a:xfrm rot="0">
            <a:off x="9816650" y="1794236"/>
            <a:ext cx="7737193" cy="2501265"/>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Meilleures performances en erreur relative</a:t>
            </a:r>
          </a:p>
          <a:p>
            <a:pPr algn="ctr">
              <a:lnSpc>
                <a:spcPts val="3359"/>
              </a:lnSpc>
            </a:pPr>
            <a:r>
              <a:rPr lang="en-US" b="true" sz="2399">
                <a:solidFill>
                  <a:srgbClr val="FFFFFF"/>
                </a:solidFill>
                <a:latin typeface="DM Sans Bold"/>
                <a:ea typeface="DM Sans Bold"/>
                <a:cs typeface="DM Sans Bold"/>
                <a:sym typeface="DM Sans Bold"/>
              </a:rPr>
              <a:t>MAPE Test ≈ 17–18 % pour XGBoost (Log) et LightGBM (Log)</a:t>
            </a:r>
          </a:p>
          <a:p>
            <a:pPr algn="ctr">
              <a:lnSpc>
                <a:spcPts val="3359"/>
              </a:lnSpc>
            </a:pPr>
            <a:r>
              <a:rPr lang="en-US" b="true" sz="2399">
                <a:solidFill>
                  <a:srgbClr val="FFFFFF"/>
                </a:solidFill>
                <a:latin typeface="DM Sans Bold"/>
                <a:ea typeface="DM Sans Bold"/>
                <a:cs typeface="DM Sans Bold"/>
                <a:sym typeface="DM Sans Bold"/>
              </a:rPr>
              <a:t>RMSE Test légèrement plus élevé (≈ 4 800–4 900)</a:t>
            </a:r>
          </a:p>
          <a:p>
            <a:pPr algn="ctr">
              <a:lnSpc>
                <a:spcPts val="3359"/>
              </a:lnSpc>
            </a:pPr>
            <a:r>
              <a:rPr lang="en-US" b="true" sz="2399">
                <a:solidFill>
                  <a:srgbClr val="FFFFFF"/>
                </a:solidFill>
                <a:latin typeface="DM Sans Bold"/>
                <a:ea typeface="DM Sans Bold"/>
                <a:cs typeface="DM Sans Bold"/>
                <a:sym typeface="DM Sans Bold"/>
              </a:rPr>
              <a:t>Bonne généralisation globale</a:t>
            </a:r>
          </a:p>
          <a:p>
            <a:pPr algn="ctr">
              <a:lnSpc>
                <a:spcPts val="3359"/>
              </a:lnSpc>
            </a:pPr>
            <a:r>
              <a:rPr lang="en-US" b="true" sz="2399">
                <a:solidFill>
                  <a:srgbClr val="FFFFFF"/>
                </a:solidFill>
                <a:latin typeface="DM Sans Bold"/>
                <a:ea typeface="DM Sans Bold"/>
                <a:cs typeface="DM Sans Bold"/>
                <a:sym typeface="DM Sans Bold"/>
              </a:rPr>
              <a:t>Réduction de l’impact des valeurs extrêmes</a:t>
            </a:r>
          </a:p>
        </p:txBody>
      </p:sp>
      <p:sp>
        <p:nvSpPr>
          <p:cNvPr name="TextBox 36" id="36"/>
          <p:cNvSpPr txBox="true"/>
          <p:nvPr/>
        </p:nvSpPr>
        <p:spPr>
          <a:xfrm rot="0">
            <a:off x="748124" y="5458031"/>
            <a:ext cx="7737193" cy="2501265"/>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Modèles concernés : CatBoost, LightGBM</a:t>
            </a:r>
          </a:p>
          <a:p>
            <a:pPr algn="ctr">
              <a:lnSpc>
                <a:spcPts val="3359"/>
              </a:lnSpc>
            </a:pPr>
            <a:r>
              <a:rPr lang="en-US" b="true" sz="2399">
                <a:solidFill>
                  <a:srgbClr val="FFFFFF"/>
                </a:solidFill>
                <a:latin typeface="DM Sans Bold"/>
                <a:ea typeface="DM Sans Bold"/>
                <a:cs typeface="DM Sans Bold"/>
                <a:sym typeface="DM Sans Bold"/>
              </a:rPr>
              <a:t>Performances comparables au One-Hot Encoding</a:t>
            </a:r>
          </a:p>
          <a:p>
            <a:pPr algn="ctr">
              <a:lnSpc>
                <a:spcPts val="3359"/>
              </a:lnSpc>
            </a:pPr>
            <a:r>
              <a:rPr lang="en-US" b="true" sz="2399">
                <a:solidFill>
                  <a:srgbClr val="FFFFFF"/>
                </a:solidFill>
                <a:latin typeface="DM Sans Bold"/>
                <a:ea typeface="DM Sans Bold"/>
                <a:cs typeface="DM Sans Bold"/>
                <a:sym typeface="DM Sans Bold"/>
              </a:rPr>
              <a:t>RMSE Test ≈ 4 730–5 040</a:t>
            </a:r>
          </a:p>
          <a:p>
            <a:pPr algn="ctr">
              <a:lnSpc>
                <a:spcPts val="3359"/>
              </a:lnSpc>
            </a:pPr>
            <a:r>
              <a:rPr lang="en-US" b="true" sz="2399">
                <a:solidFill>
                  <a:srgbClr val="FFFFFF"/>
                </a:solidFill>
                <a:latin typeface="DM Sans Bold"/>
                <a:ea typeface="DM Sans Bold"/>
                <a:cs typeface="DM Sans Bold"/>
                <a:sym typeface="DM Sans Bold"/>
              </a:rPr>
              <a:t>Aucune amélioration significative sur la cible linéaire</a:t>
            </a:r>
          </a:p>
          <a:p>
            <a:pPr algn="ctr">
              <a:lnSpc>
                <a:spcPts val="3359"/>
              </a:lnSpc>
            </a:pPr>
            <a:r>
              <a:rPr lang="en-US" b="true" sz="2399">
                <a:solidFill>
                  <a:srgbClr val="FFFFFF"/>
                </a:solidFill>
                <a:latin typeface="DM Sans Bold"/>
                <a:ea typeface="DM Sans Bold"/>
                <a:cs typeface="DM Sans Bold"/>
                <a:sym typeface="DM Sans Bold"/>
              </a:rPr>
              <a:t>Simplification du prétraitement</a:t>
            </a:r>
          </a:p>
        </p:txBody>
      </p:sp>
      <p:sp>
        <p:nvSpPr>
          <p:cNvPr name="TextBox 37" id="37"/>
          <p:cNvSpPr txBox="true"/>
          <p:nvPr/>
        </p:nvSpPr>
        <p:spPr>
          <a:xfrm rot="0">
            <a:off x="9802683" y="5648531"/>
            <a:ext cx="7737193" cy="2082165"/>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Meilleure stabilité globale</a:t>
            </a:r>
          </a:p>
          <a:p>
            <a:pPr algn="ctr">
              <a:lnSpc>
                <a:spcPts val="3359"/>
              </a:lnSpc>
            </a:pPr>
            <a:r>
              <a:rPr lang="en-US" b="true" sz="2399">
                <a:solidFill>
                  <a:srgbClr val="FFFFFF"/>
                </a:solidFill>
                <a:latin typeface="DM Sans Bold"/>
                <a:ea typeface="DM Sans Bold"/>
                <a:cs typeface="DM Sans Bold"/>
                <a:sym typeface="DM Sans Bold"/>
              </a:rPr>
              <a:t>MAPE Test ≈ 18 %</a:t>
            </a:r>
          </a:p>
          <a:p>
            <a:pPr algn="ctr">
              <a:lnSpc>
                <a:spcPts val="3359"/>
              </a:lnSpc>
            </a:pPr>
            <a:r>
              <a:rPr lang="en-US" b="true" sz="2399">
                <a:solidFill>
                  <a:srgbClr val="FFFFFF"/>
                </a:solidFill>
                <a:latin typeface="DM Sans Bold"/>
                <a:ea typeface="DM Sans Bold"/>
                <a:cs typeface="DM Sans Bold"/>
                <a:sym typeface="DM Sans Bold"/>
              </a:rPr>
              <a:t>RMSE Test autour de 4 880–4 910 </a:t>
            </a:r>
          </a:p>
          <a:p>
            <a:pPr algn="ctr">
              <a:lnSpc>
                <a:spcPts val="3359"/>
              </a:lnSpc>
            </a:pPr>
            <a:r>
              <a:rPr lang="en-US" b="true" sz="2399">
                <a:solidFill>
                  <a:srgbClr val="FFFFFF"/>
                </a:solidFill>
                <a:latin typeface="DM Sans Bold"/>
                <a:ea typeface="DM Sans Bold"/>
                <a:cs typeface="DM Sans Bold"/>
                <a:sym typeface="DM Sans Bold"/>
              </a:rPr>
              <a:t>CatBoost et LightGBM performants</a:t>
            </a:r>
          </a:p>
          <a:p>
            <a:pPr algn="ctr">
              <a:lnSpc>
                <a:spcPts val="3359"/>
              </a:lnSpc>
            </a:pPr>
            <a:r>
              <a:rPr lang="en-US" b="true" sz="2399">
                <a:solidFill>
                  <a:srgbClr val="FFFFFF"/>
                </a:solidFill>
                <a:latin typeface="DM Sans Bold"/>
                <a:ea typeface="DM Sans Bold"/>
                <a:cs typeface="DM Sans Bold"/>
                <a:sym typeface="DM Sans Bold"/>
              </a:rPr>
              <a:t>Bon compromis biais / variance</a:t>
            </a:r>
          </a:p>
        </p:txBody>
      </p:sp>
      <p:sp>
        <p:nvSpPr>
          <p:cNvPr name="TextBox 38" id="38"/>
          <p:cNvSpPr txBox="true"/>
          <p:nvPr/>
        </p:nvSpPr>
        <p:spPr>
          <a:xfrm rot="0">
            <a:off x="1263358" y="8286345"/>
            <a:ext cx="15761285" cy="1663065"/>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Les résultats montrent que CatBoost offre les meilleures performances globales en termes de RMSE et de R², tandis que les modèles entraînés sur la cible logarithmique assurent une meilleure précision relative. Les modèles de Gradient Boosting et XGBoost constituent de très bons compromis, alors qu’AdaBoost présente des performances nettement inférieures sur l’ensemble des scénarios.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199628" y="3086100"/>
            <a:ext cx="3924491" cy="4114800"/>
          </a:xfrm>
          <a:custGeom>
            <a:avLst/>
            <a:gdLst/>
            <a:ahLst/>
            <a:cxnLst/>
            <a:rect r="r" b="b" t="t" l="l"/>
            <a:pathLst>
              <a:path h="4114800" w="3924491">
                <a:moveTo>
                  <a:pt x="0" y="0"/>
                </a:moveTo>
                <a:lnTo>
                  <a:pt x="3924491" y="0"/>
                </a:lnTo>
                <a:lnTo>
                  <a:pt x="392449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3880330"/>
            <a:ext cx="9471486" cy="2421566"/>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Choix du modèle retenu</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6</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159421" y="5401890"/>
            <a:ext cx="8452442" cy="987425"/>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Choix du modèle</a:t>
            </a:r>
          </a:p>
        </p:txBody>
      </p:sp>
      <p:grpSp>
        <p:nvGrpSpPr>
          <p:cNvPr name="Group 6" id="6"/>
          <p:cNvGrpSpPr/>
          <p:nvPr/>
        </p:nvGrpSpPr>
        <p:grpSpPr>
          <a:xfrm rot="0">
            <a:off x="2591944" y="5372100"/>
            <a:ext cx="7769373" cy="4162797"/>
            <a:chOff x="0" y="0"/>
            <a:chExt cx="1777467" cy="952359"/>
          </a:xfrm>
        </p:grpSpPr>
        <p:sp>
          <p:nvSpPr>
            <p:cNvPr name="Freeform 7" id="7"/>
            <p:cNvSpPr/>
            <p:nvPr/>
          </p:nvSpPr>
          <p:spPr>
            <a:xfrm flipH="false" flipV="false" rot="0">
              <a:off x="0" y="0"/>
              <a:ext cx="1777467" cy="952359"/>
            </a:xfrm>
            <a:custGeom>
              <a:avLst/>
              <a:gdLst/>
              <a:ahLst/>
              <a:cxnLst/>
              <a:rect r="r" b="b" t="t" l="l"/>
              <a:pathLst>
                <a:path h="952359" w="1777467">
                  <a:moveTo>
                    <a:pt x="35873" y="0"/>
                  </a:moveTo>
                  <a:lnTo>
                    <a:pt x="1741594" y="0"/>
                  </a:lnTo>
                  <a:cubicBezTo>
                    <a:pt x="1751108" y="0"/>
                    <a:pt x="1760232" y="3779"/>
                    <a:pt x="1766960" y="10507"/>
                  </a:cubicBezTo>
                  <a:cubicBezTo>
                    <a:pt x="1773687" y="17234"/>
                    <a:pt x="1777467" y="26359"/>
                    <a:pt x="1777467" y="35873"/>
                  </a:cubicBezTo>
                  <a:lnTo>
                    <a:pt x="1777467" y="916486"/>
                  </a:lnTo>
                  <a:cubicBezTo>
                    <a:pt x="1777467" y="926000"/>
                    <a:pt x="1773687" y="935125"/>
                    <a:pt x="1766960" y="941852"/>
                  </a:cubicBezTo>
                  <a:cubicBezTo>
                    <a:pt x="1760232" y="948580"/>
                    <a:pt x="1751108" y="952359"/>
                    <a:pt x="1741594" y="952359"/>
                  </a:cubicBezTo>
                  <a:lnTo>
                    <a:pt x="35873" y="952359"/>
                  </a:lnTo>
                  <a:cubicBezTo>
                    <a:pt x="26359" y="952359"/>
                    <a:pt x="17234" y="948580"/>
                    <a:pt x="10507" y="941852"/>
                  </a:cubicBezTo>
                  <a:cubicBezTo>
                    <a:pt x="3779" y="935125"/>
                    <a:pt x="0" y="926000"/>
                    <a:pt x="0" y="916486"/>
                  </a:cubicBezTo>
                  <a:lnTo>
                    <a:pt x="0" y="35873"/>
                  </a:lnTo>
                  <a:cubicBezTo>
                    <a:pt x="0" y="26359"/>
                    <a:pt x="3779" y="17234"/>
                    <a:pt x="10507" y="10507"/>
                  </a:cubicBezTo>
                  <a:cubicBezTo>
                    <a:pt x="17234" y="3779"/>
                    <a:pt x="26359" y="0"/>
                    <a:pt x="35873" y="0"/>
                  </a:cubicBezTo>
                  <a:close/>
                </a:path>
              </a:pathLst>
            </a:custGeom>
            <a:solidFill>
              <a:srgbClr val="000000">
                <a:alpha val="0"/>
              </a:srgbClr>
            </a:solidFill>
            <a:ln w="66675" cap="rnd">
              <a:solidFill>
                <a:srgbClr val="FFFFFF"/>
              </a:solidFill>
              <a:prstDash val="solid"/>
              <a:round/>
            </a:ln>
          </p:spPr>
        </p:sp>
        <p:sp>
          <p:nvSpPr>
            <p:cNvPr name="TextBox 8" id="8"/>
            <p:cNvSpPr txBox="true"/>
            <p:nvPr/>
          </p:nvSpPr>
          <p:spPr>
            <a:xfrm>
              <a:off x="0" y="-28575"/>
              <a:ext cx="1777467" cy="980934"/>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3294474" y="5143500"/>
            <a:ext cx="6458322" cy="591076"/>
            <a:chOff x="0" y="0"/>
            <a:chExt cx="1477526" cy="135225"/>
          </a:xfrm>
        </p:grpSpPr>
        <p:sp>
          <p:nvSpPr>
            <p:cNvPr name="Freeform 10" id="10"/>
            <p:cNvSpPr/>
            <p:nvPr/>
          </p:nvSpPr>
          <p:spPr>
            <a:xfrm flipH="false" flipV="false" rot="0">
              <a:off x="0" y="0"/>
              <a:ext cx="1477526" cy="135225"/>
            </a:xfrm>
            <a:custGeom>
              <a:avLst/>
              <a:gdLst/>
              <a:ahLst/>
              <a:cxnLst/>
              <a:rect r="r" b="b" t="t" l="l"/>
              <a:pathLst>
                <a:path h="135225" w="1477526">
                  <a:moveTo>
                    <a:pt x="67613" y="0"/>
                  </a:moveTo>
                  <a:lnTo>
                    <a:pt x="1409913" y="0"/>
                  </a:lnTo>
                  <a:cubicBezTo>
                    <a:pt x="1427846" y="0"/>
                    <a:pt x="1445043" y="7123"/>
                    <a:pt x="1457723" y="19803"/>
                  </a:cubicBezTo>
                  <a:cubicBezTo>
                    <a:pt x="1470403" y="32483"/>
                    <a:pt x="1477526" y="49681"/>
                    <a:pt x="1477526" y="67613"/>
                  </a:cubicBezTo>
                  <a:lnTo>
                    <a:pt x="1477526" y="67613"/>
                  </a:lnTo>
                  <a:cubicBezTo>
                    <a:pt x="1477526" y="104954"/>
                    <a:pt x="1447255" y="135225"/>
                    <a:pt x="1409913"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11" id="11"/>
            <p:cNvSpPr txBox="true"/>
            <p:nvPr/>
          </p:nvSpPr>
          <p:spPr>
            <a:xfrm>
              <a:off x="0" y="-28575"/>
              <a:ext cx="1477526" cy="163800"/>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false" flipV="false" rot="0">
            <a:off x="113083" y="61739"/>
            <a:ext cx="2069837" cy="2170209"/>
          </a:xfrm>
          <a:custGeom>
            <a:avLst/>
            <a:gdLst/>
            <a:ahLst/>
            <a:cxnLst/>
            <a:rect r="r" b="b" t="t" l="l"/>
            <a:pathLst>
              <a:path h="2170209" w="2069837">
                <a:moveTo>
                  <a:pt x="0" y="0"/>
                </a:moveTo>
                <a:lnTo>
                  <a:pt x="2069838" y="0"/>
                </a:lnTo>
                <a:lnTo>
                  <a:pt x="2069838" y="2170209"/>
                </a:lnTo>
                <a:lnTo>
                  <a:pt x="0" y="21702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13" id="13"/>
          <p:cNvGraphicFramePr/>
          <p:nvPr/>
        </p:nvGraphicFramePr>
        <p:xfrm>
          <a:off x="9858285" y="470006"/>
          <a:ext cx="11315700" cy="3143250"/>
        </p:xfrm>
        <a:graphic>
          <a:graphicData uri="http://schemas.openxmlformats.org/presentationml/2006/ole">
            <p:oleObj imgW="13576300" imgH="5410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4" id="14"/>
          <p:cNvSpPr txBox="true"/>
          <p:nvPr/>
        </p:nvSpPr>
        <p:spPr>
          <a:xfrm rot="0">
            <a:off x="3266610" y="5159003"/>
            <a:ext cx="6514051" cy="483870"/>
          </a:xfrm>
          <a:prstGeom prst="rect">
            <a:avLst/>
          </a:prstGeom>
        </p:spPr>
        <p:txBody>
          <a:bodyPr anchor="t" rtlCol="false" tIns="0" lIns="0" bIns="0" rIns="0">
            <a:spAutoFit/>
          </a:bodyPr>
          <a:lstStyle/>
          <a:p>
            <a:pPr algn="ctr">
              <a:lnSpc>
                <a:spcPts val="3780"/>
              </a:lnSpc>
              <a:spcBef>
                <a:spcPct val="0"/>
              </a:spcBef>
            </a:pPr>
            <a:r>
              <a:rPr lang="en-US" b="true" sz="2700">
                <a:solidFill>
                  <a:srgbClr val="010B40"/>
                </a:solidFill>
                <a:latin typeface="Poppins Semi-Bold"/>
                <a:ea typeface="Poppins Semi-Bold"/>
                <a:cs typeface="Poppins Semi-Bold"/>
                <a:sym typeface="Poppins Semi-Bold"/>
              </a:rPr>
              <a:t>Optimisation de la variance globale</a:t>
            </a:r>
          </a:p>
        </p:txBody>
      </p:sp>
      <p:sp>
        <p:nvSpPr>
          <p:cNvPr name="TextBox 15" id="15"/>
          <p:cNvSpPr txBox="true"/>
          <p:nvPr/>
        </p:nvSpPr>
        <p:spPr>
          <a:xfrm rot="0">
            <a:off x="3098709" y="5847978"/>
            <a:ext cx="6755844" cy="2920366"/>
          </a:xfrm>
          <a:prstGeom prst="rect">
            <a:avLst/>
          </a:prstGeom>
        </p:spPr>
        <p:txBody>
          <a:bodyPr anchor="t" rtlCol="false" tIns="0" lIns="0" bIns="0" rIns="0">
            <a:spAutoFit/>
          </a:bodyPr>
          <a:lstStyle/>
          <a:p>
            <a:pPr algn="ctr">
              <a:lnSpc>
                <a:spcPts val="3359"/>
              </a:lnSpc>
            </a:pPr>
            <a:r>
              <a:rPr lang="en-US" b="true" sz="2399">
                <a:solidFill>
                  <a:srgbClr val="FFFFFF"/>
                </a:solidFill>
                <a:latin typeface="DM Sans Bold"/>
                <a:ea typeface="DM Sans Bold"/>
                <a:cs typeface="DM Sans Bold"/>
                <a:sym typeface="DM Sans Bold"/>
              </a:rPr>
              <a:t>Modèle : CatBoost (cible directe)</a:t>
            </a:r>
          </a:p>
          <a:p>
            <a:pPr algn="ctr">
              <a:lnSpc>
                <a:spcPts val="3359"/>
              </a:lnSpc>
            </a:pPr>
            <a:r>
              <a:rPr lang="en-US" b="true" sz="2399">
                <a:solidFill>
                  <a:srgbClr val="FFFFFF"/>
                </a:solidFill>
                <a:latin typeface="DM Sans Bold"/>
                <a:ea typeface="DM Sans Bold"/>
                <a:cs typeface="DM Sans Bold"/>
                <a:sym typeface="DM Sans Bold"/>
              </a:rPr>
              <a:t>Objectif métier : minimisation de l’erreur quadratique globale</a:t>
            </a:r>
          </a:p>
          <a:p>
            <a:pPr algn="ctr">
              <a:lnSpc>
                <a:spcPts val="3359"/>
              </a:lnSpc>
            </a:pPr>
            <a:r>
              <a:rPr lang="en-US" sz="2399" b="true">
                <a:solidFill>
                  <a:srgbClr val="FFFFFF"/>
                </a:solidFill>
                <a:latin typeface="DM Sans Bold"/>
                <a:ea typeface="DM Sans Bold"/>
                <a:cs typeface="DM Sans Bold"/>
                <a:sym typeface="DM Sans Bold"/>
              </a:rPr>
              <a:t>Performance maximale : R2 = 0.8429</a:t>
            </a:r>
          </a:p>
          <a:p>
            <a:pPr algn="ctr">
              <a:lnSpc>
                <a:spcPts val="3359"/>
              </a:lnSpc>
            </a:pPr>
            <a:r>
              <a:rPr lang="en-US" b="true" sz="2399">
                <a:solidFill>
                  <a:srgbClr val="FFFFFF"/>
                </a:solidFill>
                <a:latin typeface="DM Sans Bold"/>
                <a:ea typeface="DM Sans Bold"/>
                <a:cs typeface="DM Sans Bold"/>
                <a:sym typeface="DM Sans Bold"/>
              </a:rPr>
              <a:t>Erreur quadratique minimale : RMSE = 4721.29</a:t>
            </a:r>
          </a:p>
          <a:p>
            <a:pPr algn="ctr">
              <a:lnSpc>
                <a:spcPts val="3359"/>
              </a:lnSpc>
            </a:pPr>
            <a:r>
              <a:rPr lang="en-US" b="true" sz="2399">
                <a:solidFill>
                  <a:srgbClr val="FFFFFF"/>
                </a:solidFill>
                <a:latin typeface="DM Sans Bold"/>
                <a:ea typeface="DM Sans Bold"/>
                <a:cs typeface="DM Sans Bold"/>
                <a:sym typeface="DM Sans Bold"/>
              </a:rPr>
              <a:t>Gestion efficace des valeurs extrêmes</a:t>
            </a:r>
          </a:p>
          <a:p>
            <a:pPr algn="ctr">
              <a:lnSpc>
                <a:spcPts val="3359"/>
              </a:lnSpc>
            </a:pPr>
            <a:r>
              <a:rPr lang="en-US" b="true" sz="2399">
                <a:solidFill>
                  <a:srgbClr val="FFFFFF"/>
                </a:solidFill>
                <a:latin typeface="DM Sans Bold"/>
                <a:ea typeface="DM Sans Bold"/>
                <a:cs typeface="DM Sans Bold"/>
                <a:sym typeface="DM Sans Bold"/>
              </a:rPr>
              <a:t>Risque de surapprentissage limité</a:t>
            </a:r>
          </a:p>
        </p:txBody>
      </p:sp>
      <p:sp>
        <p:nvSpPr>
          <p:cNvPr name="TextBox 16" id="16"/>
          <p:cNvSpPr txBox="true"/>
          <p:nvPr/>
        </p:nvSpPr>
        <p:spPr>
          <a:xfrm rot="0">
            <a:off x="2434635" y="930381"/>
            <a:ext cx="7271045" cy="2174875"/>
          </a:xfrm>
          <a:prstGeom prst="rect">
            <a:avLst/>
          </a:prstGeom>
        </p:spPr>
        <p:txBody>
          <a:bodyPr anchor="t" rtlCol="false" tIns="0" lIns="0" bIns="0" rIns="0">
            <a:spAutoFit/>
          </a:bodyPr>
          <a:lstStyle/>
          <a:p>
            <a:pPr algn="r">
              <a:lnSpc>
                <a:spcPts val="3499"/>
              </a:lnSpc>
            </a:pPr>
            <a:r>
              <a:rPr lang="en-US" b="true" sz="2499">
                <a:solidFill>
                  <a:srgbClr val="FFFFFF"/>
                </a:solidFill>
                <a:latin typeface="DM Sans Bold"/>
                <a:ea typeface="DM Sans Bold"/>
                <a:cs typeface="DM Sans Bold"/>
                <a:sym typeface="DM Sans Bold"/>
              </a:rPr>
              <a:t>L'analyse des résultats consolidés démontre une progression nette de la performance à mesure que la complexité des modèles augmente, soulignant la nature non linéaire des données.</a:t>
            </a:r>
          </a:p>
        </p:txBody>
      </p:sp>
      <p:grpSp>
        <p:nvGrpSpPr>
          <p:cNvPr name="Group 17" id="17"/>
          <p:cNvGrpSpPr/>
          <p:nvPr/>
        </p:nvGrpSpPr>
        <p:grpSpPr>
          <a:xfrm rot="0">
            <a:off x="2434635" y="4036989"/>
            <a:ext cx="15853365" cy="891118"/>
            <a:chOff x="0" y="0"/>
            <a:chExt cx="3626912" cy="203869"/>
          </a:xfrm>
        </p:grpSpPr>
        <p:sp>
          <p:nvSpPr>
            <p:cNvPr name="Freeform 18" id="18"/>
            <p:cNvSpPr/>
            <p:nvPr/>
          </p:nvSpPr>
          <p:spPr>
            <a:xfrm flipH="false" flipV="false" rot="0">
              <a:off x="0" y="0"/>
              <a:ext cx="3626912" cy="203869"/>
            </a:xfrm>
            <a:custGeom>
              <a:avLst/>
              <a:gdLst/>
              <a:ahLst/>
              <a:cxnLst/>
              <a:rect r="r" b="b" t="t" l="l"/>
              <a:pathLst>
                <a:path h="203869" w="3626912">
                  <a:moveTo>
                    <a:pt x="48835" y="0"/>
                  </a:moveTo>
                  <a:lnTo>
                    <a:pt x="3578077" y="0"/>
                  </a:lnTo>
                  <a:cubicBezTo>
                    <a:pt x="3591029" y="0"/>
                    <a:pt x="3603450" y="5145"/>
                    <a:pt x="3612608" y="14303"/>
                  </a:cubicBezTo>
                  <a:cubicBezTo>
                    <a:pt x="3621767" y="23462"/>
                    <a:pt x="3626912" y="35883"/>
                    <a:pt x="3626912" y="48835"/>
                  </a:cubicBezTo>
                  <a:lnTo>
                    <a:pt x="3626912" y="155034"/>
                  </a:lnTo>
                  <a:cubicBezTo>
                    <a:pt x="3626912" y="182005"/>
                    <a:pt x="3605048" y="203869"/>
                    <a:pt x="3578077" y="203869"/>
                  </a:cubicBezTo>
                  <a:lnTo>
                    <a:pt x="48835" y="203869"/>
                  </a:lnTo>
                  <a:cubicBezTo>
                    <a:pt x="21864" y="203869"/>
                    <a:pt x="0" y="182005"/>
                    <a:pt x="0" y="155034"/>
                  </a:cubicBezTo>
                  <a:lnTo>
                    <a:pt x="0" y="48835"/>
                  </a:lnTo>
                  <a:cubicBezTo>
                    <a:pt x="0" y="21864"/>
                    <a:pt x="21864" y="0"/>
                    <a:pt x="48835" y="0"/>
                  </a:cubicBezTo>
                  <a:close/>
                </a:path>
              </a:pathLst>
            </a:custGeom>
            <a:solidFill>
              <a:srgbClr val="80BFAC"/>
            </a:solidFill>
          </p:spPr>
        </p:sp>
        <p:sp>
          <p:nvSpPr>
            <p:cNvPr name="TextBox 19" id="19"/>
            <p:cNvSpPr txBox="true"/>
            <p:nvPr/>
          </p:nvSpPr>
          <p:spPr>
            <a:xfrm>
              <a:off x="0" y="-28575"/>
              <a:ext cx="3626912" cy="232444"/>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2591944" y="4202513"/>
            <a:ext cx="15538747" cy="483870"/>
          </a:xfrm>
          <a:prstGeom prst="rect">
            <a:avLst/>
          </a:prstGeom>
        </p:spPr>
        <p:txBody>
          <a:bodyPr anchor="t" rtlCol="false" tIns="0" lIns="0" bIns="0" rIns="0">
            <a:spAutoFit/>
          </a:bodyPr>
          <a:lstStyle/>
          <a:p>
            <a:pPr algn="ctr">
              <a:lnSpc>
                <a:spcPts val="3780"/>
              </a:lnSpc>
              <a:spcBef>
                <a:spcPct val="0"/>
              </a:spcBef>
            </a:pPr>
            <a:r>
              <a:rPr lang="en-US" b="true" sz="2700">
                <a:solidFill>
                  <a:srgbClr val="FFFFFF"/>
                </a:solidFill>
                <a:latin typeface="Poppins Semi-Bold"/>
                <a:ea typeface="Poppins Semi-Bold"/>
                <a:cs typeface="Poppins Semi-Bold"/>
                <a:sym typeface="Poppins Semi-Bold"/>
              </a:rPr>
              <a:t>L'examen des métriques révèle deux modèles dominants selon l'objectif métier privilégié </a:t>
            </a:r>
          </a:p>
        </p:txBody>
      </p:sp>
      <p:grpSp>
        <p:nvGrpSpPr>
          <p:cNvPr name="Group 21" id="21"/>
          <p:cNvGrpSpPr/>
          <p:nvPr/>
        </p:nvGrpSpPr>
        <p:grpSpPr>
          <a:xfrm rot="0">
            <a:off x="10361318" y="5372100"/>
            <a:ext cx="7769373" cy="4162797"/>
            <a:chOff x="0" y="0"/>
            <a:chExt cx="1777467" cy="952359"/>
          </a:xfrm>
        </p:grpSpPr>
        <p:sp>
          <p:nvSpPr>
            <p:cNvPr name="Freeform 22" id="22"/>
            <p:cNvSpPr/>
            <p:nvPr/>
          </p:nvSpPr>
          <p:spPr>
            <a:xfrm flipH="false" flipV="false" rot="0">
              <a:off x="0" y="0"/>
              <a:ext cx="1777467" cy="952359"/>
            </a:xfrm>
            <a:custGeom>
              <a:avLst/>
              <a:gdLst/>
              <a:ahLst/>
              <a:cxnLst/>
              <a:rect r="r" b="b" t="t" l="l"/>
              <a:pathLst>
                <a:path h="952359" w="1777467">
                  <a:moveTo>
                    <a:pt x="35873" y="0"/>
                  </a:moveTo>
                  <a:lnTo>
                    <a:pt x="1741594" y="0"/>
                  </a:lnTo>
                  <a:cubicBezTo>
                    <a:pt x="1751108" y="0"/>
                    <a:pt x="1760232" y="3779"/>
                    <a:pt x="1766960" y="10507"/>
                  </a:cubicBezTo>
                  <a:cubicBezTo>
                    <a:pt x="1773687" y="17234"/>
                    <a:pt x="1777467" y="26359"/>
                    <a:pt x="1777467" y="35873"/>
                  </a:cubicBezTo>
                  <a:lnTo>
                    <a:pt x="1777467" y="916486"/>
                  </a:lnTo>
                  <a:cubicBezTo>
                    <a:pt x="1777467" y="926000"/>
                    <a:pt x="1773687" y="935125"/>
                    <a:pt x="1766960" y="941852"/>
                  </a:cubicBezTo>
                  <a:cubicBezTo>
                    <a:pt x="1760232" y="948580"/>
                    <a:pt x="1751108" y="952359"/>
                    <a:pt x="1741594" y="952359"/>
                  </a:cubicBezTo>
                  <a:lnTo>
                    <a:pt x="35873" y="952359"/>
                  </a:lnTo>
                  <a:cubicBezTo>
                    <a:pt x="26359" y="952359"/>
                    <a:pt x="17234" y="948580"/>
                    <a:pt x="10507" y="941852"/>
                  </a:cubicBezTo>
                  <a:cubicBezTo>
                    <a:pt x="3779" y="935125"/>
                    <a:pt x="0" y="926000"/>
                    <a:pt x="0" y="916486"/>
                  </a:cubicBezTo>
                  <a:lnTo>
                    <a:pt x="0" y="35873"/>
                  </a:lnTo>
                  <a:cubicBezTo>
                    <a:pt x="0" y="26359"/>
                    <a:pt x="3779" y="17234"/>
                    <a:pt x="10507" y="10507"/>
                  </a:cubicBezTo>
                  <a:cubicBezTo>
                    <a:pt x="17234" y="3779"/>
                    <a:pt x="26359" y="0"/>
                    <a:pt x="35873" y="0"/>
                  </a:cubicBezTo>
                  <a:close/>
                </a:path>
              </a:pathLst>
            </a:custGeom>
            <a:solidFill>
              <a:srgbClr val="000000">
                <a:alpha val="0"/>
              </a:srgbClr>
            </a:solidFill>
            <a:ln w="66675" cap="rnd">
              <a:solidFill>
                <a:srgbClr val="FFFFFF"/>
              </a:solidFill>
              <a:prstDash val="solid"/>
              <a:round/>
            </a:ln>
          </p:spPr>
        </p:sp>
        <p:sp>
          <p:nvSpPr>
            <p:cNvPr name="TextBox 23" id="23"/>
            <p:cNvSpPr txBox="true"/>
            <p:nvPr/>
          </p:nvSpPr>
          <p:spPr>
            <a:xfrm>
              <a:off x="0" y="-28575"/>
              <a:ext cx="1777467" cy="980934"/>
            </a:xfrm>
            <a:prstGeom prst="rect">
              <a:avLst/>
            </a:prstGeom>
          </p:spPr>
          <p:txBody>
            <a:bodyPr anchor="ctr" rtlCol="false" tIns="50800" lIns="50800" bIns="50800" rIns="50800"/>
            <a:lstStyle/>
            <a:p>
              <a:pPr algn="ctr">
                <a:lnSpc>
                  <a:spcPts val="2520"/>
                </a:lnSpc>
              </a:pPr>
            </a:p>
          </p:txBody>
        </p:sp>
      </p:grpSp>
      <p:grpSp>
        <p:nvGrpSpPr>
          <p:cNvPr name="Group 24" id="24"/>
          <p:cNvGrpSpPr/>
          <p:nvPr/>
        </p:nvGrpSpPr>
        <p:grpSpPr>
          <a:xfrm rot="0">
            <a:off x="11063848" y="5143500"/>
            <a:ext cx="6458322" cy="591076"/>
            <a:chOff x="0" y="0"/>
            <a:chExt cx="1477526" cy="135225"/>
          </a:xfrm>
        </p:grpSpPr>
        <p:sp>
          <p:nvSpPr>
            <p:cNvPr name="Freeform 25" id="25"/>
            <p:cNvSpPr/>
            <p:nvPr/>
          </p:nvSpPr>
          <p:spPr>
            <a:xfrm flipH="false" flipV="false" rot="0">
              <a:off x="0" y="0"/>
              <a:ext cx="1477526" cy="135225"/>
            </a:xfrm>
            <a:custGeom>
              <a:avLst/>
              <a:gdLst/>
              <a:ahLst/>
              <a:cxnLst/>
              <a:rect r="r" b="b" t="t" l="l"/>
              <a:pathLst>
                <a:path h="135225" w="1477526">
                  <a:moveTo>
                    <a:pt x="67613" y="0"/>
                  </a:moveTo>
                  <a:lnTo>
                    <a:pt x="1409913" y="0"/>
                  </a:lnTo>
                  <a:cubicBezTo>
                    <a:pt x="1427846" y="0"/>
                    <a:pt x="1445043" y="7123"/>
                    <a:pt x="1457723" y="19803"/>
                  </a:cubicBezTo>
                  <a:cubicBezTo>
                    <a:pt x="1470403" y="32483"/>
                    <a:pt x="1477526" y="49681"/>
                    <a:pt x="1477526" y="67613"/>
                  </a:cubicBezTo>
                  <a:lnTo>
                    <a:pt x="1477526" y="67613"/>
                  </a:lnTo>
                  <a:cubicBezTo>
                    <a:pt x="1477526" y="104954"/>
                    <a:pt x="1447255" y="135225"/>
                    <a:pt x="1409913"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26" id="26"/>
            <p:cNvSpPr txBox="true"/>
            <p:nvPr/>
          </p:nvSpPr>
          <p:spPr>
            <a:xfrm>
              <a:off x="0" y="-28575"/>
              <a:ext cx="1477526" cy="163800"/>
            </a:xfrm>
            <a:prstGeom prst="rect">
              <a:avLst/>
            </a:prstGeom>
          </p:spPr>
          <p:txBody>
            <a:bodyPr anchor="ctr" rtlCol="false" tIns="50800" lIns="50800" bIns="50800" rIns="50800"/>
            <a:lstStyle/>
            <a:p>
              <a:pPr algn="ctr">
                <a:lnSpc>
                  <a:spcPts val="2520"/>
                </a:lnSpc>
              </a:pPr>
            </a:p>
          </p:txBody>
        </p:sp>
      </p:grpSp>
      <p:sp>
        <p:nvSpPr>
          <p:cNvPr name="TextBox 27" id="27"/>
          <p:cNvSpPr txBox="true"/>
          <p:nvPr/>
        </p:nvSpPr>
        <p:spPr>
          <a:xfrm rot="0">
            <a:off x="11035983" y="5159003"/>
            <a:ext cx="6514051" cy="483870"/>
          </a:xfrm>
          <a:prstGeom prst="rect">
            <a:avLst/>
          </a:prstGeom>
        </p:spPr>
        <p:txBody>
          <a:bodyPr anchor="t" rtlCol="false" tIns="0" lIns="0" bIns="0" rIns="0">
            <a:spAutoFit/>
          </a:bodyPr>
          <a:lstStyle/>
          <a:p>
            <a:pPr algn="ctr">
              <a:lnSpc>
                <a:spcPts val="3780"/>
              </a:lnSpc>
              <a:spcBef>
                <a:spcPct val="0"/>
              </a:spcBef>
            </a:pPr>
            <a:r>
              <a:rPr lang="en-US" b="true" sz="2700">
                <a:solidFill>
                  <a:srgbClr val="010B40"/>
                </a:solidFill>
                <a:latin typeface="Poppins Semi-Bold"/>
                <a:ea typeface="Poppins Semi-Bold"/>
                <a:cs typeface="Poppins Semi-Bold"/>
                <a:sym typeface="Poppins Semi-Bold"/>
              </a:rPr>
              <a:t>Optimisation de l’erreur relative</a:t>
            </a:r>
          </a:p>
        </p:txBody>
      </p:sp>
      <p:sp>
        <p:nvSpPr>
          <p:cNvPr name="TextBox 28" id="28"/>
          <p:cNvSpPr txBox="true"/>
          <p:nvPr/>
        </p:nvSpPr>
        <p:spPr>
          <a:xfrm rot="0">
            <a:off x="10742667" y="5776332"/>
            <a:ext cx="7100684" cy="2920365"/>
          </a:xfrm>
          <a:prstGeom prst="rect">
            <a:avLst/>
          </a:prstGeom>
        </p:spPr>
        <p:txBody>
          <a:bodyPr anchor="t" rtlCol="false" tIns="0" lIns="0" bIns="0" rIns="0">
            <a:spAutoFit/>
          </a:bodyPr>
          <a:lstStyle/>
          <a:p>
            <a:pPr algn="ctr">
              <a:lnSpc>
                <a:spcPts val="3359"/>
              </a:lnSpc>
            </a:pPr>
            <a:r>
              <a:rPr lang="en-US" b="true" sz="2400">
                <a:solidFill>
                  <a:srgbClr val="FFFFFF"/>
                </a:solidFill>
                <a:latin typeface="DM Sans Bold"/>
                <a:ea typeface="DM Sans Bold"/>
                <a:cs typeface="DM Sans Bold"/>
                <a:sym typeface="DM Sans Bold"/>
              </a:rPr>
              <a:t>Modèle : Random Forest (cible logarithmique)</a:t>
            </a:r>
          </a:p>
          <a:p>
            <a:pPr algn="ctr">
              <a:lnSpc>
                <a:spcPts val="3359"/>
              </a:lnSpc>
            </a:pPr>
            <a:r>
              <a:rPr lang="en-US" b="true" sz="2400">
                <a:solidFill>
                  <a:srgbClr val="FFFFFF"/>
                </a:solidFill>
                <a:latin typeface="DM Sans Bold"/>
                <a:ea typeface="DM Sans Bold"/>
                <a:cs typeface="DM Sans Bold"/>
                <a:sym typeface="DM Sans Bold"/>
              </a:rPr>
              <a:t>Objectif métier : précision proportionnelle des prédictions</a:t>
            </a:r>
          </a:p>
          <a:p>
            <a:pPr algn="ctr">
              <a:lnSpc>
                <a:spcPts val="3359"/>
              </a:lnSpc>
            </a:pPr>
            <a:r>
              <a:rPr lang="en-US" b="true" sz="2400">
                <a:solidFill>
                  <a:srgbClr val="FFFFFF"/>
                </a:solidFill>
                <a:latin typeface="DM Sans Bold"/>
                <a:ea typeface="DM Sans Bold"/>
                <a:cs typeface="DM Sans Bold"/>
                <a:sym typeface="DM Sans Bold"/>
              </a:rPr>
              <a:t>Meilleure performance relative : MAPE = 18.28 %</a:t>
            </a:r>
          </a:p>
          <a:p>
            <a:pPr algn="ctr">
              <a:lnSpc>
                <a:spcPts val="3359"/>
              </a:lnSpc>
            </a:pPr>
            <a:r>
              <a:rPr lang="en-US" b="true" sz="2400">
                <a:solidFill>
                  <a:srgbClr val="FFFFFF"/>
                </a:solidFill>
                <a:latin typeface="DM Sans Bold"/>
                <a:ea typeface="DM Sans Bold"/>
                <a:cs typeface="DM Sans Bold"/>
                <a:sym typeface="DM Sans Bold"/>
              </a:rPr>
              <a:t>Stabilisation de la variance</a:t>
            </a:r>
          </a:p>
          <a:p>
            <a:pPr algn="ctr">
              <a:lnSpc>
                <a:spcPts val="3359"/>
              </a:lnSpc>
            </a:pPr>
            <a:r>
              <a:rPr lang="en-US" b="true" sz="2400">
                <a:solidFill>
                  <a:srgbClr val="FFFFFF"/>
                </a:solidFill>
                <a:latin typeface="DM Sans Bold"/>
                <a:ea typeface="DM Sans Bold"/>
                <a:cs typeface="DM Sans Bold"/>
                <a:sym typeface="DM Sans Bold"/>
              </a:rPr>
              <a:t>Amélioration des prédictions sur les petits et moyens coûts médicaux</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2434635" cy="10287000"/>
            <a:chOff x="0" y="0"/>
            <a:chExt cx="641221" cy="2709333"/>
          </a:xfrm>
        </p:grpSpPr>
        <p:sp>
          <p:nvSpPr>
            <p:cNvPr name="Freeform 3" id="3"/>
            <p:cNvSpPr/>
            <p:nvPr/>
          </p:nvSpPr>
          <p:spPr>
            <a:xfrm flipH="false" flipV="false" rot="0">
              <a:off x="0" y="0"/>
              <a:ext cx="641221" cy="2709333"/>
            </a:xfrm>
            <a:custGeom>
              <a:avLst/>
              <a:gdLst/>
              <a:ahLst/>
              <a:cxnLst/>
              <a:rect r="r" b="b" t="t" l="l"/>
              <a:pathLst>
                <a:path h="2709333" w="641221">
                  <a:moveTo>
                    <a:pt x="0" y="0"/>
                  </a:moveTo>
                  <a:lnTo>
                    <a:pt x="641221" y="0"/>
                  </a:lnTo>
                  <a:lnTo>
                    <a:pt x="641221" y="2709333"/>
                  </a:lnTo>
                  <a:lnTo>
                    <a:pt x="0" y="2709333"/>
                  </a:lnTo>
                  <a:close/>
                </a:path>
              </a:pathLst>
            </a:custGeom>
            <a:solidFill>
              <a:srgbClr val="FFFFFF"/>
            </a:solidFill>
          </p:spPr>
        </p:sp>
        <p:sp>
          <p:nvSpPr>
            <p:cNvPr name="TextBox 4" id="4"/>
            <p:cNvSpPr txBox="true"/>
            <p:nvPr/>
          </p:nvSpPr>
          <p:spPr>
            <a:xfrm>
              <a:off x="0" y="0"/>
              <a:ext cx="641221" cy="2709333"/>
            </a:xfrm>
            <a:prstGeom prst="rect">
              <a:avLst/>
            </a:prstGeom>
          </p:spPr>
          <p:txBody>
            <a:bodyPr anchor="ctr" rtlCol="false" tIns="50800" lIns="50800" bIns="50800" rIns="50800"/>
            <a:lstStyle/>
            <a:p>
              <a:pPr algn="ctr">
                <a:lnSpc>
                  <a:spcPts val="2729"/>
                </a:lnSpc>
              </a:pPr>
            </a:p>
          </p:txBody>
        </p:sp>
      </p:grpSp>
      <p:sp>
        <p:nvSpPr>
          <p:cNvPr name="TextBox 5" id="5"/>
          <p:cNvSpPr txBox="true"/>
          <p:nvPr/>
        </p:nvSpPr>
        <p:spPr>
          <a:xfrm rot="-5400000">
            <a:off x="-3159421" y="5401890"/>
            <a:ext cx="8452442" cy="987425"/>
          </a:xfrm>
          <a:prstGeom prst="rect">
            <a:avLst/>
          </a:prstGeom>
        </p:spPr>
        <p:txBody>
          <a:bodyPr anchor="t" rtlCol="false" tIns="0" lIns="0" bIns="0" rIns="0">
            <a:spAutoFit/>
          </a:bodyPr>
          <a:lstStyle/>
          <a:p>
            <a:pPr algn="l">
              <a:lnSpc>
                <a:spcPts val="6999"/>
              </a:lnSpc>
            </a:pPr>
            <a:r>
              <a:rPr lang="en-US" sz="6999" b="true">
                <a:solidFill>
                  <a:srgbClr val="0B4B49"/>
                </a:solidFill>
                <a:latin typeface="Poppins Bold"/>
                <a:ea typeface="Poppins Bold"/>
                <a:cs typeface="Poppins Bold"/>
                <a:sym typeface="Poppins Bold"/>
              </a:rPr>
              <a:t>Choix du modèle</a:t>
            </a:r>
          </a:p>
        </p:txBody>
      </p:sp>
      <p:grpSp>
        <p:nvGrpSpPr>
          <p:cNvPr name="Group 6" id="6"/>
          <p:cNvGrpSpPr/>
          <p:nvPr/>
        </p:nvGrpSpPr>
        <p:grpSpPr>
          <a:xfrm rot="0">
            <a:off x="4084012" y="5662004"/>
            <a:ext cx="11972240" cy="4162797"/>
            <a:chOff x="0" y="0"/>
            <a:chExt cx="2738993" cy="952359"/>
          </a:xfrm>
        </p:grpSpPr>
        <p:sp>
          <p:nvSpPr>
            <p:cNvPr name="Freeform 7" id="7"/>
            <p:cNvSpPr/>
            <p:nvPr/>
          </p:nvSpPr>
          <p:spPr>
            <a:xfrm flipH="false" flipV="false" rot="0">
              <a:off x="0" y="0"/>
              <a:ext cx="2738993" cy="952359"/>
            </a:xfrm>
            <a:custGeom>
              <a:avLst/>
              <a:gdLst/>
              <a:ahLst/>
              <a:cxnLst/>
              <a:rect r="r" b="b" t="t" l="l"/>
              <a:pathLst>
                <a:path h="952359" w="2738993">
                  <a:moveTo>
                    <a:pt x="23280" y="0"/>
                  </a:moveTo>
                  <a:lnTo>
                    <a:pt x="2715713" y="0"/>
                  </a:lnTo>
                  <a:cubicBezTo>
                    <a:pt x="2721888" y="0"/>
                    <a:pt x="2727809" y="2453"/>
                    <a:pt x="2732175" y="6818"/>
                  </a:cubicBezTo>
                  <a:cubicBezTo>
                    <a:pt x="2736540" y="11184"/>
                    <a:pt x="2738993" y="17105"/>
                    <a:pt x="2738993" y="23280"/>
                  </a:cubicBezTo>
                  <a:lnTo>
                    <a:pt x="2738993" y="929080"/>
                  </a:lnTo>
                  <a:cubicBezTo>
                    <a:pt x="2738993" y="941937"/>
                    <a:pt x="2728570" y="952359"/>
                    <a:pt x="2715713" y="952359"/>
                  </a:cubicBezTo>
                  <a:lnTo>
                    <a:pt x="23280" y="952359"/>
                  </a:lnTo>
                  <a:cubicBezTo>
                    <a:pt x="10423" y="952359"/>
                    <a:pt x="0" y="941937"/>
                    <a:pt x="0" y="929080"/>
                  </a:cubicBezTo>
                  <a:lnTo>
                    <a:pt x="0" y="23280"/>
                  </a:lnTo>
                  <a:cubicBezTo>
                    <a:pt x="0" y="10423"/>
                    <a:pt x="10423" y="0"/>
                    <a:pt x="23280" y="0"/>
                  </a:cubicBezTo>
                  <a:close/>
                </a:path>
              </a:pathLst>
            </a:custGeom>
            <a:solidFill>
              <a:srgbClr val="000000">
                <a:alpha val="0"/>
              </a:srgbClr>
            </a:solidFill>
            <a:ln w="66675" cap="rnd">
              <a:solidFill>
                <a:srgbClr val="FFFFFF"/>
              </a:solidFill>
              <a:prstDash val="solid"/>
              <a:round/>
            </a:ln>
          </p:spPr>
        </p:sp>
        <p:sp>
          <p:nvSpPr>
            <p:cNvPr name="TextBox 8" id="8"/>
            <p:cNvSpPr txBox="true"/>
            <p:nvPr/>
          </p:nvSpPr>
          <p:spPr>
            <a:xfrm>
              <a:off x="0" y="-28575"/>
              <a:ext cx="2738993" cy="980934"/>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6382948" y="5433404"/>
            <a:ext cx="7374369" cy="591076"/>
            <a:chOff x="0" y="0"/>
            <a:chExt cx="1687098" cy="135225"/>
          </a:xfrm>
        </p:grpSpPr>
        <p:sp>
          <p:nvSpPr>
            <p:cNvPr name="Freeform 10" id="10"/>
            <p:cNvSpPr/>
            <p:nvPr/>
          </p:nvSpPr>
          <p:spPr>
            <a:xfrm flipH="false" flipV="false" rot="0">
              <a:off x="0" y="0"/>
              <a:ext cx="1687098" cy="135225"/>
            </a:xfrm>
            <a:custGeom>
              <a:avLst/>
              <a:gdLst/>
              <a:ahLst/>
              <a:cxnLst/>
              <a:rect r="r" b="b" t="t" l="l"/>
              <a:pathLst>
                <a:path h="135225" w="1687098">
                  <a:moveTo>
                    <a:pt x="67613" y="0"/>
                  </a:moveTo>
                  <a:lnTo>
                    <a:pt x="1619486" y="0"/>
                  </a:lnTo>
                  <a:cubicBezTo>
                    <a:pt x="1637418" y="0"/>
                    <a:pt x="1654615" y="7123"/>
                    <a:pt x="1667295" y="19803"/>
                  </a:cubicBezTo>
                  <a:cubicBezTo>
                    <a:pt x="1679975" y="32483"/>
                    <a:pt x="1687098" y="49681"/>
                    <a:pt x="1687098" y="67613"/>
                  </a:cubicBezTo>
                  <a:lnTo>
                    <a:pt x="1687098" y="67613"/>
                  </a:lnTo>
                  <a:cubicBezTo>
                    <a:pt x="1687098" y="104954"/>
                    <a:pt x="1656827" y="135225"/>
                    <a:pt x="1619486" y="135225"/>
                  </a:cubicBezTo>
                  <a:lnTo>
                    <a:pt x="67613" y="135225"/>
                  </a:lnTo>
                  <a:cubicBezTo>
                    <a:pt x="49681" y="135225"/>
                    <a:pt x="32483" y="128102"/>
                    <a:pt x="19803" y="115422"/>
                  </a:cubicBezTo>
                  <a:cubicBezTo>
                    <a:pt x="7123" y="102742"/>
                    <a:pt x="0" y="85545"/>
                    <a:pt x="0" y="67613"/>
                  </a:cubicBezTo>
                  <a:lnTo>
                    <a:pt x="0" y="67613"/>
                  </a:lnTo>
                  <a:cubicBezTo>
                    <a:pt x="0" y="49681"/>
                    <a:pt x="7123" y="32483"/>
                    <a:pt x="19803" y="19803"/>
                  </a:cubicBezTo>
                  <a:cubicBezTo>
                    <a:pt x="32483" y="7123"/>
                    <a:pt x="49681" y="0"/>
                    <a:pt x="67613" y="0"/>
                  </a:cubicBezTo>
                  <a:close/>
                </a:path>
              </a:pathLst>
            </a:custGeom>
            <a:solidFill>
              <a:srgbClr val="FFFFFF"/>
            </a:solidFill>
          </p:spPr>
        </p:sp>
        <p:sp>
          <p:nvSpPr>
            <p:cNvPr name="TextBox 11" id="11"/>
            <p:cNvSpPr txBox="true"/>
            <p:nvPr/>
          </p:nvSpPr>
          <p:spPr>
            <a:xfrm>
              <a:off x="0" y="-28575"/>
              <a:ext cx="1687098" cy="163800"/>
            </a:xfrm>
            <a:prstGeom prst="rect">
              <a:avLst/>
            </a:prstGeom>
          </p:spPr>
          <p:txBody>
            <a:bodyPr anchor="ctr" rtlCol="false" tIns="50800" lIns="50800" bIns="50800" rIns="50800"/>
            <a:lstStyle/>
            <a:p>
              <a:pPr algn="ctr">
                <a:lnSpc>
                  <a:spcPts val="2520"/>
                </a:lnSpc>
              </a:pPr>
            </a:p>
          </p:txBody>
        </p:sp>
      </p:grpSp>
      <p:sp>
        <p:nvSpPr>
          <p:cNvPr name="Freeform 12" id="12"/>
          <p:cNvSpPr/>
          <p:nvPr/>
        </p:nvSpPr>
        <p:spPr>
          <a:xfrm flipH="false" flipV="false" rot="0">
            <a:off x="113083" y="61739"/>
            <a:ext cx="2069837" cy="2170209"/>
          </a:xfrm>
          <a:custGeom>
            <a:avLst/>
            <a:gdLst/>
            <a:ahLst/>
            <a:cxnLst/>
            <a:rect r="r" b="b" t="t" l="l"/>
            <a:pathLst>
              <a:path h="2170209" w="2069837">
                <a:moveTo>
                  <a:pt x="0" y="0"/>
                </a:moveTo>
                <a:lnTo>
                  <a:pt x="2069838" y="0"/>
                </a:lnTo>
                <a:lnTo>
                  <a:pt x="2069838" y="2170209"/>
                </a:lnTo>
                <a:lnTo>
                  <a:pt x="0" y="21702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6351131" y="5448907"/>
            <a:ext cx="7438003" cy="483870"/>
          </a:xfrm>
          <a:prstGeom prst="rect">
            <a:avLst/>
          </a:prstGeom>
        </p:spPr>
        <p:txBody>
          <a:bodyPr anchor="t" rtlCol="false" tIns="0" lIns="0" bIns="0" rIns="0">
            <a:spAutoFit/>
          </a:bodyPr>
          <a:lstStyle/>
          <a:p>
            <a:pPr algn="ctr">
              <a:lnSpc>
                <a:spcPts val="3780"/>
              </a:lnSpc>
              <a:spcBef>
                <a:spcPct val="0"/>
              </a:spcBef>
            </a:pPr>
            <a:r>
              <a:rPr lang="en-US" b="true" sz="2700">
                <a:solidFill>
                  <a:srgbClr val="010B40"/>
                </a:solidFill>
                <a:latin typeface="Poppins Semi-Bold"/>
                <a:ea typeface="Poppins Semi-Bold"/>
                <a:cs typeface="Poppins Semi-Bold"/>
                <a:sym typeface="Poppins Semi-Bold"/>
              </a:rPr>
              <a:t>Configuration finale du modèle retenu</a:t>
            </a:r>
          </a:p>
        </p:txBody>
      </p:sp>
      <p:sp>
        <p:nvSpPr>
          <p:cNvPr name="TextBox 14" id="14"/>
          <p:cNvSpPr txBox="true"/>
          <p:nvPr/>
        </p:nvSpPr>
        <p:spPr>
          <a:xfrm rot="0">
            <a:off x="4084012" y="5976855"/>
            <a:ext cx="11972240" cy="3639786"/>
          </a:xfrm>
          <a:prstGeom prst="rect">
            <a:avLst/>
          </a:prstGeom>
        </p:spPr>
        <p:txBody>
          <a:bodyPr anchor="t" rtlCol="false" tIns="0" lIns="0" bIns="0" rIns="0">
            <a:spAutoFit/>
          </a:bodyPr>
          <a:lstStyle/>
          <a:p>
            <a:pPr algn="l" marL="637193" indent="-318596" lvl="1">
              <a:lnSpc>
                <a:spcPts val="4131"/>
              </a:lnSpc>
              <a:buFont typeface="Arial"/>
              <a:buChar char="•"/>
            </a:pPr>
            <a:r>
              <a:rPr lang="en-US" b="true" sz="2951">
                <a:solidFill>
                  <a:srgbClr val="FFFFFF"/>
                </a:solidFill>
                <a:latin typeface="DM Sans Bold"/>
                <a:ea typeface="DM Sans Bold"/>
                <a:cs typeface="DM Sans Bold"/>
                <a:sym typeface="DM Sans Bold"/>
              </a:rPr>
              <a:t>Algorithme : CatBoostRegressor</a:t>
            </a:r>
          </a:p>
          <a:p>
            <a:pPr algn="l" marL="637193" indent="-318596" lvl="1">
              <a:lnSpc>
                <a:spcPts val="4131"/>
              </a:lnSpc>
              <a:buFont typeface="Arial"/>
              <a:buChar char="•"/>
            </a:pPr>
            <a:r>
              <a:rPr lang="en-US" b="true" sz="2951">
                <a:solidFill>
                  <a:srgbClr val="FFFFFF"/>
                </a:solidFill>
                <a:latin typeface="DM Sans Bold"/>
                <a:ea typeface="DM Sans Bold"/>
                <a:cs typeface="DM Sans Bold"/>
                <a:sym typeface="DM Sans Bold"/>
              </a:rPr>
              <a:t>Cible : charges</a:t>
            </a:r>
          </a:p>
          <a:p>
            <a:pPr algn="l" marL="637193" indent="-318596" lvl="1">
              <a:lnSpc>
                <a:spcPts val="4131"/>
              </a:lnSpc>
              <a:buFont typeface="Arial"/>
              <a:buChar char="•"/>
            </a:pPr>
            <a:r>
              <a:rPr lang="en-US" b="true" sz="2951">
                <a:solidFill>
                  <a:srgbClr val="FFFFFF"/>
                </a:solidFill>
                <a:latin typeface="DM Sans Bold"/>
                <a:ea typeface="DM Sans Bold"/>
                <a:cs typeface="DM Sans Bold"/>
                <a:sym typeface="DM Sans Bold"/>
              </a:rPr>
              <a:t>Prétraitement : One-Hot Encoding des variables catégorielles</a:t>
            </a:r>
          </a:p>
          <a:p>
            <a:pPr algn="l" marL="637193" indent="-318596" lvl="1">
              <a:lnSpc>
                <a:spcPts val="4131"/>
              </a:lnSpc>
              <a:buFont typeface="Arial"/>
              <a:buChar char="•"/>
            </a:pPr>
            <a:r>
              <a:rPr lang="en-US" b="true" sz="2951">
                <a:solidFill>
                  <a:srgbClr val="FFFFFF"/>
                </a:solidFill>
                <a:latin typeface="DM Sans Bold"/>
                <a:ea typeface="DM Sans Bold"/>
                <a:cs typeface="DM Sans Bold"/>
                <a:sym typeface="DM Sans Bold"/>
              </a:rPr>
              <a:t>Hyperparamètres optimaux :</a:t>
            </a:r>
          </a:p>
          <a:p>
            <a:pPr algn="l" marL="1274385" indent="-424795" lvl="2">
              <a:lnSpc>
                <a:spcPts val="4131"/>
              </a:lnSpc>
              <a:buFont typeface="Arial"/>
              <a:buChar char="⚬"/>
            </a:pPr>
            <a:r>
              <a:rPr lang="en-US" b="true" sz="2951">
                <a:solidFill>
                  <a:srgbClr val="FFFFFF"/>
                </a:solidFill>
                <a:latin typeface="DM Sans Bold"/>
                <a:ea typeface="DM Sans Bold"/>
                <a:cs typeface="DM Sans Bold"/>
                <a:sym typeface="DM Sans Bold"/>
              </a:rPr>
              <a:t>depth = 4</a:t>
            </a:r>
          </a:p>
          <a:p>
            <a:pPr algn="l" marL="1274385" indent="-424795" lvl="2">
              <a:lnSpc>
                <a:spcPts val="4131"/>
              </a:lnSpc>
              <a:buFont typeface="Arial"/>
              <a:buChar char="⚬"/>
            </a:pPr>
            <a:r>
              <a:rPr lang="en-US" b="true" sz="2951">
                <a:solidFill>
                  <a:srgbClr val="FFFFFF"/>
                </a:solidFill>
                <a:latin typeface="DM Sans Bold"/>
                <a:ea typeface="DM Sans Bold"/>
                <a:cs typeface="DM Sans Bold"/>
                <a:sym typeface="DM Sans Bold"/>
              </a:rPr>
              <a:t>iterations = 200</a:t>
            </a:r>
          </a:p>
          <a:p>
            <a:pPr algn="l" marL="1274385" indent="-424795" lvl="2">
              <a:lnSpc>
                <a:spcPts val="4131"/>
              </a:lnSpc>
              <a:buFont typeface="Arial"/>
              <a:buChar char="⚬"/>
            </a:pPr>
            <a:r>
              <a:rPr lang="en-US" b="true" sz="2951">
                <a:solidFill>
                  <a:srgbClr val="FFFFFF"/>
                </a:solidFill>
                <a:latin typeface="DM Sans Bold"/>
                <a:ea typeface="DM Sans Bold"/>
                <a:cs typeface="DM Sans Bold"/>
                <a:sym typeface="DM Sans Bold"/>
              </a:rPr>
              <a:t>learning_rate = 0.03</a:t>
            </a:r>
          </a:p>
        </p:txBody>
      </p:sp>
      <p:grpSp>
        <p:nvGrpSpPr>
          <p:cNvPr name="Group 15" id="15"/>
          <p:cNvGrpSpPr/>
          <p:nvPr/>
        </p:nvGrpSpPr>
        <p:grpSpPr>
          <a:xfrm rot="0">
            <a:off x="2837759" y="250744"/>
            <a:ext cx="14769547" cy="4892756"/>
            <a:chOff x="0" y="0"/>
            <a:chExt cx="3378957" cy="1119358"/>
          </a:xfrm>
        </p:grpSpPr>
        <p:sp>
          <p:nvSpPr>
            <p:cNvPr name="Freeform 16" id="16"/>
            <p:cNvSpPr/>
            <p:nvPr/>
          </p:nvSpPr>
          <p:spPr>
            <a:xfrm flipH="false" flipV="false" rot="0">
              <a:off x="0" y="0"/>
              <a:ext cx="3378957" cy="1119358"/>
            </a:xfrm>
            <a:custGeom>
              <a:avLst/>
              <a:gdLst/>
              <a:ahLst/>
              <a:cxnLst/>
              <a:rect r="r" b="b" t="t" l="l"/>
              <a:pathLst>
                <a:path h="1119358" w="3378957">
                  <a:moveTo>
                    <a:pt x="52418" y="0"/>
                  </a:moveTo>
                  <a:lnTo>
                    <a:pt x="3326539" y="0"/>
                  </a:lnTo>
                  <a:cubicBezTo>
                    <a:pt x="3355489" y="0"/>
                    <a:pt x="3378957" y="23468"/>
                    <a:pt x="3378957" y="52418"/>
                  </a:cubicBezTo>
                  <a:lnTo>
                    <a:pt x="3378957" y="1066940"/>
                  </a:lnTo>
                  <a:cubicBezTo>
                    <a:pt x="3378957" y="1095890"/>
                    <a:pt x="3355489" y="1119358"/>
                    <a:pt x="3326539" y="1119358"/>
                  </a:cubicBezTo>
                  <a:lnTo>
                    <a:pt x="52418" y="1119358"/>
                  </a:lnTo>
                  <a:cubicBezTo>
                    <a:pt x="23468" y="1119358"/>
                    <a:pt x="0" y="1095890"/>
                    <a:pt x="0" y="1066940"/>
                  </a:cubicBezTo>
                  <a:lnTo>
                    <a:pt x="0" y="52418"/>
                  </a:lnTo>
                  <a:cubicBezTo>
                    <a:pt x="0" y="23468"/>
                    <a:pt x="23468" y="0"/>
                    <a:pt x="52418" y="0"/>
                  </a:cubicBezTo>
                  <a:close/>
                </a:path>
              </a:pathLst>
            </a:custGeom>
            <a:solidFill>
              <a:srgbClr val="D9FAF0"/>
            </a:solidFill>
            <a:ln w="85725" cap="rnd">
              <a:solidFill>
                <a:srgbClr val="0B4B49"/>
              </a:solidFill>
              <a:prstDash val="solid"/>
              <a:round/>
            </a:ln>
          </p:spPr>
        </p:sp>
        <p:sp>
          <p:nvSpPr>
            <p:cNvPr name="TextBox 17" id="17"/>
            <p:cNvSpPr txBox="true"/>
            <p:nvPr/>
          </p:nvSpPr>
          <p:spPr>
            <a:xfrm>
              <a:off x="0" y="-28575"/>
              <a:ext cx="3378957" cy="1147933"/>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6382948" y="544830"/>
            <a:ext cx="7438003" cy="483870"/>
          </a:xfrm>
          <a:prstGeom prst="rect">
            <a:avLst/>
          </a:prstGeom>
        </p:spPr>
        <p:txBody>
          <a:bodyPr anchor="t" rtlCol="false" tIns="0" lIns="0" bIns="0" rIns="0">
            <a:spAutoFit/>
          </a:bodyPr>
          <a:lstStyle/>
          <a:p>
            <a:pPr algn="ctr">
              <a:lnSpc>
                <a:spcPts val="3780"/>
              </a:lnSpc>
              <a:spcBef>
                <a:spcPct val="0"/>
              </a:spcBef>
            </a:pPr>
            <a:r>
              <a:rPr lang="en-US" b="true" sz="2700">
                <a:solidFill>
                  <a:srgbClr val="010B40"/>
                </a:solidFill>
                <a:latin typeface="Poppins Semi-Bold"/>
                <a:ea typeface="Poppins Semi-Bold"/>
                <a:cs typeface="Poppins Semi-Bold"/>
                <a:sym typeface="Poppins Semi-Bold"/>
              </a:rPr>
              <a:t>Modèle retenu : CatBoost (cible directe)</a:t>
            </a:r>
          </a:p>
        </p:txBody>
      </p:sp>
      <p:sp>
        <p:nvSpPr>
          <p:cNvPr name="TextBox 19" id="19"/>
          <p:cNvSpPr txBox="true"/>
          <p:nvPr/>
        </p:nvSpPr>
        <p:spPr>
          <a:xfrm rot="0">
            <a:off x="3133963" y="1099218"/>
            <a:ext cx="13872338" cy="3758565"/>
          </a:xfrm>
          <a:prstGeom prst="rect">
            <a:avLst/>
          </a:prstGeom>
        </p:spPr>
        <p:txBody>
          <a:bodyPr anchor="t" rtlCol="false" tIns="0" lIns="0" bIns="0" rIns="0">
            <a:spAutoFit/>
          </a:bodyPr>
          <a:lstStyle/>
          <a:p>
            <a:pPr algn="l" marL="518160" indent="-259080" lvl="1">
              <a:lnSpc>
                <a:spcPts val="3359"/>
              </a:lnSpc>
              <a:buAutoNum type="arabicPeriod" startAt="1"/>
            </a:pPr>
            <a:r>
              <a:rPr lang="en-US" b="true" sz="2400">
                <a:solidFill>
                  <a:srgbClr val="0B4B49"/>
                </a:solidFill>
                <a:latin typeface="DM Sans Bold"/>
                <a:ea typeface="DM Sans Bold"/>
                <a:cs typeface="DM Sans Bold"/>
                <a:sym typeface="DM Sans Bold"/>
              </a:rPr>
              <a:t>Pouvoir explicatif élevé: </a:t>
            </a:r>
            <a:r>
              <a:rPr lang="en-US" b="true" sz="2400">
                <a:solidFill>
                  <a:srgbClr val="0B4B49"/>
                </a:solidFill>
                <a:latin typeface="DM Sans Bold"/>
                <a:ea typeface="DM Sans Bold"/>
                <a:cs typeface="DM Sans Bold"/>
                <a:sym typeface="DM Sans Bold"/>
              </a:rPr>
              <a:t> R² test égal à 0,8429, correspondant à plus de 84 % de la variance des charges expliquée, avec un gain de plus de 11 points par rapport au modèle linéaire de référence.</a:t>
            </a:r>
          </a:p>
          <a:p>
            <a:pPr algn="l" marL="518160" indent="-259080" lvl="1">
              <a:lnSpc>
                <a:spcPts val="3359"/>
              </a:lnSpc>
              <a:buAutoNum type="arabicPeriod" startAt="1"/>
            </a:pPr>
            <a:r>
              <a:rPr lang="en-US" b="true" sz="2400">
                <a:solidFill>
                  <a:srgbClr val="0B4B49"/>
                </a:solidFill>
                <a:latin typeface="DM Sans Bold"/>
                <a:ea typeface="DM Sans Bold"/>
                <a:cs typeface="DM Sans Bold"/>
                <a:sym typeface="DM Sans Bold"/>
              </a:rPr>
              <a:t>Gestion efficace des variables catégorielles: Traitement natif du sexe, du statut de fumeur et de la région, permettant de réduire les biais liés à l’encodage et d’améliorer la qualité des prédictions.</a:t>
            </a:r>
          </a:p>
          <a:p>
            <a:pPr algn="l" marL="518160" indent="-259080" lvl="1">
              <a:lnSpc>
                <a:spcPts val="3359"/>
              </a:lnSpc>
              <a:buAutoNum type="arabicPeriod" startAt="1"/>
            </a:pPr>
            <a:r>
              <a:rPr lang="en-US" b="true" sz="2400">
                <a:solidFill>
                  <a:srgbClr val="0B4B49"/>
                </a:solidFill>
                <a:latin typeface="DM Sans Bold"/>
                <a:ea typeface="DM Sans Bold"/>
                <a:cs typeface="DM Sans Bold"/>
                <a:sym typeface="DM Sans Bold"/>
              </a:rPr>
              <a:t>Robustesse et généralisation: Proximité entre les performances d’entraînement et de test, avec un R² entraînement de 0,8825 et un R² test de 0,8429, indiquant un faible risque de surapprentissage et une bonne capacité de généralisation.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666589" y="3653437"/>
            <a:ext cx="4509370" cy="4114800"/>
          </a:xfrm>
          <a:custGeom>
            <a:avLst/>
            <a:gdLst/>
            <a:ahLst/>
            <a:cxnLst/>
            <a:rect r="r" b="b" t="t" l="l"/>
            <a:pathLst>
              <a:path h="4114800" w="4509370">
                <a:moveTo>
                  <a:pt x="0" y="0"/>
                </a:moveTo>
                <a:lnTo>
                  <a:pt x="4509369" y="0"/>
                </a:lnTo>
                <a:lnTo>
                  <a:pt x="45093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4471388"/>
            <a:ext cx="8675273" cy="1239448"/>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API de prédiction</a:t>
            </a:r>
          </a:p>
        </p:txBody>
      </p:sp>
      <p:sp>
        <p:nvSpPr>
          <p:cNvPr name="TextBox 8" id="8"/>
          <p:cNvSpPr txBox="true"/>
          <p:nvPr/>
        </p:nvSpPr>
        <p:spPr>
          <a:xfrm rot="0">
            <a:off x="1028700" y="752475"/>
            <a:ext cx="1381969" cy="3321050"/>
          </a:xfrm>
          <a:prstGeom prst="rect">
            <a:avLst/>
          </a:prstGeom>
        </p:spPr>
        <p:txBody>
          <a:bodyPr anchor="t" rtlCol="false" tIns="0" lIns="0" bIns="0" rIns="0">
            <a:spAutoFit/>
          </a:bodyPr>
          <a:lstStyle/>
          <a:p>
            <a:pPr algn="l">
              <a:lnSpc>
                <a:spcPts val="25000"/>
              </a:lnSpc>
            </a:pPr>
            <a:r>
              <a:rPr lang="en-US" sz="20000" b="true">
                <a:solidFill>
                  <a:srgbClr val="0B4B49"/>
                </a:solidFill>
                <a:latin typeface="Poppins Bold"/>
                <a:ea typeface="Poppins Bold"/>
                <a:cs typeface="Poppins Bold"/>
                <a:sym typeface="Poppins Bold"/>
              </a:rPr>
              <a:t>7</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7823561" y="0"/>
            <a:ext cx="979210" cy="10287000"/>
            <a:chOff x="0" y="0"/>
            <a:chExt cx="257899" cy="2709333"/>
          </a:xfrm>
        </p:grpSpPr>
        <p:sp>
          <p:nvSpPr>
            <p:cNvPr name="Freeform 3" id="3"/>
            <p:cNvSpPr/>
            <p:nvPr/>
          </p:nvSpPr>
          <p:spPr>
            <a:xfrm flipH="false" flipV="false" rot="0">
              <a:off x="0" y="0"/>
              <a:ext cx="257899" cy="2709333"/>
            </a:xfrm>
            <a:custGeom>
              <a:avLst/>
              <a:gdLst/>
              <a:ahLst/>
              <a:cxnLst/>
              <a:rect r="r" b="b" t="t" l="l"/>
              <a:pathLst>
                <a:path h="2709333" w="257899">
                  <a:moveTo>
                    <a:pt x="0" y="0"/>
                  </a:moveTo>
                  <a:lnTo>
                    <a:pt x="257899" y="0"/>
                  </a:lnTo>
                  <a:lnTo>
                    <a:pt x="257899"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4" id="4"/>
            <p:cNvSpPr txBox="true"/>
            <p:nvPr/>
          </p:nvSpPr>
          <p:spPr>
            <a:xfrm>
              <a:off x="0" y="0"/>
              <a:ext cx="257899" cy="2709333"/>
            </a:xfrm>
            <a:prstGeom prst="rect">
              <a:avLst/>
            </a:prstGeom>
          </p:spPr>
          <p:txBody>
            <a:bodyPr anchor="ctr" rtlCol="false" tIns="50800" lIns="50800" bIns="50800" rIns="50800"/>
            <a:lstStyle/>
            <a:p>
              <a:pPr algn="ctr">
                <a:lnSpc>
                  <a:spcPts val="2729"/>
                </a:lnSpc>
              </a:pPr>
            </a:p>
          </p:txBody>
        </p:sp>
      </p:grpSp>
      <p:sp>
        <p:nvSpPr>
          <p:cNvPr name="Freeform 5" id="5"/>
          <p:cNvSpPr/>
          <p:nvPr/>
        </p:nvSpPr>
        <p:spPr>
          <a:xfrm flipH="false" flipV="false" rot="-5400000">
            <a:off x="-387182" y="-3035696"/>
            <a:ext cx="18675182" cy="18675182"/>
          </a:xfrm>
          <a:custGeom>
            <a:avLst/>
            <a:gdLst/>
            <a:ahLst/>
            <a:cxnLst/>
            <a:rect r="r" b="b" t="t" l="l"/>
            <a:pathLst>
              <a:path h="18675182" w="18675182">
                <a:moveTo>
                  <a:pt x="0" y="0"/>
                </a:moveTo>
                <a:lnTo>
                  <a:pt x="18675182" y="0"/>
                </a:lnTo>
                <a:lnTo>
                  <a:pt x="18675182" y="18675183"/>
                </a:lnTo>
                <a:lnTo>
                  <a:pt x="0" y="18675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872026" y="277129"/>
            <a:ext cx="3945064" cy="4114800"/>
          </a:xfrm>
          <a:custGeom>
            <a:avLst/>
            <a:gdLst/>
            <a:ahLst/>
            <a:cxnLst/>
            <a:rect r="r" b="b" t="t" l="l"/>
            <a:pathLst>
              <a:path h="4114800" w="3945064">
                <a:moveTo>
                  <a:pt x="0" y="0"/>
                </a:moveTo>
                <a:lnTo>
                  <a:pt x="3945064" y="0"/>
                </a:lnTo>
                <a:lnTo>
                  <a:pt x="394506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616967"/>
            <a:ext cx="9471486" cy="1239448"/>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En conclusion...</a:t>
            </a:r>
          </a:p>
        </p:txBody>
      </p:sp>
      <p:sp>
        <p:nvSpPr>
          <p:cNvPr name="TextBox 8" id="8"/>
          <p:cNvSpPr txBox="true"/>
          <p:nvPr/>
        </p:nvSpPr>
        <p:spPr>
          <a:xfrm rot="0">
            <a:off x="1028700" y="1808790"/>
            <a:ext cx="11623947" cy="2082165"/>
          </a:xfrm>
          <a:prstGeom prst="rect">
            <a:avLst/>
          </a:prstGeom>
        </p:spPr>
        <p:txBody>
          <a:bodyPr anchor="t" rtlCol="false" tIns="0" lIns="0" bIns="0" rIns="0">
            <a:spAutoFit/>
          </a:bodyPr>
          <a:lstStyle/>
          <a:p>
            <a:pPr algn="l">
              <a:lnSpc>
                <a:spcPts val="3359"/>
              </a:lnSpc>
            </a:pPr>
            <a:r>
              <a:rPr lang="en-US" sz="2400" b="true">
                <a:solidFill>
                  <a:srgbClr val="0B4B49"/>
                </a:solidFill>
                <a:latin typeface="DM Sans Bold"/>
                <a:ea typeface="DM Sans Bold"/>
                <a:cs typeface="DM Sans Bold"/>
                <a:sym typeface="DM Sans Bold"/>
              </a:rPr>
              <a:t>Données hétérogènes et relations non linéaires confirmées</a:t>
            </a:r>
          </a:p>
          <a:p>
            <a:pPr algn="l">
              <a:lnSpc>
                <a:spcPts val="3359"/>
              </a:lnSpc>
            </a:pPr>
            <a:r>
              <a:rPr lang="en-US" sz="2400" b="true">
                <a:solidFill>
                  <a:srgbClr val="0B4B49"/>
                </a:solidFill>
                <a:latin typeface="DM Sans Bold"/>
                <a:ea typeface="DM Sans Bold"/>
                <a:cs typeface="DM Sans Bold"/>
                <a:sym typeface="DM Sans Bold"/>
              </a:rPr>
              <a:t>Supériorité des méthodes ensemblistes sur les modèles classiques</a:t>
            </a:r>
          </a:p>
          <a:p>
            <a:pPr algn="l">
              <a:lnSpc>
                <a:spcPts val="3359"/>
              </a:lnSpc>
            </a:pPr>
            <a:r>
              <a:rPr lang="en-US" sz="2400" b="true">
                <a:solidFill>
                  <a:srgbClr val="0B4B49"/>
                </a:solidFill>
                <a:latin typeface="DM Sans Bold"/>
                <a:ea typeface="DM Sans Bold"/>
                <a:cs typeface="DM Sans Bold"/>
                <a:sym typeface="DM Sans Bold"/>
              </a:rPr>
              <a:t>CatBoost retenu comme modèle final pour sa performance et sa robustesse</a:t>
            </a:r>
          </a:p>
          <a:p>
            <a:pPr algn="l">
              <a:lnSpc>
                <a:spcPts val="3359"/>
              </a:lnSpc>
            </a:pPr>
            <a:r>
              <a:rPr lang="en-US" sz="2400" b="true">
                <a:solidFill>
                  <a:srgbClr val="0B4B49"/>
                </a:solidFill>
                <a:latin typeface="DM Sans Bold"/>
                <a:ea typeface="DM Sans Bold"/>
                <a:cs typeface="DM Sans Bold"/>
                <a:sym typeface="DM Sans Bold"/>
              </a:rPr>
              <a:t>Apport significatif de la transformation logarithmique pour la précision relative</a:t>
            </a:r>
          </a:p>
          <a:p>
            <a:pPr algn="l">
              <a:lnSpc>
                <a:spcPts val="3359"/>
              </a:lnSpc>
            </a:pPr>
            <a:r>
              <a:rPr lang="en-US" sz="2400" b="true">
                <a:solidFill>
                  <a:srgbClr val="0B4B49"/>
                </a:solidFill>
                <a:latin typeface="DM Sans Bold"/>
                <a:ea typeface="DM Sans Bold"/>
                <a:cs typeface="DM Sans Bold"/>
                <a:sym typeface="DM Sans Bold"/>
              </a:rPr>
              <a:t>Outil pertinent d’aide à la décision pour les compagnies d’assurance santé</a:t>
            </a:r>
          </a:p>
        </p:txBody>
      </p:sp>
      <p:sp>
        <p:nvSpPr>
          <p:cNvPr name="TextBox 9" id="9"/>
          <p:cNvSpPr txBox="true"/>
          <p:nvPr/>
        </p:nvSpPr>
        <p:spPr>
          <a:xfrm rot="0">
            <a:off x="1028700" y="4471388"/>
            <a:ext cx="9471486" cy="1239448"/>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Perspectives</a:t>
            </a:r>
          </a:p>
        </p:txBody>
      </p:sp>
      <p:sp>
        <p:nvSpPr>
          <p:cNvPr name="TextBox 10" id="10"/>
          <p:cNvSpPr txBox="true"/>
          <p:nvPr/>
        </p:nvSpPr>
        <p:spPr>
          <a:xfrm rot="0">
            <a:off x="1028700" y="5904523"/>
            <a:ext cx="11623947" cy="2501265"/>
          </a:xfrm>
          <a:prstGeom prst="rect">
            <a:avLst/>
          </a:prstGeom>
        </p:spPr>
        <p:txBody>
          <a:bodyPr anchor="t" rtlCol="false" tIns="0" lIns="0" bIns="0" rIns="0">
            <a:spAutoFit/>
          </a:bodyPr>
          <a:lstStyle/>
          <a:p>
            <a:pPr algn="just">
              <a:lnSpc>
                <a:spcPts val="3359"/>
              </a:lnSpc>
            </a:pPr>
            <a:r>
              <a:rPr lang="en-US" b="true" sz="2400">
                <a:solidFill>
                  <a:srgbClr val="0B4B49"/>
                </a:solidFill>
                <a:latin typeface="DM Sans Bold"/>
                <a:ea typeface="DM Sans Bold"/>
                <a:cs typeface="DM Sans Bold"/>
                <a:sym typeface="DM Sans Bold"/>
              </a:rPr>
              <a:t>Intégration de variables médicales plus détaillées</a:t>
            </a:r>
          </a:p>
          <a:p>
            <a:pPr algn="just">
              <a:lnSpc>
                <a:spcPts val="3359"/>
              </a:lnSpc>
            </a:pPr>
            <a:r>
              <a:rPr lang="en-US" b="true" sz="2400">
                <a:solidFill>
                  <a:srgbClr val="0B4B49"/>
                </a:solidFill>
                <a:latin typeface="DM Sans Bold"/>
                <a:ea typeface="DM Sans Bold"/>
                <a:cs typeface="DM Sans Bold"/>
                <a:sym typeface="DM Sans Bold"/>
              </a:rPr>
              <a:t>Prise en compte de données temporelles</a:t>
            </a:r>
          </a:p>
          <a:p>
            <a:pPr algn="just">
              <a:lnSpc>
                <a:spcPts val="3359"/>
              </a:lnSpc>
            </a:pPr>
            <a:r>
              <a:rPr lang="en-US" b="true" sz="2400">
                <a:solidFill>
                  <a:srgbClr val="0B4B49"/>
                </a:solidFill>
                <a:latin typeface="DM Sans Bold"/>
                <a:ea typeface="DM Sans Bold"/>
                <a:cs typeface="DM Sans Bold"/>
                <a:sym typeface="DM Sans Bold"/>
              </a:rPr>
              <a:t>Ajustement des modèles selon des profils d’assurés</a:t>
            </a:r>
          </a:p>
          <a:p>
            <a:pPr algn="just">
              <a:lnSpc>
                <a:spcPts val="3359"/>
              </a:lnSpc>
            </a:pPr>
            <a:r>
              <a:rPr lang="en-US" b="true" sz="2400">
                <a:solidFill>
                  <a:srgbClr val="0B4B49"/>
                </a:solidFill>
                <a:latin typeface="DM Sans Bold"/>
                <a:ea typeface="DM Sans Bold"/>
                <a:cs typeface="DM Sans Bold"/>
                <a:sym typeface="DM Sans Bold"/>
              </a:rPr>
              <a:t>Approche par segmentation des assurés</a:t>
            </a:r>
          </a:p>
          <a:p>
            <a:pPr algn="just">
              <a:lnSpc>
                <a:spcPts val="3359"/>
              </a:lnSpc>
            </a:pPr>
            <a:r>
              <a:rPr lang="en-US" b="true" sz="2400">
                <a:solidFill>
                  <a:srgbClr val="0B4B49"/>
                </a:solidFill>
                <a:latin typeface="DM Sans Bold"/>
                <a:ea typeface="DM Sans Bold"/>
                <a:cs typeface="DM Sans Bold"/>
                <a:sym typeface="DM Sans Bold"/>
              </a:rPr>
              <a:t>Déploiement du modèle dans un outil d’aide à la décision</a:t>
            </a:r>
          </a:p>
          <a:p>
            <a:pPr algn="just">
              <a:lnSpc>
                <a:spcPts val="3359"/>
              </a:lnSpc>
            </a:pPr>
            <a:r>
              <a:rPr lang="en-US" b="true" sz="2400">
                <a:solidFill>
                  <a:srgbClr val="0B4B49"/>
                </a:solidFill>
                <a:latin typeface="DM Sans Bold"/>
                <a:ea typeface="DM Sans Bold"/>
                <a:cs typeface="DM Sans Bold"/>
                <a:sym typeface="DM Sans Bold"/>
              </a:rPr>
              <a:t>Mise à jour continue du modèle avec de nouvelles données</a:t>
            </a:r>
          </a:p>
        </p:txBody>
      </p:sp>
    </p:spTree>
  </p:cSld>
  <p:clrMapOvr>
    <a:masterClrMapping/>
  </p:clrMapOvr>
</p:sld>
</file>

<file path=ppt/slides/slide27.xml><?xml version="1.0" encoding="utf-8"?>
<p:sld xmlns:p="http://schemas.openxmlformats.org/presentationml/2006/main" xmlns:a="http://schemas.openxmlformats.org/drawingml/2006/main">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2067396" y="4303612"/>
            <a:ext cx="14153208" cy="1517851"/>
          </a:xfrm>
          <a:prstGeom prst="rect">
            <a:avLst/>
          </a:prstGeom>
        </p:spPr>
        <p:txBody>
          <a:bodyPr anchor="t" rtlCol="false" tIns="0" lIns="0" bIns="0" rIns="0">
            <a:spAutoFit/>
          </a:bodyPr>
          <a:lstStyle/>
          <a:p>
            <a:pPr algn="l">
              <a:lnSpc>
                <a:spcPts val="11598"/>
              </a:lnSpc>
            </a:pPr>
            <a:r>
              <a:rPr lang="en-US" sz="8921" b="true">
                <a:solidFill>
                  <a:srgbClr val="FFFFFF"/>
                </a:solidFill>
                <a:latin typeface="Poppins Bold"/>
                <a:ea typeface="Poppins Bold"/>
                <a:cs typeface="Poppins Bold"/>
                <a:sym typeface="Poppins Bold"/>
              </a:rPr>
              <a:t>Merci de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DAG-MnWJYZ0</dc:identifier>
  <dcterms:modified xsi:type="dcterms:W3CDTF">2011-08-01T06:04:30Z</dcterms:modified>
  <cp:revision>1</cp:revision>
  <dc:title>Projet Machine Learning- Prévision des coûts médicaux</dc:title>
</cp:coreProperties>
</file>